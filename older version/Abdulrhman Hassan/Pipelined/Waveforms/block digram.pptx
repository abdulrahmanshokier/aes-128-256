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256" r:id="rId2"/>
    <p:sldId id="261" r:id="rId3"/>
    <p:sldId id="257" r:id="rId4"/>
    <p:sldId id="258" r:id="rId5"/>
    <p:sldId id="262" r:id="rId6"/>
    <p:sldId id="259"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1" d="100"/>
          <a:sy n="71" d="100"/>
        </p:scale>
        <p:origin x="67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DC8440-7A2E-4222-9B6A-0DD1C564546D}" type="datetimeFigureOut">
              <a:rPr lang="en-US" smtClean="0"/>
              <a:t>1/26/2026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F892FD-D3D1-4262-97B2-43B9C3115A49}" type="slidenum">
              <a:rPr lang="en-US" smtClean="0"/>
              <a:t>‹#›</a:t>
            </a:fld>
            <a:endParaRPr lang="en-US"/>
          </a:p>
        </p:txBody>
      </p:sp>
    </p:spTree>
    <p:extLst>
      <p:ext uri="{BB962C8B-B14F-4D97-AF65-F5344CB8AC3E}">
        <p14:creationId xmlns:p14="http://schemas.microsoft.com/office/powerpoint/2010/main" val="1260501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0F892FD-D3D1-4262-97B2-43B9C3115A49}" type="slidenum">
              <a:rPr lang="en-US" smtClean="0"/>
              <a:t>1</a:t>
            </a:fld>
            <a:endParaRPr lang="en-US"/>
          </a:p>
        </p:txBody>
      </p:sp>
    </p:spTree>
    <p:extLst>
      <p:ext uri="{BB962C8B-B14F-4D97-AF65-F5344CB8AC3E}">
        <p14:creationId xmlns:p14="http://schemas.microsoft.com/office/powerpoint/2010/main" val="466755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24F79D3-17D5-46B1-9DE8-D2B97F7F667D}"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108B64-24C4-4C91-BD02-741BF25F83C3}" type="slidenum">
              <a:rPr lang="en-US" smtClean="0"/>
              <a:t>‹#›</a:t>
            </a:fld>
            <a:endParaRPr lang="en-US"/>
          </a:p>
        </p:txBody>
      </p:sp>
    </p:spTree>
    <p:extLst>
      <p:ext uri="{BB962C8B-B14F-4D97-AF65-F5344CB8AC3E}">
        <p14:creationId xmlns:p14="http://schemas.microsoft.com/office/powerpoint/2010/main" val="4130984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4F79D3-17D5-46B1-9DE8-D2B97F7F667D}"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108B64-24C4-4C91-BD02-741BF25F83C3}" type="slidenum">
              <a:rPr lang="en-US" smtClean="0"/>
              <a:t>‹#›</a:t>
            </a:fld>
            <a:endParaRPr lang="en-US"/>
          </a:p>
        </p:txBody>
      </p:sp>
    </p:spTree>
    <p:extLst>
      <p:ext uri="{BB962C8B-B14F-4D97-AF65-F5344CB8AC3E}">
        <p14:creationId xmlns:p14="http://schemas.microsoft.com/office/powerpoint/2010/main" val="3059735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4F79D3-17D5-46B1-9DE8-D2B97F7F667D}"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108B64-24C4-4C91-BD02-741BF25F83C3}" type="slidenum">
              <a:rPr lang="en-US" smtClean="0"/>
              <a:t>‹#›</a:t>
            </a:fld>
            <a:endParaRPr lang="en-US"/>
          </a:p>
        </p:txBody>
      </p:sp>
    </p:spTree>
    <p:extLst>
      <p:ext uri="{BB962C8B-B14F-4D97-AF65-F5344CB8AC3E}">
        <p14:creationId xmlns:p14="http://schemas.microsoft.com/office/powerpoint/2010/main" val="4131986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24F79D3-17D5-46B1-9DE8-D2B97F7F667D}"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108B64-24C4-4C91-BD02-741BF25F83C3}" type="slidenum">
              <a:rPr lang="en-US" smtClean="0"/>
              <a:t>‹#›</a:t>
            </a:fld>
            <a:endParaRPr lang="en-US"/>
          </a:p>
        </p:txBody>
      </p:sp>
    </p:spTree>
    <p:extLst>
      <p:ext uri="{BB962C8B-B14F-4D97-AF65-F5344CB8AC3E}">
        <p14:creationId xmlns:p14="http://schemas.microsoft.com/office/powerpoint/2010/main" val="39111618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4F79D3-17D5-46B1-9DE8-D2B97F7F667D}" type="datetimeFigureOut">
              <a:rPr lang="en-US" smtClean="0"/>
              <a:t>1/26/2026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7108B64-24C4-4C91-BD02-741BF25F83C3}" type="slidenum">
              <a:rPr lang="en-US" smtClean="0"/>
              <a:t>‹#›</a:t>
            </a:fld>
            <a:endParaRPr lang="en-US"/>
          </a:p>
        </p:txBody>
      </p:sp>
    </p:spTree>
    <p:extLst>
      <p:ext uri="{BB962C8B-B14F-4D97-AF65-F5344CB8AC3E}">
        <p14:creationId xmlns:p14="http://schemas.microsoft.com/office/powerpoint/2010/main" val="612625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24F79D3-17D5-46B1-9DE8-D2B97F7F667D}" type="datetimeFigureOut">
              <a:rPr lang="en-US" smtClean="0"/>
              <a:t>1/26/2026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7108B64-24C4-4C91-BD02-741BF25F83C3}" type="slidenum">
              <a:rPr lang="en-US" smtClean="0"/>
              <a:t>‹#›</a:t>
            </a:fld>
            <a:endParaRPr lang="en-US"/>
          </a:p>
        </p:txBody>
      </p:sp>
    </p:spTree>
    <p:extLst>
      <p:ext uri="{BB962C8B-B14F-4D97-AF65-F5344CB8AC3E}">
        <p14:creationId xmlns:p14="http://schemas.microsoft.com/office/powerpoint/2010/main" val="4240150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4F79D3-17D5-46B1-9DE8-D2B97F7F667D}" type="datetimeFigureOut">
              <a:rPr lang="en-US" smtClean="0"/>
              <a:t>1/26/2026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7108B64-24C4-4C91-BD02-741BF25F83C3}" type="slidenum">
              <a:rPr lang="en-US" smtClean="0"/>
              <a:t>‹#›</a:t>
            </a:fld>
            <a:endParaRPr lang="en-US"/>
          </a:p>
        </p:txBody>
      </p:sp>
    </p:spTree>
    <p:extLst>
      <p:ext uri="{BB962C8B-B14F-4D97-AF65-F5344CB8AC3E}">
        <p14:creationId xmlns:p14="http://schemas.microsoft.com/office/powerpoint/2010/main" val="1299338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4F79D3-17D5-46B1-9DE8-D2B97F7F667D}"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108B64-24C4-4C91-BD02-741BF25F83C3}" type="slidenum">
              <a:rPr lang="en-US" smtClean="0"/>
              <a:t>‹#›</a:t>
            </a:fld>
            <a:endParaRPr lang="en-US"/>
          </a:p>
        </p:txBody>
      </p:sp>
    </p:spTree>
    <p:extLst>
      <p:ext uri="{BB962C8B-B14F-4D97-AF65-F5344CB8AC3E}">
        <p14:creationId xmlns:p14="http://schemas.microsoft.com/office/powerpoint/2010/main" val="2208203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4F79D3-17D5-46B1-9DE8-D2B97F7F667D}"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108B64-24C4-4C91-BD02-741BF25F83C3}" type="slidenum">
              <a:rPr lang="en-US" smtClean="0"/>
              <a:t>‹#›</a:t>
            </a:fld>
            <a:endParaRPr lang="en-US"/>
          </a:p>
        </p:txBody>
      </p:sp>
    </p:spTree>
    <p:extLst>
      <p:ext uri="{BB962C8B-B14F-4D97-AF65-F5344CB8AC3E}">
        <p14:creationId xmlns:p14="http://schemas.microsoft.com/office/powerpoint/2010/main" val="676648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4F79D3-17D5-46B1-9DE8-D2B97F7F667D}"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108B64-24C4-4C91-BD02-741BF25F83C3}" type="slidenum">
              <a:rPr lang="en-US" smtClean="0"/>
              <a:t>‹#›</a:t>
            </a:fld>
            <a:endParaRPr lang="en-US"/>
          </a:p>
        </p:txBody>
      </p:sp>
    </p:spTree>
    <p:extLst>
      <p:ext uri="{BB962C8B-B14F-4D97-AF65-F5344CB8AC3E}">
        <p14:creationId xmlns:p14="http://schemas.microsoft.com/office/powerpoint/2010/main" val="1569354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4F79D3-17D5-46B1-9DE8-D2B97F7F667D}"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108B64-24C4-4C91-BD02-741BF25F83C3}" type="slidenum">
              <a:rPr lang="en-US" smtClean="0"/>
              <a:t>‹#›</a:t>
            </a:fld>
            <a:endParaRPr lang="en-US"/>
          </a:p>
        </p:txBody>
      </p:sp>
    </p:spTree>
    <p:extLst>
      <p:ext uri="{BB962C8B-B14F-4D97-AF65-F5344CB8AC3E}">
        <p14:creationId xmlns:p14="http://schemas.microsoft.com/office/powerpoint/2010/main" val="308096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024F79D3-17D5-46B1-9DE8-D2B97F7F667D}" type="datetimeFigureOut">
              <a:rPr lang="en-US" smtClean="0"/>
              <a:t>1/26/2026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37108B64-24C4-4C91-BD02-741BF25F83C3}" type="slidenum">
              <a:rPr lang="en-US" smtClean="0"/>
              <a:t>‹#›</a:t>
            </a:fld>
            <a:endParaRPr lang="en-US"/>
          </a:p>
        </p:txBody>
      </p:sp>
    </p:spTree>
    <p:extLst>
      <p:ext uri="{BB962C8B-B14F-4D97-AF65-F5344CB8AC3E}">
        <p14:creationId xmlns:p14="http://schemas.microsoft.com/office/powerpoint/2010/main" val="134953693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slide" Target="slide2.xml"/></Relationships>
</file>

<file path=ppt/slides/_rels/slide2.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ectangle 61">
            <a:hlinkClick r:id="rId3" action="ppaction://hlinksldjump"/>
            <a:extLst>
              <a:ext uri="{FF2B5EF4-FFF2-40B4-BE49-F238E27FC236}">
                <a16:creationId xmlns:a16="http://schemas.microsoft.com/office/drawing/2014/main" id="{5CA24B1B-51C4-2209-442C-CC409A0AC272}"/>
              </a:ext>
            </a:extLst>
          </p:cNvPr>
          <p:cNvSpPr/>
          <p:nvPr/>
        </p:nvSpPr>
        <p:spPr>
          <a:xfrm>
            <a:off x="3243289" y="3589291"/>
            <a:ext cx="2068828" cy="209352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hlinkClick r:id="rId4" action="ppaction://hlinksldjump"/>
            <a:extLst>
              <a:ext uri="{FF2B5EF4-FFF2-40B4-BE49-F238E27FC236}">
                <a16:creationId xmlns:a16="http://schemas.microsoft.com/office/drawing/2014/main" id="{F2757085-0F9E-A9D9-4853-BAE180779035}"/>
              </a:ext>
            </a:extLst>
          </p:cNvPr>
          <p:cNvSpPr/>
          <p:nvPr/>
        </p:nvSpPr>
        <p:spPr>
          <a:xfrm>
            <a:off x="3232581" y="1005059"/>
            <a:ext cx="2068828" cy="209352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7B35D82D-E298-8213-533D-43764A74C316}"/>
              </a:ext>
            </a:extLst>
          </p:cNvPr>
          <p:cNvSpPr txBox="1"/>
          <p:nvPr/>
        </p:nvSpPr>
        <p:spPr>
          <a:xfrm>
            <a:off x="4902821" y="125621"/>
            <a:ext cx="2736903" cy="523220"/>
          </a:xfrm>
          <a:prstGeom prst="rect">
            <a:avLst/>
          </a:prstGeom>
          <a:noFill/>
        </p:spPr>
        <p:txBody>
          <a:bodyPr wrap="none" rtlCol="0">
            <a:spAutoFit/>
          </a:bodyPr>
          <a:lstStyle/>
          <a:p>
            <a:r>
              <a:rPr lang="en-US" sz="2800" dirty="0"/>
              <a:t>System diagram</a:t>
            </a:r>
            <a:endParaRPr lang="en-US" dirty="0"/>
          </a:p>
        </p:txBody>
      </p:sp>
      <p:sp>
        <p:nvSpPr>
          <p:cNvPr id="7" name="Rectangle 6">
            <a:extLst>
              <a:ext uri="{FF2B5EF4-FFF2-40B4-BE49-F238E27FC236}">
                <a16:creationId xmlns:a16="http://schemas.microsoft.com/office/drawing/2014/main" id="{DD2321F9-5F0D-7EC3-BC0A-294C945EFB8B}"/>
              </a:ext>
            </a:extLst>
          </p:cNvPr>
          <p:cNvSpPr/>
          <p:nvPr/>
        </p:nvSpPr>
        <p:spPr>
          <a:xfrm>
            <a:off x="3232581" y="1005059"/>
            <a:ext cx="2068830" cy="2074203"/>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C3B54D9-936A-5D4E-0DA3-3FE4C7F126C5}"/>
              </a:ext>
            </a:extLst>
          </p:cNvPr>
          <p:cNvSpPr txBox="1"/>
          <p:nvPr/>
        </p:nvSpPr>
        <p:spPr>
          <a:xfrm>
            <a:off x="3333168" y="1780550"/>
            <a:ext cx="1857240" cy="523220"/>
          </a:xfrm>
          <a:prstGeom prst="rect">
            <a:avLst/>
          </a:prstGeom>
          <a:noFill/>
        </p:spPr>
        <p:txBody>
          <a:bodyPr wrap="square" rtlCol="0">
            <a:spAutoFit/>
          </a:bodyPr>
          <a:lstStyle/>
          <a:p>
            <a:r>
              <a:rPr lang="en-US" sz="2800" dirty="0"/>
              <a:t>Encryption</a:t>
            </a:r>
            <a:endParaRPr lang="en-US" dirty="0"/>
          </a:p>
        </p:txBody>
      </p:sp>
      <p:cxnSp>
        <p:nvCxnSpPr>
          <p:cNvPr id="23" name="Straight Arrow Connector 22">
            <a:extLst>
              <a:ext uri="{FF2B5EF4-FFF2-40B4-BE49-F238E27FC236}">
                <a16:creationId xmlns:a16="http://schemas.microsoft.com/office/drawing/2014/main" id="{919B95E2-90C5-923B-C3D9-5A44F178FEA5}"/>
              </a:ext>
            </a:extLst>
          </p:cNvPr>
          <p:cNvCxnSpPr>
            <a:cxnSpLocks/>
          </p:cNvCxnSpPr>
          <p:nvPr/>
        </p:nvCxnSpPr>
        <p:spPr>
          <a:xfrm>
            <a:off x="1447517" y="2219961"/>
            <a:ext cx="1785064" cy="0"/>
          </a:xfrm>
          <a:prstGeom prst="straightConnector1">
            <a:avLst/>
          </a:prstGeom>
          <a:ln w="412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0779A756-B871-79C1-6738-3647785CAE0A}"/>
              </a:ext>
            </a:extLst>
          </p:cNvPr>
          <p:cNvSpPr txBox="1"/>
          <p:nvPr/>
        </p:nvSpPr>
        <p:spPr>
          <a:xfrm>
            <a:off x="947727" y="2008648"/>
            <a:ext cx="424475" cy="369332"/>
          </a:xfrm>
          <a:prstGeom prst="rect">
            <a:avLst/>
          </a:prstGeom>
          <a:noFill/>
        </p:spPr>
        <p:txBody>
          <a:bodyPr wrap="square" rtlCol="0">
            <a:spAutoFit/>
          </a:bodyPr>
          <a:lstStyle/>
          <a:p>
            <a:r>
              <a:rPr lang="en-US" dirty="0"/>
              <a:t>PT</a:t>
            </a:r>
          </a:p>
        </p:txBody>
      </p:sp>
      <p:cxnSp>
        <p:nvCxnSpPr>
          <p:cNvPr id="33" name="Straight Connector 32">
            <a:extLst>
              <a:ext uri="{FF2B5EF4-FFF2-40B4-BE49-F238E27FC236}">
                <a16:creationId xmlns:a16="http://schemas.microsoft.com/office/drawing/2014/main" id="{A7C95D95-A434-3782-33B9-E9C06157733E}"/>
              </a:ext>
            </a:extLst>
          </p:cNvPr>
          <p:cNvCxnSpPr>
            <a:cxnSpLocks/>
          </p:cNvCxnSpPr>
          <p:nvPr/>
        </p:nvCxnSpPr>
        <p:spPr>
          <a:xfrm flipH="1">
            <a:off x="2253599" y="2159098"/>
            <a:ext cx="128825" cy="11392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A20B67FC-12B0-9892-E497-58DEACF93BD2}"/>
              </a:ext>
            </a:extLst>
          </p:cNvPr>
          <p:cNvSpPr txBox="1"/>
          <p:nvPr/>
        </p:nvSpPr>
        <p:spPr>
          <a:xfrm>
            <a:off x="2024499" y="1857194"/>
            <a:ext cx="587023" cy="369332"/>
          </a:xfrm>
          <a:prstGeom prst="rect">
            <a:avLst/>
          </a:prstGeom>
          <a:noFill/>
        </p:spPr>
        <p:txBody>
          <a:bodyPr wrap="square" rtlCol="0">
            <a:spAutoFit/>
          </a:bodyPr>
          <a:lstStyle/>
          <a:p>
            <a:r>
              <a:rPr lang="ar-EG" dirty="0"/>
              <a:t>128</a:t>
            </a:r>
            <a:endParaRPr lang="en-US" dirty="0"/>
          </a:p>
        </p:txBody>
      </p:sp>
      <p:sp>
        <p:nvSpPr>
          <p:cNvPr id="53" name="Rectangle 52">
            <a:extLst>
              <a:ext uri="{FF2B5EF4-FFF2-40B4-BE49-F238E27FC236}">
                <a16:creationId xmlns:a16="http://schemas.microsoft.com/office/drawing/2014/main" id="{2BBEB8F4-3B58-089A-B72E-40E2A54A13F1}"/>
              </a:ext>
            </a:extLst>
          </p:cNvPr>
          <p:cNvSpPr/>
          <p:nvPr/>
        </p:nvSpPr>
        <p:spPr>
          <a:xfrm>
            <a:off x="3243289" y="3589291"/>
            <a:ext cx="2068830" cy="2074203"/>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28D74DE4-1AF4-50DD-A931-7E94D6404F30}"/>
              </a:ext>
            </a:extLst>
          </p:cNvPr>
          <p:cNvSpPr txBox="1"/>
          <p:nvPr/>
        </p:nvSpPr>
        <p:spPr>
          <a:xfrm>
            <a:off x="7182497" y="4426948"/>
            <a:ext cx="424475" cy="369332"/>
          </a:xfrm>
          <a:prstGeom prst="rect">
            <a:avLst/>
          </a:prstGeom>
          <a:noFill/>
        </p:spPr>
        <p:txBody>
          <a:bodyPr wrap="square" rtlCol="0">
            <a:spAutoFit/>
          </a:bodyPr>
          <a:lstStyle/>
          <a:p>
            <a:r>
              <a:rPr lang="en-US" dirty="0"/>
              <a:t>PT</a:t>
            </a:r>
          </a:p>
        </p:txBody>
      </p:sp>
      <p:sp>
        <p:nvSpPr>
          <p:cNvPr id="57" name="TextBox 56">
            <a:extLst>
              <a:ext uri="{FF2B5EF4-FFF2-40B4-BE49-F238E27FC236}">
                <a16:creationId xmlns:a16="http://schemas.microsoft.com/office/drawing/2014/main" id="{37699EED-5BB3-A69D-1BB4-E2A602BE7FE3}"/>
              </a:ext>
            </a:extLst>
          </p:cNvPr>
          <p:cNvSpPr txBox="1"/>
          <p:nvPr/>
        </p:nvSpPr>
        <p:spPr>
          <a:xfrm>
            <a:off x="3343876" y="4364782"/>
            <a:ext cx="1895712" cy="523220"/>
          </a:xfrm>
          <a:prstGeom prst="rect">
            <a:avLst/>
          </a:prstGeom>
          <a:noFill/>
        </p:spPr>
        <p:txBody>
          <a:bodyPr wrap="square" rtlCol="0">
            <a:spAutoFit/>
          </a:bodyPr>
          <a:lstStyle/>
          <a:p>
            <a:r>
              <a:rPr lang="en-US" sz="2800" dirty="0"/>
              <a:t>Decryption</a:t>
            </a:r>
            <a:endParaRPr lang="en-US" dirty="0"/>
          </a:p>
        </p:txBody>
      </p:sp>
      <p:sp>
        <p:nvSpPr>
          <p:cNvPr id="59" name="TextBox 58">
            <a:extLst>
              <a:ext uri="{FF2B5EF4-FFF2-40B4-BE49-F238E27FC236}">
                <a16:creationId xmlns:a16="http://schemas.microsoft.com/office/drawing/2014/main" id="{A3A3551D-E303-1FC0-DB20-AA35EBA38C3F}"/>
              </a:ext>
            </a:extLst>
          </p:cNvPr>
          <p:cNvSpPr txBox="1"/>
          <p:nvPr/>
        </p:nvSpPr>
        <p:spPr>
          <a:xfrm>
            <a:off x="7126113" y="1834737"/>
            <a:ext cx="451149" cy="369332"/>
          </a:xfrm>
          <a:prstGeom prst="rect">
            <a:avLst/>
          </a:prstGeom>
          <a:noFill/>
        </p:spPr>
        <p:txBody>
          <a:bodyPr wrap="square" rtlCol="0">
            <a:spAutoFit/>
          </a:bodyPr>
          <a:lstStyle/>
          <a:p>
            <a:r>
              <a:rPr lang="en-US" dirty="0"/>
              <a:t>CT</a:t>
            </a:r>
          </a:p>
        </p:txBody>
      </p:sp>
      <p:cxnSp>
        <p:nvCxnSpPr>
          <p:cNvPr id="19" name="Straight Arrow Connector 18">
            <a:extLst>
              <a:ext uri="{FF2B5EF4-FFF2-40B4-BE49-F238E27FC236}">
                <a16:creationId xmlns:a16="http://schemas.microsoft.com/office/drawing/2014/main" id="{37BA7CA5-9324-4AD3-88D6-F2CE657CFB8B}"/>
              </a:ext>
            </a:extLst>
          </p:cNvPr>
          <p:cNvCxnSpPr>
            <a:cxnSpLocks/>
          </p:cNvCxnSpPr>
          <p:nvPr/>
        </p:nvCxnSpPr>
        <p:spPr>
          <a:xfrm>
            <a:off x="5312117" y="2065021"/>
            <a:ext cx="1785064" cy="0"/>
          </a:xfrm>
          <a:prstGeom prst="straightConnector1">
            <a:avLst/>
          </a:prstGeom>
          <a:ln w="412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902B98EC-94E7-3637-9775-F23F1BEA062E}"/>
              </a:ext>
            </a:extLst>
          </p:cNvPr>
          <p:cNvCxnSpPr>
            <a:cxnSpLocks/>
          </p:cNvCxnSpPr>
          <p:nvPr/>
        </p:nvCxnSpPr>
        <p:spPr>
          <a:xfrm flipH="1">
            <a:off x="6118199" y="2004158"/>
            <a:ext cx="128825" cy="11392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67564BBD-3806-8AB7-1958-A181BFB771AA}"/>
              </a:ext>
            </a:extLst>
          </p:cNvPr>
          <p:cNvSpPr txBox="1"/>
          <p:nvPr/>
        </p:nvSpPr>
        <p:spPr>
          <a:xfrm>
            <a:off x="5889099" y="1702254"/>
            <a:ext cx="587023" cy="369332"/>
          </a:xfrm>
          <a:prstGeom prst="rect">
            <a:avLst/>
          </a:prstGeom>
          <a:noFill/>
        </p:spPr>
        <p:txBody>
          <a:bodyPr wrap="square" rtlCol="0">
            <a:spAutoFit/>
          </a:bodyPr>
          <a:lstStyle/>
          <a:p>
            <a:r>
              <a:rPr lang="ar-EG" dirty="0"/>
              <a:t>128</a:t>
            </a:r>
            <a:endParaRPr lang="en-US" dirty="0"/>
          </a:p>
        </p:txBody>
      </p:sp>
      <p:cxnSp>
        <p:nvCxnSpPr>
          <p:cNvPr id="30" name="Straight Arrow Connector 29">
            <a:extLst>
              <a:ext uri="{FF2B5EF4-FFF2-40B4-BE49-F238E27FC236}">
                <a16:creationId xmlns:a16="http://schemas.microsoft.com/office/drawing/2014/main" id="{8B52B467-8CB1-78A7-D47B-C2DDF717D0E0}"/>
              </a:ext>
            </a:extLst>
          </p:cNvPr>
          <p:cNvCxnSpPr>
            <a:cxnSpLocks/>
          </p:cNvCxnSpPr>
          <p:nvPr/>
        </p:nvCxnSpPr>
        <p:spPr>
          <a:xfrm>
            <a:off x="5336366" y="4630053"/>
            <a:ext cx="1785064" cy="0"/>
          </a:xfrm>
          <a:prstGeom prst="straightConnector1">
            <a:avLst/>
          </a:prstGeom>
          <a:ln w="412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8E31CB81-32F2-F097-F1B0-2A36C2845BDC}"/>
              </a:ext>
            </a:extLst>
          </p:cNvPr>
          <p:cNvCxnSpPr>
            <a:cxnSpLocks/>
          </p:cNvCxnSpPr>
          <p:nvPr/>
        </p:nvCxnSpPr>
        <p:spPr>
          <a:xfrm flipH="1">
            <a:off x="6142448" y="4569190"/>
            <a:ext cx="128825" cy="11392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55A8C2B1-9C10-1545-6F88-9985CC1C76CB}"/>
              </a:ext>
            </a:extLst>
          </p:cNvPr>
          <p:cNvSpPr txBox="1"/>
          <p:nvPr/>
        </p:nvSpPr>
        <p:spPr>
          <a:xfrm>
            <a:off x="5913348" y="4267286"/>
            <a:ext cx="587023" cy="369332"/>
          </a:xfrm>
          <a:prstGeom prst="rect">
            <a:avLst/>
          </a:prstGeom>
          <a:noFill/>
        </p:spPr>
        <p:txBody>
          <a:bodyPr wrap="square" rtlCol="0">
            <a:spAutoFit/>
          </a:bodyPr>
          <a:lstStyle/>
          <a:p>
            <a:r>
              <a:rPr lang="ar-EG" dirty="0"/>
              <a:t>128</a:t>
            </a:r>
            <a:endParaRPr lang="en-US" dirty="0"/>
          </a:p>
        </p:txBody>
      </p:sp>
      <p:sp>
        <p:nvSpPr>
          <p:cNvPr id="44" name="TextBox 43">
            <a:extLst>
              <a:ext uri="{FF2B5EF4-FFF2-40B4-BE49-F238E27FC236}">
                <a16:creationId xmlns:a16="http://schemas.microsoft.com/office/drawing/2014/main" id="{6981747C-83D5-1A1C-8000-FA899D7F031B}"/>
              </a:ext>
            </a:extLst>
          </p:cNvPr>
          <p:cNvSpPr txBox="1"/>
          <p:nvPr/>
        </p:nvSpPr>
        <p:spPr>
          <a:xfrm>
            <a:off x="825311" y="2432860"/>
            <a:ext cx="568810" cy="369332"/>
          </a:xfrm>
          <a:prstGeom prst="rect">
            <a:avLst/>
          </a:prstGeom>
          <a:noFill/>
        </p:spPr>
        <p:txBody>
          <a:bodyPr wrap="square" rtlCol="0">
            <a:spAutoFit/>
          </a:bodyPr>
          <a:lstStyle/>
          <a:p>
            <a:r>
              <a:rPr lang="en-US" dirty="0"/>
              <a:t>KEY</a:t>
            </a:r>
          </a:p>
        </p:txBody>
      </p:sp>
      <p:cxnSp>
        <p:nvCxnSpPr>
          <p:cNvPr id="45" name="Straight Arrow Connector 44">
            <a:extLst>
              <a:ext uri="{FF2B5EF4-FFF2-40B4-BE49-F238E27FC236}">
                <a16:creationId xmlns:a16="http://schemas.microsoft.com/office/drawing/2014/main" id="{832673EE-F973-303C-F009-A74F048E3EAC}"/>
              </a:ext>
            </a:extLst>
          </p:cNvPr>
          <p:cNvCxnSpPr>
            <a:cxnSpLocks/>
          </p:cNvCxnSpPr>
          <p:nvPr/>
        </p:nvCxnSpPr>
        <p:spPr>
          <a:xfrm flipV="1">
            <a:off x="1476168" y="2636185"/>
            <a:ext cx="1753397" cy="1822"/>
          </a:xfrm>
          <a:prstGeom prst="straightConnector1">
            <a:avLst/>
          </a:prstGeom>
          <a:ln w="412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BF65DBDB-2BB2-600A-34A1-A554FFD3B61E}"/>
              </a:ext>
            </a:extLst>
          </p:cNvPr>
          <p:cNvCxnSpPr>
            <a:cxnSpLocks/>
          </p:cNvCxnSpPr>
          <p:nvPr/>
        </p:nvCxnSpPr>
        <p:spPr>
          <a:xfrm flipH="1">
            <a:off x="2282250" y="2582224"/>
            <a:ext cx="128825" cy="11392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F4046826-A7F2-0AB6-B15F-CC5D9591993C}"/>
              </a:ext>
            </a:extLst>
          </p:cNvPr>
          <p:cNvSpPr txBox="1"/>
          <p:nvPr/>
        </p:nvSpPr>
        <p:spPr>
          <a:xfrm>
            <a:off x="2053150" y="2275240"/>
            <a:ext cx="587023" cy="369332"/>
          </a:xfrm>
          <a:prstGeom prst="rect">
            <a:avLst/>
          </a:prstGeom>
          <a:noFill/>
        </p:spPr>
        <p:txBody>
          <a:bodyPr wrap="square" rtlCol="0">
            <a:spAutoFit/>
          </a:bodyPr>
          <a:lstStyle/>
          <a:p>
            <a:r>
              <a:rPr lang="ar-EG" dirty="0"/>
              <a:t>128</a:t>
            </a:r>
            <a:endParaRPr lang="en-US" dirty="0"/>
          </a:p>
        </p:txBody>
      </p:sp>
      <p:sp>
        <p:nvSpPr>
          <p:cNvPr id="52" name="TextBox 51">
            <a:extLst>
              <a:ext uri="{FF2B5EF4-FFF2-40B4-BE49-F238E27FC236}">
                <a16:creationId xmlns:a16="http://schemas.microsoft.com/office/drawing/2014/main" id="{582744E9-7AF5-454F-C084-121B3458FB6C}"/>
              </a:ext>
            </a:extLst>
          </p:cNvPr>
          <p:cNvSpPr txBox="1"/>
          <p:nvPr/>
        </p:nvSpPr>
        <p:spPr>
          <a:xfrm>
            <a:off x="746329" y="1511067"/>
            <a:ext cx="636969" cy="369332"/>
          </a:xfrm>
          <a:prstGeom prst="rect">
            <a:avLst/>
          </a:prstGeom>
          <a:noFill/>
        </p:spPr>
        <p:txBody>
          <a:bodyPr wrap="square" rtlCol="0">
            <a:spAutoFit/>
          </a:bodyPr>
          <a:lstStyle/>
          <a:p>
            <a:r>
              <a:rPr lang="en-US" dirty="0"/>
              <a:t>nRst</a:t>
            </a:r>
          </a:p>
        </p:txBody>
      </p:sp>
      <p:cxnSp>
        <p:nvCxnSpPr>
          <p:cNvPr id="56" name="Straight Arrow Connector 55">
            <a:extLst>
              <a:ext uri="{FF2B5EF4-FFF2-40B4-BE49-F238E27FC236}">
                <a16:creationId xmlns:a16="http://schemas.microsoft.com/office/drawing/2014/main" id="{DC51E4CA-C87A-A072-18B2-2FAE25CAD09F}"/>
              </a:ext>
            </a:extLst>
          </p:cNvPr>
          <p:cNvCxnSpPr>
            <a:cxnSpLocks/>
          </p:cNvCxnSpPr>
          <p:nvPr/>
        </p:nvCxnSpPr>
        <p:spPr>
          <a:xfrm flipV="1">
            <a:off x="1489892" y="1747838"/>
            <a:ext cx="1753397" cy="182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0" name="TextBox 79">
            <a:extLst>
              <a:ext uri="{FF2B5EF4-FFF2-40B4-BE49-F238E27FC236}">
                <a16:creationId xmlns:a16="http://schemas.microsoft.com/office/drawing/2014/main" id="{17D781A0-AAEB-1359-1A3F-E0B7B01E6C77}"/>
              </a:ext>
            </a:extLst>
          </p:cNvPr>
          <p:cNvSpPr txBox="1"/>
          <p:nvPr/>
        </p:nvSpPr>
        <p:spPr>
          <a:xfrm>
            <a:off x="910624" y="1163070"/>
            <a:ext cx="433132" cy="369332"/>
          </a:xfrm>
          <a:prstGeom prst="rect">
            <a:avLst/>
          </a:prstGeom>
          <a:noFill/>
        </p:spPr>
        <p:txBody>
          <a:bodyPr wrap="square" rtlCol="0">
            <a:spAutoFit/>
          </a:bodyPr>
          <a:lstStyle/>
          <a:p>
            <a:r>
              <a:rPr lang="en-US" dirty="0"/>
              <a:t>en</a:t>
            </a:r>
          </a:p>
        </p:txBody>
      </p:sp>
      <p:cxnSp>
        <p:nvCxnSpPr>
          <p:cNvPr id="81" name="Straight Arrow Connector 80">
            <a:extLst>
              <a:ext uri="{FF2B5EF4-FFF2-40B4-BE49-F238E27FC236}">
                <a16:creationId xmlns:a16="http://schemas.microsoft.com/office/drawing/2014/main" id="{65534AC1-9D74-D4B9-83C0-BFC1EC09AA9D}"/>
              </a:ext>
            </a:extLst>
          </p:cNvPr>
          <p:cNvCxnSpPr>
            <a:cxnSpLocks/>
          </p:cNvCxnSpPr>
          <p:nvPr/>
        </p:nvCxnSpPr>
        <p:spPr>
          <a:xfrm flipV="1">
            <a:off x="1468478" y="1378019"/>
            <a:ext cx="1753397" cy="182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2" name="TextBox 81">
            <a:extLst>
              <a:ext uri="{FF2B5EF4-FFF2-40B4-BE49-F238E27FC236}">
                <a16:creationId xmlns:a16="http://schemas.microsoft.com/office/drawing/2014/main" id="{195BAF91-C930-6377-5A58-FA2E8737DE9F}"/>
              </a:ext>
            </a:extLst>
          </p:cNvPr>
          <p:cNvSpPr txBox="1"/>
          <p:nvPr/>
        </p:nvSpPr>
        <p:spPr>
          <a:xfrm>
            <a:off x="7142799" y="3723482"/>
            <a:ext cx="655179" cy="369332"/>
          </a:xfrm>
          <a:prstGeom prst="rect">
            <a:avLst/>
          </a:prstGeom>
          <a:noFill/>
        </p:spPr>
        <p:txBody>
          <a:bodyPr wrap="square" rtlCol="0">
            <a:spAutoFit/>
          </a:bodyPr>
          <a:lstStyle/>
          <a:p>
            <a:r>
              <a:rPr lang="en-US" dirty="0"/>
              <a:t>valid</a:t>
            </a:r>
          </a:p>
        </p:txBody>
      </p:sp>
      <p:cxnSp>
        <p:nvCxnSpPr>
          <p:cNvPr id="83" name="Straight Arrow Connector 82">
            <a:extLst>
              <a:ext uri="{FF2B5EF4-FFF2-40B4-BE49-F238E27FC236}">
                <a16:creationId xmlns:a16="http://schemas.microsoft.com/office/drawing/2014/main" id="{0F4EE70D-89C8-EE76-D781-6700D4FFA079}"/>
              </a:ext>
            </a:extLst>
          </p:cNvPr>
          <p:cNvCxnSpPr>
            <a:cxnSpLocks/>
          </p:cNvCxnSpPr>
          <p:nvPr/>
        </p:nvCxnSpPr>
        <p:spPr>
          <a:xfrm flipV="1">
            <a:off x="5337271" y="3899415"/>
            <a:ext cx="1753397" cy="182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4" name="TextBox 83">
            <a:extLst>
              <a:ext uri="{FF2B5EF4-FFF2-40B4-BE49-F238E27FC236}">
                <a16:creationId xmlns:a16="http://schemas.microsoft.com/office/drawing/2014/main" id="{0C22A77B-A778-DCF1-23B7-4A83E3BCFF7A}"/>
              </a:ext>
            </a:extLst>
          </p:cNvPr>
          <p:cNvSpPr txBox="1"/>
          <p:nvPr/>
        </p:nvSpPr>
        <p:spPr>
          <a:xfrm>
            <a:off x="7141894" y="1174588"/>
            <a:ext cx="655179" cy="369332"/>
          </a:xfrm>
          <a:prstGeom prst="rect">
            <a:avLst/>
          </a:prstGeom>
          <a:noFill/>
        </p:spPr>
        <p:txBody>
          <a:bodyPr wrap="square" rtlCol="0">
            <a:spAutoFit/>
          </a:bodyPr>
          <a:lstStyle/>
          <a:p>
            <a:r>
              <a:rPr lang="en-US" dirty="0"/>
              <a:t>valid</a:t>
            </a:r>
          </a:p>
        </p:txBody>
      </p:sp>
      <p:cxnSp>
        <p:nvCxnSpPr>
          <p:cNvPr id="85" name="Straight Arrow Connector 84">
            <a:extLst>
              <a:ext uri="{FF2B5EF4-FFF2-40B4-BE49-F238E27FC236}">
                <a16:creationId xmlns:a16="http://schemas.microsoft.com/office/drawing/2014/main" id="{A697CC23-949F-7B03-7232-234E59CC826F}"/>
              </a:ext>
            </a:extLst>
          </p:cNvPr>
          <p:cNvCxnSpPr>
            <a:cxnSpLocks/>
          </p:cNvCxnSpPr>
          <p:nvPr/>
        </p:nvCxnSpPr>
        <p:spPr>
          <a:xfrm flipV="1">
            <a:off x="5336366" y="1350521"/>
            <a:ext cx="1753397" cy="182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104" name="Table 103">
            <a:extLst>
              <a:ext uri="{FF2B5EF4-FFF2-40B4-BE49-F238E27FC236}">
                <a16:creationId xmlns:a16="http://schemas.microsoft.com/office/drawing/2014/main" id="{623196EA-A390-5D21-7B80-81569DF789F1}"/>
              </a:ext>
            </a:extLst>
          </p:cNvPr>
          <p:cNvGraphicFramePr>
            <a:graphicFrameLocks noGrp="1"/>
          </p:cNvGraphicFramePr>
          <p:nvPr>
            <p:extLst>
              <p:ext uri="{D42A27DB-BD31-4B8C-83A1-F6EECF244321}">
                <p14:modId xmlns:p14="http://schemas.microsoft.com/office/powerpoint/2010/main" val="1745277323"/>
              </p:ext>
            </p:extLst>
          </p:nvPr>
        </p:nvGraphicFramePr>
        <p:xfrm>
          <a:off x="8227253" y="666504"/>
          <a:ext cx="3819610" cy="5928840"/>
        </p:xfrm>
        <a:graphic>
          <a:graphicData uri="http://schemas.openxmlformats.org/drawingml/2006/table">
            <a:tbl>
              <a:tblPr firstRow="1" bandRow="1">
                <a:tableStyleId>{5C22544A-7EE6-4342-B048-85BDC9FD1C3A}</a:tableStyleId>
              </a:tblPr>
              <a:tblGrid>
                <a:gridCol w="865179">
                  <a:extLst>
                    <a:ext uri="{9D8B030D-6E8A-4147-A177-3AD203B41FA5}">
                      <a16:colId xmlns:a16="http://schemas.microsoft.com/office/drawing/2014/main" val="20813966"/>
                    </a:ext>
                  </a:extLst>
                </a:gridCol>
                <a:gridCol w="2954431">
                  <a:extLst>
                    <a:ext uri="{9D8B030D-6E8A-4147-A177-3AD203B41FA5}">
                      <a16:colId xmlns:a16="http://schemas.microsoft.com/office/drawing/2014/main" val="1236942386"/>
                    </a:ext>
                  </a:extLst>
                </a:gridCol>
              </a:tblGrid>
              <a:tr h="741105">
                <a:tc>
                  <a:txBody>
                    <a:bodyPr/>
                    <a:lstStyle/>
                    <a:p>
                      <a:r>
                        <a:rPr lang="en-US" dirty="0"/>
                        <a:t>Pin name</a:t>
                      </a:r>
                    </a:p>
                  </a:txBody>
                  <a:tcPr>
                    <a:solidFill>
                      <a:schemeClr val="accent1">
                        <a:tint val="40000"/>
                        <a:alpha val="23000"/>
                      </a:schemeClr>
                    </a:solidFill>
                  </a:tcPr>
                </a:tc>
                <a:tc>
                  <a:txBody>
                    <a:bodyPr/>
                    <a:lstStyle/>
                    <a:p>
                      <a:r>
                        <a:rPr lang="en-US" dirty="0"/>
                        <a:t>Function</a:t>
                      </a:r>
                    </a:p>
                  </a:txBody>
                  <a:tcPr>
                    <a:solidFill>
                      <a:schemeClr val="accent1">
                        <a:tint val="40000"/>
                        <a:alpha val="23000"/>
                      </a:schemeClr>
                    </a:solidFill>
                  </a:tcPr>
                </a:tc>
                <a:extLst>
                  <a:ext uri="{0D108BD9-81ED-4DB2-BD59-A6C34878D82A}">
                    <a16:rowId xmlns:a16="http://schemas.microsoft.com/office/drawing/2014/main" val="4122979851"/>
                  </a:ext>
                </a:extLst>
              </a:tr>
              <a:tr h="741105">
                <a:tc>
                  <a:txBody>
                    <a:bodyPr/>
                    <a:lstStyle/>
                    <a:p>
                      <a:r>
                        <a:rPr lang="en-US" dirty="0">
                          <a:solidFill>
                            <a:schemeClr val="tx1"/>
                          </a:solidFill>
                        </a:rPr>
                        <a:t>valid</a:t>
                      </a:r>
                    </a:p>
                  </a:txBody>
                  <a:tcPr>
                    <a:noFill/>
                  </a:tcPr>
                </a:tc>
                <a:tc>
                  <a:txBody>
                    <a:bodyPr/>
                    <a:lstStyle/>
                    <a:p>
                      <a:r>
                        <a:rPr lang="en-US" dirty="0">
                          <a:solidFill>
                            <a:schemeClr val="tx1"/>
                          </a:solidFill>
                        </a:rPr>
                        <a:t>Valid signal to tell that the data sent are valid </a:t>
                      </a:r>
                    </a:p>
                  </a:txBody>
                  <a:tcPr>
                    <a:noFill/>
                  </a:tcPr>
                </a:tc>
                <a:extLst>
                  <a:ext uri="{0D108BD9-81ED-4DB2-BD59-A6C34878D82A}">
                    <a16:rowId xmlns:a16="http://schemas.microsoft.com/office/drawing/2014/main" val="1424037435"/>
                  </a:ext>
                </a:extLst>
              </a:tr>
              <a:tr h="741105">
                <a:tc>
                  <a:txBody>
                    <a:bodyPr/>
                    <a:lstStyle/>
                    <a:p>
                      <a:r>
                        <a:rPr lang="en-US" dirty="0">
                          <a:solidFill>
                            <a:schemeClr val="tx1"/>
                          </a:solidFill>
                        </a:rPr>
                        <a:t>en</a:t>
                      </a:r>
                    </a:p>
                  </a:txBody>
                  <a:tcPr>
                    <a:noFill/>
                  </a:tcPr>
                </a:tc>
                <a:tc>
                  <a:txBody>
                    <a:bodyPr/>
                    <a:lstStyle/>
                    <a:p>
                      <a:r>
                        <a:rPr lang="en-US" dirty="0">
                          <a:solidFill>
                            <a:schemeClr val="tx1"/>
                          </a:solidFill>
                        </a:rPr>
                        <a:t>Enable signal for the FSM to start the key generation</a:t>
                      </a:r>
                    </a:p>
                  </a:txBody>
                  <a:tcPr>
                    <a:noFill/>
                  </a:tcPr>
                </a:tc>
                <a:extLst>
                  <a:ext uri="{0D108BD9-81ED-4DB2-BD59-A6C34878D82A}">
                    <a16:rowId xmlns:a16="http://schemas.microsoft.com/office/drawing/2014/main" val="140610040"/>
                  </a:ext>
                </a:extLst>
              </a:tr>
              <a:tr h="741105">
                <a:tc>
                  <a:txBody>
                    <a:bodyPr/>
                    <a:lstStyle/>
                    <a:p>
                      <a:r>
                        <a:rPr lang="en-US" dirty="0">
                          <a:solidFill>
                            <a:schemeClr val="tx1"/>
                          </a:solidFill>
                        </a:rPr>
                        <a:t>nRst</a:t>
                      </a:r>
                    </a:p>
                  </a:txBody>
                  <a:tcPr>
                    <a:noFill/>
                  </a:tcPr>
                </a:tc>
                <a:tc>
                  <a:txBody>
                    <a:bodyPr/>
                    <a:lstStyle/>
                    <a:p>
                      <a:r>
                        <a:rPr lang="en-US" dirty="0">
                          <a:solidFill>
                            <a:schemeClr val="tx1"/>
                          </a:solidFill>
                        </a:rPr>
                        <a:t>Active low asynchronous reset</a:t>
                      </a:r>
                    </a:p>
                  </a:txBody>
                  <a:tcPr>
                    <a:noFill/>
                  </a:tcPr>
                </a:tc>
                <a:extLst>
                  <a:ext uri="{0D108BD9-81ED-4DB2-BD59-A6C34878D82A}">
                    <a16:rowId xmlns:a16="http://schemas.microsoft.com/office/drawing/2014/main" val="2634679742"/>
                  </a:ext>
                </a:extLst>
              </a:tr>
              <a:tr h="741105">
                <a:tc>
                  <a:txBody>
                    <a:bodyPr/>
                    <a:lstStyle/>
                    <a:p>
                      <a:r>
                        <a:rPr lang="en-US" dirty="0">
                          <a:solidFill>
                            <a:schemeClr val="tx1"/>
                          </a:solidFill>
                        </a:rPr>
                        <a:t>PT</a:t>
                      </a:r>
                    </a:p>
                  </a:txBody>
                  <a:tcPr>
                    <a:noFill/>
                  </a:tcPr>
                </a:tc>
                <a:tc>
                  <a:txBody>
                    <a:bodyPr/>
                    <a:lstStyle/>
                    <a:p>
                      <a:r>
                        <a:rPr lang="en-US" dirty="0">
                          <a:solidFill>
                            <a:schemeClr val="tx1"/>
                          </a:solidFill>
                        </a:rPr>
                        <a:t>Plain text sent</a:t>
                      </a:r>
                    </a:p>
                  </a:txBody>
                  <a:tcPr>
                    <a:noFill/>
                  </a:tcPr>
                </a:tc>
                <a:extLst>
                  <a:ext uri="{0D108BD9-81ED-4DB2-BD59-A6C34878D82A}">
                    <a16:rowId xmlns:a16="http://schemas.microsoft.com/office/drawing/2014/main" val="1131700125"/>
                  </a:ext>
                </a:extLst>
              </a:tr>
              <a:tr h="741105">
                <a:tc>
                  <a:txBody>
                    <a:bodyPr/>
                    <a:lstStyle/>
                    <a:p>
                      <a:r>
                        <a:rPr lang="en-US" dirty="0">
                          <a:solidFill>
                            <a:schemeClr val="tx1"/>
                          </a:solidFill>
                        </a:rPr>
                        <a:t>KEY</a:t>
                      </a:r>
                    </a:p>
                  </a:txBody>
                  <a:tcPr>
                    <a:noFill/>
                  </a:tcPr>
                </a:tc>
                <a:tc>
                  <a:txBody>
                    <a:bodyPr/>
                    <a:lstStyle/>
                    <a:p>
                      <a:r>
                        <a:rPr lang="en-US" dirty="0">
                          <a:solidFill>
                            <a:schemeClr val="tx1"/>
                          </a:solidFill>
                        </a:rPr>
                        <a:t>The key to be used</a:t>
                      </a:r>
                    </a:p>
                  </a:txBody>
                  <a:tcPr>
                    <a:noFill/>
                  </a:tcPr>
                </a:tc>
                <a:extLst>
                  <a:ext uri="{0D108BD9-81ED-4DB2-BD59-A6C34878D82A}">
                    <a16:rowId xmlns:a16="http://schemas.microsoft.com/office/drawing/2014/main" val="760907028"/>
                  </a:ext>
                </a:extLst>
              </a:tr>
              <a:tr h="741105">
                <a:tc>
                  <a:txBody>
                    <a:bodyPr/>
                    <a:lstStyle/>
                    <a:p>
                      <a:r>
                        <a:rPr lang="en-US" dirty="0">
                          <a:solidFill>
                            <a:schemeClr val="tx1"/>
                          </a:solidFill>
                        </a:rPr>
                        <a:t>CT</a:t>
                      </a:r>
                    </a:p>
                  </a:txBody>
                  <a:tcPr>
                    <a:noFill/>
                  </a:tcPr>
                </a:tc>
                <a:tc>
                  <a:txBody>
                    <a:bodyPr/>
                    <a:lstStyle/>
                    <a:p>
                      <a:r>
                        <a:rPr lang="en-US" dirty="0">
                          <a:solidFill>
                            <a:schemeClr val="tx1"/>
                          </a:solidFill>
                        </a:rPr>
                        <a:t>Cipher text received</a:t>
                      </a:r>
                    </a:p>
                  </a:txBody>
                  <a:tcPr>
                    <a:noFill/>
                  </a:tcPr>
                </a:tc>
                <a:extLst>
                  <a:ext uri="{0D108BD9-81ED-4DB2-BD59-A6C34878D82A}">
                    <a16:rowId xmlns:a16="http://schemas.microsoft.com/office/drawing/2014/main" val="2187533147"/>
                  </a:ext>
                </a:extLst>
              </a:tr>
              <a:tr h="741105">
                <a:tc>
                  <a:txBody>
                    <a:bodyPr/>
                    <a:lstStyle/>
                    <a:p>
                      <a:r>
                        <a:rPr lang="en-US" dirty="0">
                          <a:solidFill>
                            <a:schemeClr val="tx1"/>
                          </a:solidFill>
                        </a:rPr>
                        <a:t>clk</a:t>
                      </a:r>
                    </a:p>
                  </a:txBody>
                  <a:tcPr>
                    <a:noFill/>
                  </a:tcPr>
                </a:tc>
                <a:tc>
                  <a:txBody>
                    <a:bodyPr/>
                    <a:lstStyle/>
                    <a:p>
                      <a:r>
                        <a:rPr lang="en-US" dirty="0">
                          <a:solidFill>
                            <a:schemeClr val="tx1"/>
                          </a:solidFill>
                        </a:rPr>
                        <a:t>Clock </a:t>
                      </a:r>
                    </a:p>
                  </a:txBody>
                  <a:tcPr>
                    <a:noFill/>
                  </a:tcPr>
                </a:tc>
                <a:extLst>
                  <a:ext uri="{0D108BD9-81ED-4DB2-BD59-A6C34878D82A}">
                    <a16:rowId xmlns:a16="http://schemas.microsoft.com/office/drawing/2014/main" val="1334776281"/>
                  </a:ext>
                </a:extLst>
              </a:tr>
            </a:tbl>
          </a:graphicData>
        </a:graphic>
      </p:graphicFrame>
      <p:sp>
        <p:nvSpPr>
          <p:cNvPr id="107" name="TextBox 106">
            <a:extLst>
              <a:ext uri="{FF2B5EF4-FFF2-40B4-BE49-F238E27FC236}">
                <a16:creationId xmlns:a16="http://schemas.microsoft.com/office/drawing/2014/main" id="{BAA7F82A-9FAE-5BEE-9633-2EFB33DD8093}"/>
              </a:ext>
            </a:extLst>
          </p:cNvPr>
          <p:cNvSpPr txBox="1"/>
          <p:nvPr/>
        </p:nvSpPr>
        <p:spPr>
          <a:xfrm>
            <a:off x="825311" y="2802192"/>
            <a:ext cx="518445" cy="369332"/>
          </a:xfrm>
          <a:prstGeom prst="rect">
            <a:avLst/>
          </a:prstGeom>
          <a:noFill/>
        </p:spPr>
        <p:txBody>
          <a:bodyPr wrap="square" rtlCol="0">
            <a:spAutoFit/>
          </a:bodyPr>
          <a:lstStyle/>
          <a:p>
            <a:r>
              <a:rPr lang="en-US" dirty="0"/>
              <a:t>clk</a:t>
            </a:r>
          </a:p>
        </p:txBody>
      </p:sp>
      <p:cxnSp>
        <p:nvCxnSpPr>
          <p:cNvPr id="108" name="Straight Arrow Connector 107">
            <a:extLst>
              <a:ext uri="{FF2B5EF4-FFF2-40B4-BE49-F238E27FC236}">
                <a16:creationId xmlns:a16="http://schemas.microsoft.com/office/drawing/2014/main" id="{33B85B96-223A-3283-B381-C471A3DDF440}"/>
              </a:ext>
            </a:extLst>
          </p:cNvPr>
          <p:cNvCxnSpPr>
            <a:cxnSpLocks/>
          </p:cNvCxnSpPr>
          <p:nvPr/>
        </p:nvCxnSpPr>
        <p:spPr>
          <a:xfrm flipV="1">
            <a:off x="1462437" y="3014555"/>
            <a:ext cx="1753397" cy="182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9" name="TextBox 108">
            <a:extLst>
              <a:ext uri="{FF2B5EF4-FFF2-40B4-BE49-F238E27FC236}">
                <a16:creationId xmlns:a16="http://schemas.microsoft.com/office/drawing/2014/main" id="{905FCBE5-261E-82E2-3D56-590FFE816D59}"/>
              </a:ext>
            </a:extLst>
          </p:cNvPr>
          <p:cNvSpPr txBox="1"/>
          <p:nvPr/>
        </p:nvSpPr>
        <p:spPr>
          <a:xfrm>
            <a:off x="703684" y="852311"/>
            <a:ext cx="692102" cy="369332"/>
          </a:xfrm>
          <a:prstGeom prst="rect">
            <a:avLst/>
          </a:prstGeom>
          <a:noFill/>
        </p:spPr>
        <p:txBody>
          <a:bodyPr wrap="square" rtlCol="0">
            <a:spAutoFit/>
          </a:bodyPr>
          <a:lstStyle/>
          <a:p>
            <a:r>
              <a:rPr lang="en-US" dirty="0"/>
              <a:t>valid</a:t>
            </a:r>
          </a:p>
        </p:txBody>
      </p:sp>
      <p:cxnSp>
        <p:nvCxnSpPr>
          <p:cNvPr id="110" name="Straight Arrow Connector 109">
            <a:extLst>
              <a:ext uri="{FF2B5EF4-FFF2-40B4-BE49-F238E27FC236}">
                <a16:creationId xmlns:a16="http://schemas.microsoft.com/office/drawing/2014/main" id="{0EEC5416-549F-628A-8004-2F988AECD2BC}"/>
              </a:ext>
            </a:extLst>
          </p:cNvPr>
          <p:cNvCxnSpPr>
            <a:cxnSpLocks/>
          </p:cNvCxnSpPr>
          <p:nvPr/>
        </p:nvCxnSpPr>
        <p:spPr>
          <a:xfrm flipV="1">
            <a:off x="1473186" y="1047891"/>
            <a:ext cx="1753397" cy="182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1" name="Straight Arrow Connector 110">
            <a:extLst>
              <a:ext uri="{FF2B5EF4-FFF2-40B4-BE49-F238E27FC236}">
                <a16:creationId xmlns:a16="http://schemas.microsoft.com/office/drawing/2014/main" id="{4A4D1B5F-4062-C253-AFB1-310E517147C8}"/>
              </a:ext>
            </a:extLst>
          </p:cNvPr>
          <p:cNvCxnSpPr>
            <a:cxnSpLocks/>
          </p:cNvCxnSpPr>
          <p:nvPr/>
        </p:nvCxnSpPr>
        <p:spPr>
          <a:xfrm>
            <a:off x="1445297" y="4813908"/>
            <a:ext cx="1785064" cy="0"/>
          </a:xfrm>
          <a:prstGeom prst="straightConnector1">
            <a:avLst/>
          </a:prstGeom>
          <a:ln w="412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2" name="TextBox 111">
            <a:extLst>
              <a:ext uri="{FF2B5EF4-FFF2-40B4-BE49-F238E27FC236}">
                <a16:creationId xmlns:a16="http://schemas.microsoft.com/office/drawing/2014/main" id="{2659FF9F-3467-878A-90A4-5F36E3E076B5}"/>
              </a:ext>
            </a:extLst>
          </p:cNvPr>
          <p:cNvSpPr txBox="1"/>
          <p:nvPr/>
        </p:nvSpPr>
        <p:spPr>
          <a:xfrm>
            <a:off x="868613" y="4602595"/>
            <a:ext cx="501370" cy="369332"/>
          </a:xfrm>
          <a:prstGeom prst="rect">
            <a:avLst/>
          </a:prstGeom>
          <a:noFill/>
        </p:spPr>
        <p:txBody>
          <a:bodyPr wrap="square" rtlCol="0">
            <a:spAutoFit/>
          </a:bodyPr>
          <a:lstStyle/>
          <a:p>
            <a:r>
              <a:rPr lang="en-US" dirty="0"/>
              <a:t>CT</a:t>
            </a:r>
          </a:p>
        </p:txBody>
      </p:sp>
      <p:cxnSp>
        <p:nvCxnSpPr>
          <p:cNvPr id="113" name="Straight Connector 112">
            <a:extLst>
              <a:ext uri="{FF2B5EF4-FFF2-40B4-BE49-F238E27FC236}">
                <a16:creationId xmlns:a16="http://schemas.microsoft.com/office/drawing/2014/main" id="{FB975DE4-0958-15A1-5E5F-8E3F4FBB2EF2}"/>
              </a:ext>
            </a:extLst>
          </p:cNvPr>
          <p:cNvCxnSpPr>
            <a:cxnSpLocks/>
          </p:cNvCxnSpPr>
          <p:nvPr/>
        </p:nvCxnSpPr>
        <p:spPr>
          <a:xfrm flipH="1">
            <a:off x="2251379" y="4753045"/>
            <a:ext cx="128825" cy="11392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14" name="TextBox 113">
            <a:extLst>
              <a:ext uri="{FF2B5EF4-FFF2-40B4-BE49-F238E27FC236}">
                <a16:creationId xmlns:a16="http://schemas.microsoft.com/office/drawing/2014/main" id="{26B03BC6-1D64-E40C-D542-3D007898B120}"/>
              </a:ext>
            </a:extLst>
          </p:cNvPr>
          <p:cNvSpPr txBox="1"/>
          <p:nvPr/>
        </p:nvSpPr>
        <p:spPr>
          <a:xfrm>
            <a:off x="2022279" y="4451141"/>
            <a:ext cx="587023" cy="369332"/>
          </a:xfrm>
          <a:prstGeom prst="rect">
            <a:avLst/>
          </a:prstGeom>
          <a:noFill/>
        </p:spPr>
        <p:txBody>
          <a:bodyPr wrap="square" rtlCol="0">
            <a:spAutoFit/>
          </a:bodyPr>
          <a:lstStyle/>
          <a:p>
            <a:r>
              <a:rPr lang="ar-EG" dirty="0"/>
              <a:t>128</a:t>
            </a:r>
            <a:endParaRPr lang="en-US" dirty="0"/>
          </a:p>
        </p:txBody>
      </p:sp>
      <p:sp>
        <p:nvSpPr>
          <p:cNvPr id="115" name="TextBox 114">
            <a:extLst>
              <a:ext uri="{FF2B5EF4-FFF2-40B4-BE49-F238E27FC236}">
                <a16:creationId xmlns:a16="http://schemas.microsoft.com/office/drawing/2014/main" id="{22AF135A-33B4-0717-9681-E6BD4EFDEA6B}"/>
              </a:ext>
            </a:extLst>
          </p:cNvPr>
          <p:cNvSpPr txBox="1"/>
          <p:nvPr/>
        </p:nvSpPr>
        <p:spPr>
          <a:xfrm>
            <a:off x="823091" y="5026807"/>
            <a:ext cx="568810" cy="369332"/>
          </a:xfrm>
          <a:prstGeom prst="rect">
            <a:avLst/>
          </a:prstGeom>
          <a:noFill/>
        </p:spPr>
        <p:txBody>
          <a:bodyPr wrap="square" rtlCol="0">
            <a:spAutoFit/>
          </a:bodyPr>
          <a:lstStyle/>
          <a:p>
            <a:r>
              <a:rPr lang="en-US" dirty="0"/>
              <a:t>KEY</a:t>
            </a:r>
          </a:p>
        </p:txBody>
      </p:sp>
      <p:cxnSp>
        <p:nvCxnSpPr>
          <p:cNvPr id="116" name="Straight Arrow Connector 115">
            <a:extLst>
              <a:ext uri="{FF2B5EF4-FFF2-40B4-BE49-F238E27FC236}">
                <a16:creationId xmlns:a16="http://schemas.microsoft.com/office/drawing/2014/main" id="{E5D8D7C8-0B4C-6E54-3263-8B517E7406D0}"/>
              </a:ext>
            </a:extLst>
          </p:cNvPr>
          <p:cNvCxnSpPr>
            <a:cxnSpLocks/>
          </p:cNvCxnSpPr>
          <p:nvPr/>
        </p:nvCxnSpPr>
        <p:spPr>
          <a:xfrm flipV="1">
            <a:off x="1473948" y="5230132"/>
            <a:ext cx="1753397" cy="1822"/>
          </a:xfrm>
          <a:prstGeom prst="straightConnector1">
            <a:avLst/>
          </a:prstGeom>
          <a:ln w="412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7" name="Straight Connector 116">
            <a:extLst>
              <a:ext uri="{FF2B5EF4-FFF2-40B4-BE49-F238E27FC236}">
                <a16:creationId xmlns:a16="http://schemas.microsoft.com/office/drawing/2014/main" id="{913FE700-6F27-59E3-ABC8-05C1C714DB21}"/>
              </a:ext>
            </a:extLst>
          </p:cNvPr>
          <p:cNvCxnSpPr>
            <a:cxnSpLocks/>
          </p:cNvCxnSpPr>
          <p:nvPr/>
        </p:nvCxnSpPr>
        <p:spPr>
          <a:xfrm flipH="1">
            <a:off x="2280030" y="5176171"/>
            <a:ext cx="128825" cy="11392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18" name="TextBox 117">
            <a:extLst>
              <a:ext uri="{FF2B5EF4-FFF2-40B4-BE49-F238E27FC236}">
                <a16:creationId xmlns:a16="http://schemas.microsoft.com/office/drawing/2014/main" id="{C554FF0A-D97E-75B6-925A-9E1C45E16C16}"/>
              </a:ext>
            </a:extLst>
          </p:cNvPr>
          <p:cNvSpPr txBox="1"/>
          <p:nvPr/>
        </p:nvSpPr>
        <p:spPr>
          <a:xfrm>
            <a:off x="2050930" y="4869187"/>
            <a:ext cx="587023" cy="369332"/>
          </a:xfrm>
          <a:prstGeom prst="rect">
            <a:avLst/>
          </a:prstGeom>
          <a:noFill/>
        </p:spPr>
        <p:txBody>
          <a:bodyPr wrap="square" rtlCol="0">
            <a:spAutoFit/>
          </a:bodyPr>
          <a:lstStyle/>
          <a:p>
            <a:r>
              <a:rPr lang="ar-EG" dirty="0"/>
              <a:t>128</a:t>
            </a:r>
            <a:endParaRPr lang="en-US" dirty="0"/>
          </a:p>
        </p:txBody>
      </p:sp>
      <p:sp>
        <p:nvSpPr>
          <p:cNvPr id="119" name="TextBox 118">
            <a:extLst>
              <a:ext uri="{FF2B5EF4-FFF2-40B4-BE49-F238E27FC236}">
                <a16:creationId xmlns:a16="http://schemas.microsoft.com/office/drawing/2014/main" id="{E62FA219-3B87-4971-EE66-0C474A2FE379}"/>
              </a:ext>
            </a:extLst>
          </p:cNvPr>
          <p:cNvSpPr txBox="1"/>
          <p:nvPr/>
        </p:nvSpPr>
        <p:spPr>
          <a:xfrm>
            <a:off x="744109" y="4105014"/>
            <a:ext cx="636969" cy="369332"/>
          </a:xfrm>
          <a:prstGeom prst="rect">
            <a:avLst/>
          </a:prstGeom>
          <a:noFill/>
        </p:spPr>
        <p:txBody>
          <a:bodyPr wrap="square" rtlCol="0">
            <a:spAutoFit/>
          </a:bodyPr>
          <a:lstStyle/>
          <a:p>
            <a:r>
              <a:rPr lang="en-US" dirty="0"/>
              <a:t>nRst</a:t>
            </a:r>
          </a:p>
        </p:txBody>
      </p:sp>
      <p:cxnSp>
        <p:nvCxnSpPr>
          <p:cNvPr id="120" name="Straight Arrow Connector 119">
            <a:extLst>
              <a:ext uri="{FF2B5EF4-FFF2-40B4-BE49-F238E27FC236}">
                <a16:creationId xmlns:a16="http://schemas.microsoft.com/office/drawing/2014/main" id="{19BC11C2-58F1-A0D4-D6F4-AB3993B93A87}"/>
              </a:ext>
            </a:extLst>
          </p:cNvPr>
          <p:cNvCxnSpPr>
            <a:cxnSpLocks/>
          </p:cNvCxnSpPr>
          <p:nvPr/>
        </p:nvCxnSpPr>
        <p:spPr>
          <a:xfrm flipV="1">
            <a:off x="1487672" y="4341785"/>
            <a:ext cx="1753397" cy="182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21" name="TextBox 120">
            <a:extLst>
              <a:ext uri="{FF2B5EF4-FFF2-40B4-BE49-F238E27FC236}">
                <a16:creationId xmlns:a16="http://schemas.microsoft.com/office/drawing/2014/main" id="{D7935810-3CD9-1B5D-84EF-4BBC21AC4944}"/>
              </a:ext>
            </a:extLst>
          </p:cNvPr>
          <p:cNvSpPr txBox="1"/>
          <p:nvPr/>
        </p:nvSpPr>
        <p:spPr>
          <a:xfrm>
            <a:off x="908404" y="3757017"/>
            <a:ext cx="433132" cy="369332"/>
          </a:xfrm>
          <a:prstGeom prst="rect">
            <a:avLst/>
          </a:prstGeom>
          <a:noFill/>
        </p:spPr>
        <p:txBody>
          <a:bodyPr wrap="square" rtlCol="0">
            <a:spAutoFit/>
          </a:bodyPr>
          <a:lstStyle/>
          <a:p>
            <a:r>
              <a:rPr lang="en-US" dirty="0"/>
              <a:t>en</a:t>
            </a:r>
          </a:p>
        </p:txBody>
      </p:sp>
      <p:cxnSp>
        <p:nvCxnSpPr>
          <p:cNvPr id="122" name="Straight Arrow Connector 121">
            <a:extLst>
              <a:ext uri="{FF2B5EF4-FFF2-40B4-BE49-F238E27FC236}">
                <a16:creationId xmlns:a16="http://schemas.microsoft.com/office/drawing/2014/main" id="{AF2EB59D-2B0A-5158-C666-4B45DE5D62D6}"/>
              </a:ext>
            </a:extLst>
          </p:cNvPr>
          <p:cNvCxnSpPr>
            <a:cxnSpLocks/>
          </p:cNvCxnSpPr>
          <p:nvPr/>
        </p:nvCxnSpPr>
        <p:spPr>
          <a:xfrm flipV="1">
            <a:off x="1478958" y="3971966"/>
            <a:ext cx="1753397" cy="182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23" name="TextBox 122">
            <a:extLst>
              <a:ext uri="{FF2B5EF4-FFF2-40B4-BE49-F238E27FC236}">
                <a16:creationId xmlns:a16="http://schemas.microsoft.com/office/drawing/2014/main" id="{DAE550F0-E327-3BA8-32CC-375A3B959978}"/>
              </a:ext>
            </a:extLst>
          </p:cNvPr>
          <p:cNvSpPr txBox="1"/>
          <p:nvPr/>
        </p:nvSpPr>
        <p:spPr>
          <a:xfrm>
            <a:off x="823091" y="5396139"/>
            <a:ext cx="518445" cy="369332"/>
          </a:xfrm>
          <a:prstGeom prst="rect">
            <a:avLst/>
          </a:prstGeom>
          <a:noFill/>
        </p:spPr>
        <p:txBody>
          <a:bodyPr wrap="square" rtlCol="0">
            <a:spAutoFit/>
          </a:bodyPr>
          <a:lstStyle/>
          <a:p>
            <a:r>
              <a:rPr lang="en-US" dirty="0"/>
              <a:t>clk</a:t>
            </a:r>
          </a:p>
        </p:txBody>
      </p:sp>
      <p:cxnSp>
        <p:nvCxnSpPr>
          <p:cNvPr id="124" name="Straight Arrow Connector 123">
            <a:extLst>
              <a:ext uri="{FF2B5EF4-FFF2-40B4-BE49-F238E27FC236}">
                <a16:creationId xmlns:a16="http://schemas.microsoft.com/office/drawing/2014/main" id="{42E4DAF5-26F4-5C25-1965-329D02430345}"/>
              </a:ext>
            </a:extLst>
          </p:cNvPr>
          <p:cNvCxnSpPr>
            <a:cxnSpLocks/>
          </p:cNvCxnSpPr>
          <p:nvPr/>
        </p:nvCxnSpPr>
        <p:spPr>
          <a:xfrm flipV="1">
            <a:off x="1472917" y="5608502"/>
            <a:ext cx="1753397" cy="182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25" name="TextBox 124">
            <a:extLst>
              <a:ext uri="{FF2B5EF4-FFF2-40B4-BE49-F238E27FC236}">
                <a16:creationId xmlns:a16="http://schemas.microsoft.com/office/drawing/2014/main" id="{63531EA6-1E56-9E60-1567-4A67E431DDA9}"/>
              </a:ext>
            </a:extLst>
          </p:cNvPr>
          <p:cNvSpPr txBox="1"/>
          <p:nvPr/>
        </p:nvSpPr>
        <p:spPr>
          <a:xfrm>
            <a:off x="701464" y="3446258"/>
            <a:ext cx="692102" cy="369332"/>
          </a:xfrm>
          <a:prstGeom prst="rect">
            <a:avLst/>
          </a:prstGeom>
          <a:noFill/>
        </p:spPr>
        <p:txBody>
          <a:bodyPr wrap="square" rtlCol="0">
            <a:spAutoFit/>
          </a:bodyPr>
          <a:lstStyle/>
          <a:p>
            <a:r>
              <a:rPr lang="en-US" dirty="0"/>
              <a:t>valid</a:t>
            </a:r>
          </a:p>
        </p:txBody>
      </p:sp>
      <p:cxnSp>
        <p:nvCxnSpPr>
          <p:cNvPr id="126" name="Straight Arrow Connector 125">
            <a:extLst>
              <a:ext uri="{FF2B5EF4-FFF2-40B4-BE49-F238E27FC236}">
                <a16:creationId xmlns:a16="http://schemas.microsoft.com/office/drawing/2014/main" id="{B1572095-7321-91CB-423A-D504D97239A1}"/>
              </a:ext>
            </a:extLst>
          </p:cNvPr>
          <p:cNvCxnSpPr>
            <a:cxnSpLocks/>
          </p:cNvCxnSpPr>
          <p:nvPr/>
        </p:nvCxnSpPr>
        <p:spPr>
          <a:xfrm flipV="1">
            <a:off x="1470966" y="3641838"/>
            <a:ext cx="1753397" cy="182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522319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FAC5E-4618-9E87-FFD2-CEB5EDC9B6E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2828780-95E4-405D-D81E-B87255B5B132}"/>
              </a:ext>
            </a:extLst>
          </p:cNvPr>
          <p:cNvSpPr txBox="1"/>
          <p:nvPr/>
        </p:nvSpPr>
        <p:spPr>
          <a:xfrm>
            <a:off x="5148144" y="113285"/>
            <a:ext cx="1857240" cy="523220"/>
          </a:xfrm>
          <a:prstGeom prst="rect">
            <a:avLst/>
          </a:prstGeom>
          <a:noFill/>
        </p:spPr>
        <p:txBody>
          <a:bodyPr wrap="none" rtlCol="0">
            <a:spAutoFit/>
          </a:bodyPr>
          <a:lstStyle/>
          <a:p>
            <a:r>
              <a:rPr lang="en-US" sz="2800" dirty="0"/>
              <a:t>Encryption</a:t>
            </a:r>
            <a:endParaRPr lang="en-US" dirty="0"/>
          </a:p>
        </p:txBody>
      </p:sp>
      <p:sp>
        <p:nvSpPr>
          <p:cNvPr id="7" name="Rectangle 6">
            <a:extLst>
              <a:ext uri="{FF2B5EF4-FFF2-40B4-BE49-F238E27FC236}">
                <a16:creationId xmlns:a16="http://schemas.microsoft.com/office/drawing/2014/main" id="{E81735EE-7B9C-1E2B-51D3-472D7EDB7B83}"/>
              </a:ext>
            </a:extLst>
          </p:cNvPr>
          <p:cNvSpPr/>
          <p:nvPr/>
        </p:nvSpPr>
        <p:spPr>
          <a:xfrm>
            <a:off x="1595599" y="5246028"/>
            <a:ext cx="2068830"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B20557D6-83D0-1313-06B2-496B0CDDF3F0}"/>
              </a:ext>
            </a:extLst>
          </p:cNvPr>
          <p:cNvGrpSpPr/>
          <p:nvPr/>
        </p:nvGrpSpPr>
        <p:grpSpPr>
          <a:xfrm>
            <a:off x="1595599" y="1039669"/>
            <a:ext cx="2068830" cy="2633424"/>
            <a:chOff x="1108710" y="588407"/>
            <a:chExt cx="2068830" cy="2633424"/>
          </a:xfrm>
        </p:grpSpPr>
        <p:sp>
          <p:nvSpPr>
            <p:cNvPr id="4" name="Rectangle 3">
              <a:extLst>
                <a:ext uri="{FF2B5EF4-FFF2-40B4-BE49-F238E27FC236}">
                  <a16:creationId xmlns:a16="http://schemas.microsoft.com/office/drawing/2014/main" id="{02922568-E006-38C5-1B17-C1F32F6A7A9B}"/>
                </a:ext>
              </a:extLst>
            </p:cNvPr>
            <p:cNvSpPr/>
            <p:nvPr/>
          </p:nvSpPr>
          <p:spPr>
            <a:xfrm>
              <a:off x="1108710" y="604361"/>
              <a:ext cx="2068830"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69954839-48B8-D7AE-0C70-86331CD44E26}"/>
                </a:ext>
              </a:extLst>
            </p:cNvPr>
            <p:cNvCxnSpPr>
              <a:stCxn id="4" idx="2"/>
            </p:cNvCxnSpPr>
            <p:nvPr/>
          </p:nvCxnSpPr>
          <p:spPr>
            <a:xfrm>
              <a:off x="2143125" y="1032986"/>
              <a:ext cx="0" cy="88011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0622E381-FF2D-E5EA-DBA9-2ED7A6B251C2}"/>
                </a:ext>
              </a:extLst>
            </p:cNvPr>
            <p:cNvSpPr/>
            <p:nvPr/>
          </p:nvSpPr>
          <p:spPr>
            <a:xfrm>
              <a:off x="1108710" y="1913096"/>
              <a:ext cx="2068830"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B7F1E621-3D7B-0851-582F-7ADE0724EA7A}"/>
                </a:ext>
              </a:extLst>
            </p:cNvPr>
            <p:cNvCxnSpPr>
              <a:stCxn id="9" idx="2"/>
            </p:cNvCxnSpPr>
            <p:nvPr/>
          </p:nvCxnSpPr>
          <p:spPr>
            <a:xfrm>
              <a:off x="2143125" y="2341721"/>
              <a:ext cx="0" cy="88011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EF564F70-802D-BA0C-C726-658AF7542595}"/>
                </a:ext>
              </a:extLst>
            </p:cNvPr>
            <p:cNvSpPr/>
            <p:nvPr/>
          </p:nvSpPr>
          <p:spPr>
            <a:xfrm>
              <a:off x="1788797" y="818673"/>
              <a:ext cx="708655" cy="15240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09C2284-674A-DB50-27CD-3D6165515C63}"/>
                </a:ext>
              </a:extLst>
            </p:cNvPr>
            <p:cNvSpPr txBox="1"/>
            <p:nvPr/>
          </p:nvSpPr>
          <p:spPr>
            <a:xfrm>
              <a:off x="1880872" y="588407"/>
              <a:ext cx="561372" cy="246221"/>
            </a:xfrm>
            <a:prstGeom prst="rect">
              <a:avLst/>
            </a:prstGeom>
            <a:noFill/>
          </p:spPr>
          <p:txBody>
            <a:bodyPr wrap="none" rtlCol="0">
              <a:spAutoFit/>
            </a:bodyPr>
            <a:lstStyle/>
            <a:p>
              <a:r>
                <a:rPr lang="en-US" sz="1000" dirty="0"/>
                <a:t>Comb.</a:t>
              </a:r>
              <a:endParaRPr lang="en-US" sz="500" dirty="0"/>
            </a:p>
          </p:txBody>
        </p:sp>
        <p:sp>
          <p:nvSpPr>
            <p:cNvPr id="13" name="TextBox 12">
              <a:extLst>
                <a:ext uri="{FF2B5EF4-FFF2-40B4-BE49-F238E27FC236}">
                  <a16:creationId xmlns:a16="http://schemas.microsoft.com/office/drawing/2014/main" id="{7BD85895-1887-0C7A-497A-8348B62F9E8C}"/>
                </a:ext>
              </a:extLst>
            </p:cNvPr>
            <p:cNvSpPr txBox="1"/>
            <p:nvPr/>
          </p:nvSpPr>
          <p:spPr>
            <a:xfrm>
              <a:off x="1848484" y="771762"/>
              <a:ext cx="590226" cy="246221"/>
            </a:xfrm>
            <a:prstGeom prst="rect">
              <a:avLst/>
            </a:prstGeom>
            <a:noFill/>
          </p:spPr>
          <p:txBody>
            <a:bodyPr wrap="none" rtlCol="0">
              <a:spAutoFit/>
            </a:bodyPr>
            <a:lstStyle/>
            <a:p>
              <a:r>
                <a:rPr lang="en-US" sz="1000" dirty="0"/>
                <a:t>128 reg</a:t>
              </a:r>
              <a:endParaRPr lang="en-US" sz="500" dirty="0"/>
            </a:p>
          </p:txBody>
        </p:sp>
        <p:sp>
          <p:nvSpPr>
            <p:cNvPr id="14" name="Rectangle 13">
              <a:extLst>
                <a:ext uri="{FF2B5EF4-FFF2-40B4-BE49-F238E27FC236}">
                  <a16:creationId xmlns:a16="http://schemas.microsoft.com/office/drawing/2014/main" id="{C5B59C1B-62F4-58C0-96CD-91635520ED74}"/>
                </a:ext>
              </a:extLst>
            </p:cNvPr>
            <p:cNvSpPr/>
            <p:nvPr/>
          </p:nvSpPr>
          <p:spPr>
            <a:xfrm>
              <a:off x="1788797" y="2122407"/>
              <a:ext cx="708655" cy="15240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889433CE-5D1F-B70A-4B65-46B0C44258FB}"/>
                </a:ext>
              </a:extLst>
            </p:cNvPr>
            <p:cNvSpPr txBox="1"/>
            <p:nvPr/>
          </p:nvSpPr>
          <p:spPr>
            <a:xfrm>
              <a:off x="1880872" y="1892141"/>
              <a:ext cx="561372" cy="246221"/>
            </a:xfrm>
            <a:prstGeom prst="rect">
              <a:avLst/>
            </a:prstGeom>
            <a:noFill/>
          </p:spPr>
          <p:txBody>
            <a:bodyPr wrap="none" rtlCol="0">
              <a:spAutoFit/>
            </a:bodyPr>
            <a:lstStyle/>
            <a:p>
              <a:r>
                <a:rPr lang="en-US" sz="1000" dirty="0"/>
                <a:t>Comb.</a:t>
              </a:r>
              <a:endParaRPr lang="en-US" sz="500" dirty="0"/>
            </a:p>
          </p:txBody>
        </p:sp>
        <p:sp>
          <p:nvSpPr>
            <p:cNvPr id="16" name="TextBox 15">
              <a:extLst>
                <a:ext uri="{FF2B5EF4-FFF2-40B4-BE49-F238E27FC236}">
                  <a16:creationId xmlns:a16="http://schemas.microsoft.com/office/drawing/2014/main" id="{91906170-A4F9-7EA3-1A84-9727BDD6D331}"/>
                </a:ext>
              </a:extLst>
            </p:cNvPr>
            <p:cNvSpPr txBox="1"/>
            <p:nvPr/>
          </p:nvSpPr>
          <p:spPr>
            <a:xfrm>
              <a:off x="1848484" y="2075496"/>
              <a:ext cx="590226" cy="246221"/>
            </a:xfrm>
            <a:prstGeom prst="rect">
              <a:avLst/>
            </a:prstGeom>
            <a:noFill/>
          </p:spPr>
          <p:txBody>
            <a:bodyPr wrap="none" rtlCol="0">
              <a:spAutoFit/>
            </a:bodyPr>
            <a:lstStyle/>
            <a:p>
              <a:r>
                <a:rPr lang="en-US" sz="1000" dirty="0"/>
                <a:t>128 reg</a:t>
              </a:r>
              <a:endParaRPr lang="en-US" sz="500" dirty="0"/>
            </a:p>
          </p:txBody>
        </p:sp>
      </p:grpSp>
      <p:sp>
        <p:nvSpPr>
          <p:cNvPr id="17" name="Rectangle 16">
            <a:extLst>
              <a:ext uri="{FF2B5EF4-FFF2-40B4-BE49-F238E27FC236}">
                <a16:creationId xmlns:a16="http://schemas.microsoft.com/office/drawing/2014/main" id="{09C5D7A9-A7B2-D493-45FD-094825363800}"/>
              </a:ext>
            </a:extLst>
          </p:cNvPr>
          <p:cNvSpPr/>
          <p:nvPr/>
        </p:nvSpPr>
        <p:spPr>
          <a:xfrm>
            <a:off x="2275686" y="5476294"/>
            <a:ext cx="708655" cy="15240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8A3A4127-0BCC-C9EC-015D-63A0566AB9F2}"/>
              </a:ext>
            </a:extLst>
          </p:cNvPr>
          <p:cNvSpPr txBox="1"/>
          <p:nvPr/>
        </p:nvSpPr>
        <p:spPr>
          <a:xfrm>
            <a:off x="2367761" y="5246028"/>
            <a:ext cx="561372" cy="246221"/>
          </a:xfrm>
          <a:prstGeom prst="rect">
            <a:avLst/>
          </a:prstGeom>
          <a:noFill/>
        </p:spPr>
        <p:txBody>
          <a:bodyPr wrap="none" rtlCol="0">
            <a:spAutoFit/>
          </a:bodyPr>
          <a:lstStyle/>
          <a:p>
            <a:r>
              <a:rPr lang="en-US" sz="1000" dirty="0"/>
              <a:t>Comb.</a:t>
            </a:r>
            <a:endParaRPr lang="en-US" sz="500" dirty="0"/>
          </a:p>
        </p:txBody>
      </p:sp>
      <p:sp>
        <p:nvSpPr>
          <p:cNvPr id="19" name="TextBox 18">
            <a:extLst>
              <a:ext uri="{FF2B5EF4-FFF2-40B4-BE49-F238E27FC236}">
                <a16:creationId xmlns:a16="http://schemas.microsoft.com/office/drawing/2014/main" id="{6CE65852-E1DB-E8FA-C62E-9F75A806947E}"/>
              </a:ext>
            </a:extLst>
          </p:cNvPr>
          <p:cNvSpPr txBox="1"/>
          <p:nvPr/>
        </p:nvSpPr>
        <p:spPr>
          <a:xfrm>
            <a:off x="2335373" y="5429383"/>
            <a:ext cx="590226" cy="246221"/>
          </a:xfrm>
          <a:prstGeom prst="rect">
            <a:avLst/>
          </a:prstGeom>
          <a:noFill/>
        </p:spPr>
        <p:txBody>
          <a:bodyPr wrap="none" rtlCol="0">
            <a:spAutoFit/>
          </a:bodyPr>
          <a:lstStyle/>
          <a:p>
            <a:r>
              <a:rPr lang="en-US" sz="1000" dirty="0"/>
              <a:t>128 reg</a:t>
            </a:r>
            <a:endParaRPr lang="en-US" sz="500" dirty="0"/>
          </a:p>
        </p:txBody>
      </p:sp>
      <p:cxnSp>
        <p:nvCxnSpPr>
          <p:cNvPr id="21" name="Straight Connector 20">
            <a:extLst>
              <a:ext uri="{FF2B5EF4-FFF2-40B4-BE49-F238E27FC236}">
                <a16:creationId xmlns:a16="http://schemas.microsoft.com/office/drawing/2014/main" id="{5B848212-F143-8764-65E6-13B774F41ED4}"/>
              </a:ext>
            </a:extLst>
          </p:cNvPr>
          <p:cNvCxnSpPr>
            <a:cxnSpLocks/>
          </p:cNvCxnSpPr>
          <p:nvPr/>
        </p:nvCxnSpPr>
        <p:spPr>
          <a:xfrm>
            <a:off x="2630012" y="3784773"/>
            <a:ext cx="0" cy="1349575"/>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47256655-3200-1C7E-6221-ED427DE01EDF}"/>
              </a:ext>
            </a:extLst>
          </p:cNvPr>
          <p:cNvSpPr txBox="1"/>
          <p:nvPr/>
        </p:nvSpPr>
        <p:spPr>
          <a:xfrm>
            <a:off x="3093436" y="1085269"/>
            <a:ext cx="447558" cy="369332"/>
          </a:xfrm>
          <a:prstGeom prst="rect">
            <a:avLst/>
          </a:prstGeom>
          <a:noFill/>
        </p:spPr>
        <p:txBody>
          <a:bodyPr wrap="none" rtlCol="0">
            <a:spAutoFit/>
          </a:bodyPr>
          <a:lstStyle/>
          <a:p>
            <a:r>
              <a:rPr lang="en-US" dirty="0"/>
              <a:t>R0</a:t>
            </a:r>
          </a:p>
        </p:txBody>
      </p:sp>
      <p:sp>
        <p:nvSpPr>
          <p:cNvPr id="31" name="TextBox 30">
            <a:extLst>
              <a:ext uri="{FF2B5EF4-FFF2-40B4-BE49-F238E27FC236}">
                <a16:creationId xmlns:a16="http://schemas.microsoft.com/office/drawing/2014/main" id="{2BC9353C-EB54-9F39-8F84-3992D4871E38}"/>
              </a:ext>
            </a:extLst>
          </p:cNvPr>
          <p:cNvSpPr txBox="1"/>
          <p:nvPr/>
        </p:nvSpPr>
        <p:spPr>
          <a:xfrm>
            <a:off x="3096355" y="2406743"/>
            <a:ext cx="447558" cy="369332"/>
          </a:xfrm>
          <a:prstGeom prst="rect">
            <a:avLst/>
          </a:prstGeom>
          <a:noFill/>
        </p:spPr>
        <p:txBody>
          <a:bodyPr wrap="none" rtlCol="0">
            <a:spAutoFit/>
          </a:bodyPr>
          <a:lstStyle/>
          <a:p>
            <a:r>
              <a:rPr lang="en-US" dirty="0"/>
              <a:t>R1</a:t>
            </a:r>
          </a:p>
        </p:txBody>
      </p:sp>
      <p:sp>
        <p:nvSpPr>
          <p:cNvPr id="32" name="TextBox 31">
            <a:extLst>
              <a:ext uri="{FF2B5EF4-FFF2-40B4-BE49-F238E27FC236}">
                <a16:creationId xmlns:a16="http://schemas.microsoft.com/office/drawing/2014/main" id="{77D93EAB-84EE-15B5-B204-8F9FFD1B9B92}"/>
              </a:ext>
            </a:extLst>
          </p:cNvPr>
          <p:cNvSpPr txBox="1"/>
          <p:nvPr/>
        </p:nvSpPr>
        <p:spPr>
          <a:xfrm>
            <a:off x="3127723" y="5322703"/>
            <a:ext cx="570990" cy="369332"/>
          </a:xfrm>
          <a:prstGeom prst="rect">
            <a:avLst/>
          </a:prstGeom>
          <a:noFill/>
        </p:spPr>
        <p:txBody>
          <a:bodyPr wrap="none" rtlCol="0">
            <a:spAutoFit/>
          </a:bodyPr>
          <a:lstStyle/>
          <a:p>
            <a:r>
              <a:rPr lang="en-US" dirty="0"/>
              <a:t>R10</a:t>
            </a:r>
          </a:p>
        </p:txBody>
      </p:sp>
      <p:sp>
        <p:nvSpPr>
          <p:cNvPr id="34" name="Rectangle 33">
            <a:hlinkClick r:id="rId2" action="ppaction://hlinksldjump"/>
            <a:extLst>
              <a:ext uri="{FF2B5EF4-FFF2-40B4-BE49-F238E27FC236}">
                <a16:creationId xmlns:a16="http://schemas.microsoft.com/office/drawing/2014/main" id="{48EEB4C4-1C55-42BC-917C-9251CA59C8E0}"/>
              </a:ext>
            </a:extLst>
          </p:cNvPr>
          <p:cNvSpPr/>
          <p:nvPr/>
        </p:nvSpPr>
        <p:spPr>
          <a:xfrm>
            <a:off x="7636351" y="1055623"/>
            <a:ext cx="2185034" cy="2185034"/>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69E86935-EE43-C374-BF84-218340338EDC}"/>
              </a:ext>
            </a:extLst>
          </p:cNvPr>
          <p:cNvSpPr txBox="1"/>
          <p:nvPr/>
        </p:nvSpPr>
        <p:spPr>
          <a:xfrm>
            <a:off x="7931708" y="2004796"/>
            <a:ext cx="1587101" cy="369332"/>
          </a:xfrm>
          <a:prstGeom prst="rect">
            <a:avLst/>
          </a:prstGeom>
          <a:noFill/>
        </p:spPr>
        <p:txBody>
          <a:bodyPr wrap="none" rtlCol="0">
            <a:spAutoFit/>
          </a:bodyPr>
          <a:lstStyle/>
          <a:p>
            <a:r>
              <a:rPr lang="en-US" dirty="0"/>
              <a:t>Key Generator</a:t>
            </a:r>
          </a:p>
        </p:txBody>
      </p:sp>
      <p:cxnSp>
        <p:nvCxnSpPr>
          <p:cNvPr id="89" name="Straight Arrow Connector 88">
            <a:extLst>
              <a:ext uri="{FF2B5EF4-FFF2-40B4-BE49-F238E27FC236}">
                <a16:creationId xmlns:a16="http://schemas.microsoft.com/office/drawing/2014/main" id="{7EF6F21E-1205-0F7D-4EE2-EF29D72C0070}"/>
              </a:ext>
            </a:extLst>
          </p:cNvPr>
          <p:cNvCxnSpPr>
            <a:cxnSpLocks/>
            <a:endCxn id="12" idx="0"/>
          </p:cNvCxnSpPr>
          <p:nvPr/>
        </p:nvCxnSpPr>
        <p:spPr>
          <a:xfrm>
            <a:off x="2648447" y="705849"/>
            <a:ext cx="0" cy="33382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1ABA38BD-F24D-CFE4-DCA2-3A6DF0B25CF1}"/>
              </a:ext>
            </a:extLst>
          </p:cNvPr>
          <p:cNvCxnSpPr/>
          <p:nvPr/>
        </p:nvCxnSpPr>
        <p:spPr>
          <a:xfrm>
            <a:off x="2630012" y="5686916"/>
            <a:ext cx="1" cy="32715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1" name="TextBox 90">
            <a:extLst>
              <a:ext uri="{FF2B5EF4-FFF2-40B4-BE49-F238E27FC236}">
                <a16:creationId xmlns:a16="http://schemas.microsoft.com/office/drawing/2014/main" id="{6BC2525F-9AF3-F3F5-1A0B-D6556EC2A8A8}"/>
              </a:ext>
            </a:extLst>
          </p:cNvPr>
          <p:cNvSpPr txBox="1"/>
          <p:nvPr/>
        </p:nvSpPr>
        <p:spPr>
          <a:xfrm>
            <a:off x="2436209" y="348516"/>
            <a:ext cx="424475" cy="369332"/>
          </a:xfrm>
          <a:prstGeom prst="rect">
            <a:avLst/>
          </a:prstGeom>
          <a:noFill/>
        </p:spPr>
        <p:txBody>
          <a:bodyPr wrap="none" rtlCol="0">
            <a:spAutoFit/>
          </a:bodyPr>
          <a:lstStyle/>
          <a:p>
            <a:r>
              <a:rPr lang="en-US" dirty="0"/>
              <a:t>PT</a:t>
            </a:r>
          </a:p>
        </p:txBody>
      </p:sp>
      <p:sp>
        <p:nvSpPr>
          <p:cNvPr id="92" name="TextBox 91">
            <a:extLst>
              <a:ext uri="{FF2B5EF4-FFF2-40B4-BE49-F238E27FC236}">
                <a16:creationId xmlns:a16="http://schemas.microsoft.com/office/drawing/2014/main" id="{9DD41AE7-F8D4-1CAA-C398-2164BD8920CF}"/>
              </a:ext>
            </a:extLst>
          </p:cNvPr>
          <p:cNvSpPr txBox="1"/>
          <p:nvPr/>
        </p:nvSpPr>
        <p:spPr>
          <a:xfrm>
            <a:off x="2399234" y="6025378"/>
            <a:ext cx="451149" cy="369332"/>
          </a:xfrm>
          <a:prstGeom prst="rect">
            <a:avLst/>
          </a:prstGeom>
          <a:noFill/>
        </p:spPr>
        <p:txBody>
          <a:bodyPr wrap="none" rtlCol="0">
            <a:spAutoFit/>
          </a:bodyPr>
          <a:lstStyle/>
          <a:p>
            <a:r>
              <a:rPr lang="en-US" dirty="0"/>
              <a:t>CT</a:t>
            </a:r>
          </a:p>
        </p:txBody>
      </p:sp>
      <p:cxnSp>
        <p:nvCxnSpPr>
          <p:cNvPr id="96" name="Straight Arrow Connector 95">
            <a:extLst>
              <a:ext uri="{FF2B5EF4-FFF2-40B4-BE49-F238E27FC236}">
                <a16:creationId xmlns:a16="http://schemas.microsoft.com/office/drawing/2014/main" id="{4347F00A-9E57-E54B-8D7B-D88235BB4DB4}"/>
              </a:ext>
            </a:extLst>
          </p:cNvPr>
          <p:cNvCxnSpPr>
            <a:cxnSpLocks/>
          </p:cNvCxnSpPr>
          <p:nvPr/>
        </p:nvCxnSpPr>
        <p:spPr>
          <a:xfrm flipH="1">
            <a:off x="7178040" y="2160157"/>
            <a:ext cx="458311"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1084C88A-2B67-B948-F281-AD7E87EF63C1}"/>
              </a:ext>
            </a:extLst>
          </p:cNvPr>
          <p:cNvSpPr/>
          <p:nvPr/>
        </p:nvSpPr>
        <p:spPr>
          <a:xfrm>
            <a:off x="3848030" y="1968237"/>
            <a:ext cx="3236984"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EB0D306-3BC9-52A9-6742-DB5C6541A81B}"/>
              </a:ext>
            </a:extLst>
          </p:cNvPr>
          <p:cNvSpPr/>
          <p:nvPr/>
        </p:nvSpPr>
        <p:spPr>
          <a:xfrm>
            <a:off x="3848030" y="1968237"/>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5678BC1-E8BE-960E-5342-6EE174BA391C}"/>
              </a:ext>
            </a:extLst>
          </p:cNvPr>
          <p:cNvSpPr/>
          <p:nvPr/>
        </p:nvSpPr>
        <p:spPr>
          <a:xfrm>
            <a:off x="4143226" y="1968235"/>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5077E07-C35B-FC60-24B8-E911027E0B9D}"/>
              </a:ext>
            </a:extLst>
          </p:cNvPr>
          <p:cNvSpPr/>
          <p:nvPr/>
        </p:nvSpPr>
        <p:spPr>
          <a:xfrm>
            <a:off x="4436996" y="1968237"/>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4567711-AB36-169B-B8DB-A778DE183FA9}"/>
              </a:ext>
            </a:extLst>
          </p:cNvPr>
          <p:cNvSpPr/>
          <p:nvPr/>
        </p:nvSpPr>
        <p:spPr>
          <a:xfrm>
            <a:off x="4730363" y="1968235"/>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D1C5AC06-D0C1-5323-30BD-8F2E26BE5DA8}"/>
              </a:ext>
            </a:extLst>
          </p:cNvPr>
          <p:cNvSpPr/>
          <p:nvPr/>
        </p:nvSpPr>
        <p:spPr>
          <a:xfrm>
            <a:off x="5025560" y="1968233"/>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A8EC194E-7DBA-30F8-9D36-5367087D072A}"/>
              </a:ext>
            </a:extLst>
          </p:cNvPr>
          <p:cNvSpPr/>
          <p:nvPr/>
        </p:nvSpPr>
        <p:spPr>
          <a:xfrm>
            <a:off x="5319328" y="1968235"/>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53C0BDCF-823A-45E3-F1C7-F74E350F8B94}"/>
              </a:ext>
            </a:extLst>
          </p:cNvPr>
          <p:cNvSpPr/>
          <p:nvPr/>
        </p:nvSpPr>
        <p:spPr>
          <a:xfrm>
            <a:off x="5617134" y="1968594"/>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FA878C8E-AD1A-A90D-A227-8C4CE24371EA}"/>
              </a:ext>
            </a:extLst>
          </p:cNvPr>
          <p:cNvSpPr/>
          <p:nvPr/>
        </p:nvSpPr>
        <p:spPr>
          <a:xfrm>
            <a:off x="5909312" y="1968596"/>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CBEEF9A8-4FD5-9CD8-35F4-43EB92E98F67}"/>
              </a:ext>
            </a:extLst>
          </p:cNvPr>
          <p:cNvSpPr/>
          <p:nvPr/>
        </p:nvSpPr>
        <p:spPr>
          <a:xfrm>
            <a:off x="6202679" y="1968594"/>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F1BAAD1C-6561-25CA-4C1C-EA2295501746}"/>
              </a:ext>
            </a:extLst>
          </p:cNvPr>
          <p:cNvSpPr/>
          <p:nvPr/>
        </p:nvSpPr>
        <p:spPr>
          <a:xfrm>
            <a:off x="6496289" y="1968592"/>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81752283-14AB-B518-9680-D542CD05C3CE}"/>
              </a:ext>
            </a:extLst>
          </p:cNvPr>
          <p:cNvSpPr/>
          <p:nvPr/>
        </p:nvSpPr>
        <p:spPr>
          <a:xfrm>
            <a:off x="6791646" y="1968594"/>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8D49C5D2-284E-5BB8-3709-617E8ED5C23D}"/>
              </a:ext>
            </a:extLst>
          </p:cNvPr>
          <p:cNvSpPr txBox="1"/>
          <p:nvPr/>
        </p:nvSpPr>
        <p:spPr>
          <a:xfrm>
            <a:off x="4083431" y="1469245"/>
            <a:ext cx="2493631" cy="369332"/>
          </a:xfrm>
          <a:prstGeom prst="rect">
            <a:avLst/>
          </a:prstGeom>
          <a:noFill/>
        </p:spPr>
        <p:txBody>
          <a:bodyPr wrap="none" rtlCol="0">
            <a:spAutoFit/>
          </a:bodyPr>
          <a:lstStyle/>
          <a:p>
            <a:r>
              <a:rPr lang="en-US" dirty="0"/>
              <a:t>1408-bit register “keys”</a:t>
            </a:r>
          </a:p>
        </p:txBody>
      </p:sp>
      <p:sp>
        <p:nvSpPr>
          <p:cNvPr id="48" name="TextBox 47">
            <a:extLst>
              <a:ext uri="{FF2B5EF4-FFF2-40B4-BE49-F238E27FC236}">
                <a16:creationId xmlns:a16="http://schemas.microsoft.com/office/drawing/2014/main" id="{E700403A-9FDA-9166-261F-8B24C057FD39}"/>
              </a:ext>
            </a:extLst>
          </p:cNvPr>
          <p:cNvSpPr txBox="1"/>
          <p:nvPr/>
        </p:nvSpPr>
        <p:spPr>
          <a:xfrm>
            <a:off x="3794142" y="2055587"/>
            <a:ext cx="435478" cy="253916"/>
          </a:xfrm>
          <a:prstGeom prst="rect">
            <a:avLst/>
          </a:prstGeom>
          <a:noFill/>
        </p:spPr>
        <p:txBody>
          <a:bodyPr wrap="square" rtlCol="0">
            <a:spAutoFit/>
          </a:bodyPr>
          <a:lstStyle/>
          <a:p>
            <a:r>
              <a:rPr lang="en-US" sz="1050" dirty="0"/>
              <a:t>k10</a:t>
            </a:r>
          </a:p>
        </p:txBody>
      </p:sp>
      <p:sp>
        <p:nvSpPr>
          <p:cNvPr id="49" name="TextBox 48">
            <a:extLst>
              <a:ext uri="{FF2B5EF4-FFF2-40B4-BE49-F238E27FC236}">
                <a16:creationId xmlns:a16="http://schemas.microsoft.com/office/drawing/2014/main" id="{1C1B779F-95D9-5893-13BA-26DF653190F9}"/>
              </a:ext>
            </a:extLst>
          </p:cNvPr>
          <p:cNvSpPr txBox="1"/>
          <p:nvPr/>
        </p:nvSpPr>
        <p:spPr>
          <a:xfrm>
            <a:off x="6478309" y="2055587"/>
            <a:ext cx="435478" cy="253916"/>
          </a:xfrm>
          <a:prstGeom prst="rect">
            <a:avLst/>
          </a:prstGeom>
          <a:noFill/>
        </p:spPr>
        <p:txBody>
          <a:bodyPr wrap="square" rtlCol="0">
            <a:spAutoFit/>
          </a:bodyPr>
          <a:lstStyle/>
          <a:p>
            <a:r>
              <a:rPr lang="en-US" sz="1050" dirty="0"/>
              <a:t>k1</a:t>
            </a:r>
          </a:p>
        </p:txBody>
      </p:sp>
      <p:sp>
        <p:nvSpPr>
          <p:cNvPr id="51" name="TextBox 50">
            <a:extLst>
              <a:ext uri="{FF2B5EF4-FFF2-40B4-BE49-F238E27FC236}">
                <a16:creationId xmlns:a16="http://schemas.microsoft.com/office/drawing/2014/main" id="{65E1381B-8D42-1395-CC98-D026BD6C3403}"/>
              </a:ext>
            </a:extLst>
          </p:cNvPr>
          <p:cNvSpPr txBox="1"/>
          <p:nvPr/>
        </p:nvSpPr>
        <p:spPr>
          <a:xfrm>
            <a:off x="6765223" y="2056907"/>
            <a:ext cx="435478" cy="253916"/>
          </a:xfrm>
          <a:prstGeom prst="rect">
            <a:avLst/>
          </a:prstGeom>
          <a:noFill/>
        </p:spPr>
        <p:txBody>
          <a:bodyPr wrap="square" rtlCol="0">
            <a:spAutoFit/>
          </a:bodyPr>
          <a:lstStyle/>
          <a:p>
            <a:r>
              <a:rPr lang="en-US" sz="1050" dirty="0"/>
              <a:t>k0</a:t>
            </a:r>
          </a:p>
        </p:txBody>
      </p:sp>
      <p:cxnSp>
        <p:nvCxnSpPr>
          <p:cNvPr id="52" name="Straight Arrow Connector 51">
            <a:extLst>
              <a:ext uri="{FF2B5EF4-FFF2-40B4-BE49-F238E27FC236}">
                <a16:creationId xmlns:a16="http://schemas.microsoft.com/office/drawing/2014/main" id="{B0BF4F41-9057-B353-1AC1-B95AECDDD76D}"/>
              </a:ext>
            </a:extLst>
          </p:cNvPr>
          <p:cNvCxnSpPr>
            <a:cxnSpLocks/>
          </p:cNvCxnSpPr>
          <p:nvPr/>
        </p:nvCxnSpPr>
        <p:spPr>
          <a:xfrm>
            <a:off x="3994713" y="2396853"/>
            <a:ext cx="0" cy="309539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D2E3DB8A-BADC-085F-4D2C-9FA6AC2871A6}"/>
              </a:ext>
            </a:extLst>
          </p:cNvPr>
          <p:cNvCxnSpPr>
            <a:cxnSpLocks/>
            <a:endCxn id="4" idx="3"/>
          </p:cNvCxnSpPr>
          <p:nvPr/>
        </p:nvCxnSpPr>
        <p:spPr>
          <a:xfrm flipH="1">
            <a:off x="3664429" y="1269936"/>
            <a:ext cx="3263305"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71EFE693-4337-0FA8-0FB7-6B429F1ED889}"/>
              </a:ext>
            </a:extLst>
          </p:cNvPr>
          <p:cNvCxnSpPr>
            <a:cxnSpLocks/>
          </p:cNvCxnSpPr>
          <p:nvPr/>
        </p:nvCxnSpPr>
        <p:spPr>
          <a:xfrm>
            <a:off x="6639887" y="2396853"/>
            <a:ext cx="0" cy="2530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CF1B15E9-9041-93F5-1621-0CA6C7E560AA}"/>
              </a:ext>
            </a:extLst>
          </p:cNvPr>
          <p:cNvCxnSpPr>
            <a:cxnSpLocks/>
          </p:cNvCxnSpPr>
          <p:nvPr/>
        </p:nvCxnSpPr>
        <p:spPr>
          <a:xfrm flipH="1">
            <a:off x="3670782" y="2594281"/>
            <a:ext cx="2969105"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CFD2A02E-3B41-257F-05E6-87A3A23714B2}"/>
              </a:ext>
            </a:extLst>
          </p:cNvPr>
          <p:cNvCxnSpPr>
            <a:cxnSpLocks/>
          </p:cNvCxnSpPr>
          <p:nvPr/>
        </p:nvCxnSpPr>
        <p:spPr>
          <a:xfrm flipH="1">
            <a:off x="3685149" y="5460340"/>
            <a:ext cx="309564"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06468656-2F37-CC23-B10C-0BC68FDD18FC}"/>
              </a:ext>
            </a:extLst>
          </p:cNvPr>
          <p:cNvCxnSpPr>
            <a:cxnSpLocks/>
          </p:cNvCxnSpPr>
          <p:nvPr/>
        </p:nvCxnSpPr>
        <p:spPr>
          <a:xfrm flipH="1" flipV="1">
            <a:off x="6927734" y="1224595"/>
            <a:ext cx="7924" cy="75283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8AF6E101-2307-33DC-4C45-88C40A2559B2}"/>
              </a:ext>
            </a:extLst>
          </p:cNvPr>
          <p:cNvCxnSpPr>
            <a:cxnSpLocks/>
          </p:cNvCxnSpPr>
          <p:nvPr/>
        </p:nvCxnSpPr>
        <p:spPr>
          <a:xfrm>
            <a:off x="1825498" y="698009"/>
            <a:ext cx="0" cy="32880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22E6835A-FCBD-D1E4-B612-0F0D93A9A56F}"/>
              </a:ext>
            </a:extLst>
          </p:cNvPr>
          <p:cNvSpPr txBox="1"/>
          <p:nvPr/>
        </p:nvSpPr>
        <p:spPr>
          <a:xfrm>
            <a:off x="1497908" y="292065"/>
            <a:ext cx="655179" cy="369332"/>
          </a:xfrm>
          <a:prstGeom prst="rect">
            <a:avLst/>
          </a:prstGeom>
          <a:noFill/>
        </p:spPr>
        <p:txBody>
          <a:bodyPr wrap="none" rtlCol="0">
            <a:spAutoFit/>
          </a:bodyPr>
          <a:lstStyle/>
          <a:p>
            <a:r>
              <a:rPr lang="en-US" dirty="0"/>
              <a:t>valid</a:t>
            </a:r>
          </a:p>
        </p:txBody>
      </p:sp>
      <p:cxnSp>
        <p:nvCxnSpPr>
          <p:cNvPr id="59" name="Straight Arrow Connector 58">
            <a:extLst>
              <a:ext uri="{FF2B5EF4-FFF2-40B4-BE49-F238E27FC236}">
                <a16:creationId xmlns:a16="http://schemas.microsoft.com/office/drawing/2014/main" id="{FF9A0206-13F3-54A8-BEC1-51E502651241}"/>
              </a:ext>
            </a:extLst>
          </p:cNvPr>
          <p:cNvCxnSpPr>
            <a:cxnSpLocks/>
          </p:cNvCxnSpPr>
          <p:nvPr/>
        </p:nvCxnSpPr>
        <p:spPr>
          <a:xfrm>
            <a:off x="1812165" y="1595501"/>
            <a:ext cx="0" cy="71400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AC620C0A-74CB-1D1E-7DAC-5982563DBAE4}"/>
              </a:ext>
            </a:extLst>
          </p:cNvPr>
          <p:cNvCxnSpPr>
            <a:cxnSpLocks/>
          </p:cNvCxnSpPr>
          <p:nvPr/>
        </p:nvCxnSpPr>
        <p:spPr>
          <a:xfrm>
            <a:off x="1812165" y="2792983"/>
            <a:ext cx="0" cy="88011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DAD61030-EBEC-E0C4-411B-7CC9A310B2E8}"/>
              </a:ext>
            </a:extLst>
          </p:cNvPr>
          <p:cNvCxnSpPr>
            <a:cxnSpLocks/>
          </p:cNvCxnSpPr>
          <p:nvPr/>
        </p:nvCxnSpPr>
        <p:spPr>
          <a:xfrm>
            <a:off x="1791383" y="5696576"/>
            <a:ext cx="0" cy="32880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9FF4AEC0-C598-6E01-FFDB-0D9B30FBBFB5}"/>
              </a:ext>
            </a:extLst>
          </p:cNvPr>
          <p:cNvSpPr txBox="1"/>
          <p:nvPr/>
        </p:nvSpPr>
        <p:spPr>
          <a:xfrm>
            <a:off x="1463793" y="6026766"/>
            <a:ext cx="655179" cy="369332"/>
          </a:xfrm>
          <a:prstGeom prst="rect">
            <a:avLst/>
          </a:prstGeom>
          <a:noFill/>
        </p:spPr>
        <p:txBody>
          <a:bodyPr wrap="none" rtlCol="0">
            <a:spAutoFit/>
          </a:bodyPr>
          <a:lstStyle/>
          <a:p>
            <a:r>
              <a:rPr lang="en-US" dirty="0"/>
              <a:t>valid</a:t>
            </a:r>
          </a:p>
        </p:txBody>
      </p:sp>
      <p:cxnSp>
        <p:nvCxnSpPr>
          <p:cNvPr id="70" name="Straight Arrow Connector 69">
            <a:extLst>
              <a:ext uri="{FF2B5EF4-FFF2-40B4-BE49-F238E27FC236}">
                <a16:creationId xmlns:a16="http://schemas.microsoft.com/office/drawing/2014/main" id="{5BAC103F-D4D0-3017-5ECD-354685064C26}"/>
              </a:ext>
            </a:extLst>
          </p:cNvPr>
          <p:cNvCxnSpPr>
            <a:cxnSpLocks/>
          </p:cNvCxnSpPr>
          <p:nvPr/>
        </p:nvCxnSpPr>
        <p:spPr>
          <a:xfrm>
            <a:off x="8734298" y="698009"/>
            <a:ext cx="0" cy="32880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1" name="TextBox 70">
            <a:extLst>
              <a:ext uri="{FF2B5EF4-FFF2-40B4-BE49-F238E27FC236}">
                <a16:creationId xmlns:a16="http://schemas.microsoft.com/office/drawing/2014/main" id="{01732891-9F7C-79F3-8EFB-F817BA23CB08}"/>
              </a:ext>
            </a:extLst>
          </p:cNvPr>
          <p:cNvSpPr txBox="1"/>
          <p:nvPr/>
        </p:nvSpPr>
        <p:spPr>
          <a:xfrm>
            <a:off x="8517732" y="278095"/>
            <a:ext cx="433132" cy="369332"/>
          </a:xfrm>
          <a:prstGeom prst="rect">
            <a:avLst/>
          </a:prstGeom>
          <a:noFill/>
        </p:spPr>
        <p:txBody>
          <a:bodyPr wrap="none" rtlCol="0">
            <a:spAutoFit/>
          </a:bodyPr>
          <a:lstStyle/>
          <a:p>
            <a:r>
              <a:rPr lang="en-US" dirty="0"/>
              <a:t>en</a:t>
            </a:r>
          </a:p>
        </p:txBody>
      </p:sp>
      <p:cxnSp>
        <p:nvCxnSpPr>
          <p:cNvPr id="24" name="Straight Connector 23">
            <a:extLst>
              <a:ext uri="{FF2B5EF4-FFF2-40B4-BE49-F238E27FC236}">
                <a16:creationId xmlns:a16="http://schemas.microsoft.com/office/drawing/2014/main" id="{DFD17413-988A-3874-F0C1-E166EACD958C}"/>
              </a:ext>
            </a:extLst>
          </p:cNvPr>
          <p:cNvCxnSpPr>
            <a:cxnSpLocks/>
          </p:cNvCxnSpPr>
          <p:nvPr/>
        </p:nvCxnSpPr>
        <p:spPr>
          <a:xfrm>
            <a:off x="1814068" y="3773343"/>
            <a:ext cx="0" cy="1349575"/>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954969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bg2">
                <a:tint val="93000"/>
                <a:satMod val="150000"/>
                <a:shade val="98000"/>
                <a:lumMod val="102000"/>
              </a:schemeClr>
            </a:gs>
            <a:gs pos="50000">
              <a:schemeClr val="bg2">
                <a:tint val="98000"/>
                <a:satMod val="130000"/>
                <a:shade val="90000"/>
                <a:lumMod val="103000"/>
              </a:schemeClr>
            </a:gs>
            <a:gs pos="100000">
              <a:schemeClr val="bg2">
                <a:shade val="63000"/>
                <a:satMod val="120000"/>
              </a:schemeClr>
            </a:gs>
          </a:gsLst>
          <a:lin ang="5400000" scaled="0"/>
        </a:gradFill>
        <a:effectLst/>
      </p:bgPr>
    </p:bg>
    <p:spTree>
      <p:nvGrpSpPr>
        <p:cNvPr id="1" name="">
          <a:extLst>
            <a:ext uri="{FF2B5EF4-FFF2-40B4-BE49-F238E27FC236}">
              <a16:creationId xmlns:a16="http://schemas.microsoft.com/office/drawing/2014/main" id="{D6FB9E06-54B3-9AE3-C8FD-0ECEDCC057C4}"/>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9B3CC4EC-2C46-2EB9-47B1-AC89004A69FA}"/>
              </a:ext>
            </a:extLst>
          </p:cNvPr>
          <p:cNvSpPr/>
          <p:nvPr/>
        </p:nvSpPr>
        <p:spPr>
          <a:xfrm>
            <a:off x="1595599" y="5246028"/>
            <a:ext cx="2068830"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69F7B0F1-0679-05C5-2F50-81241AEF9F65}"/>
              </a:ext>
            </a:extLst>
          </p:cNvPr>
          <p:cNvGrpSpPr/>
          <p:nvPr/>
        </p:nvGrpSpPr>
        <p:grpSpPr>
          <a:xfrm>
            <a:off x="1595599" y="1039669"/>
            <a:ext cx="2068830" cy="2633424"/>
            <a:chOff x="1108710" y="588407"/>
            <a:chExt cx="2068830" cy="2633424"/>
          </a:xfrm>
        </p:grpSpPr>
        <p:sp>
          <p:nvSpPr>
            <p:cNvPr id="4" name="Rectangle 3">
              <a:extLst>
                <a:ext uri="{FF2B5EF4-FFF2-40B4-BE49-F238E27FC236}">
                  <a16:creationId xmlns:a16="http://schemas.microsoft.com/office/drawing/2014/main" id="{B73633CF-DCCF-7522-6E19-BE852A45405B}"/>
                </a:ext>
              </a:extLst>
            </p:cNvPr>
            <p:cNvSpPr/>
            <p:nvPr/>
          </p:nvSpPr>
          <p:spPr>
            <a:xfrm>
              <a:off x="1108710" y="604361"/>
              <a:ext cx="2068830"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F8B6FC91-98BE-8A34-BC9E-A96F8115347D}"/>
                </a:ext>
              </a:extLst>
            </p:cNvPr>
            <p:cNvCxnSpPr>
              <a:stCxn id="4" idx="2"/>
            </p:cNvCxnSpPr>
            <p:nvPr/>
          </p:nvCxnSpPr>
          <p:spPr>
            <a:xfrm>
              <a:off x="2143125" y="1032986"/>
              <a:ext cx="0" cy="88011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835650A8-45B7-D141-56B0-B6F61BF0EEAC}"/>
                </a:ext>
              </a:extLst>
            </p:cNvPr>
            <p:cNvSpPr/>
            <p:nvPr/>
          </p:nvSpPr>
          <p:spPr>
            <a:xfrm>
              <a:off x="1108710" y="1913096"/>
              <a:ext cx="2068830"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22834510-00E2-ADED-0D1D-89E6AD544D57}"/>
                </a:ext>
              </a:extLst>
            </p:cNvPr>
            <p:cNvCxnSpPr>
              <a:stCxn id="9" idx="2"/>
            </p:cNvCxnSpPr>
            <p:nvPr/>
          </p:nvCxnSpPr>
          <p:spPr>
            <a:xfrm>
              <a:off x="2143125" y="2341721"/>
              <a:ext cx="0" cy="88011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E24AF189-B67B-AB66-F498-2269E0982432}"/>
                </a:ext>
              </a:extLst>
            </p:cNvPr>
            <p:cNvSpPr/>
            <p:nvPr/>
          </p:nvSpPr>
          <p:spPr>
            <a:xfrm>
              <a:off x="1788797" y="818673"/>
              <a:ext cx="708655" cy="15240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A89D08F-4A63-3DEC-B6AA-AD3FCD45FF30}"/>
                </a:ext>
              </a:extLst>
            </p:cNvPr>
            <p:cNvSpPr txBox="1"/>
            <p:nvPr/>
          </p:nvSpPr>
          <p:spPr>
            <a:xfrm>
              <a:off x="1880872" y="588407"/>
              <a:ext cx="561372" cy="246221"/>
            </a:xfrm>
            <a:prstGeom prst="rect">
              <a:avLst/>
            </a:prstGeom>
            <a:noFill/>
          </p:spPr>
          <p:txBody>
            <a:bodyPr wrap="none" rtlCol="0">
              <a:spAutoFit/>
            </a:bodyPr>
            <a:lstStyle/>
            <a:p>
              <a:r>
                <a:rPr lang="en-US" sz="1000" dirty="0"/>
                <a:t>Comb.</a:t>
              </a:r>
              <a:endParaRPr lang="en-US" sz="500" dirty="0"/>
            </a:p>
          </p:txBody>
        </p:sp>
        <p:sp>
          <p:nvSpPr>
            <p:cNvPr id="13" name="TextBox 12">
              <a:extLst>
                <a:ext uri="{FF2B5EF4-FFF2-40B4-BE49-F238E27FC236}">
                  <a16:creationId xmlns:a16="http://schemas.microsoft.com/office/drawing/2014/main" id="{01002416-4B0C-03F5-E283-26B1D814CF30}"/>
                </a:ext>
              </a:extLst>
            </p:cNvPr>
            <p:cNvSpPr txBox="1"/>
            <p:nvPr/>
          </p:nvSpPr>
          <p:spPr>
            <a:xfrm>
              <a:off x="1848484" y="771762"/>
              <a:ext cx="590226" cy="246221"/>
            </a:xfrm>
            <a:prstGeom prst="rect">
              <a:avLst/>
            </a:prstGeom>
            <a:noFill/>
          </p:spPr>
          <p:txBody>
            <a:bodyPr wrap="none" rtlCol="0">
              <a:spAutoFit/>
            </a:bodyPr>
            <a:lstStyle/>
            <a:p>
              <a:r>
                <a:rPr lang="en-US" sz="1000" dirty="0"/>
                <a:t>128 reg</a:t>
              </a:r>
              <a:endParaRPr lang="en-US" sz="500" dirty="0"/>
            </a:p>
          </p:txBody>
        </p:sp>
        <p:sp>
          <p:nvSpPr>
            <p:cNvPr id="14" name="Rectangle 13">
              <a:extLst>
                <a:ext uri="{FF2B5EF4-FFF2-40B4-BE49-F238E27FC236}">
                  <a16:creationId xmlns:a16="http://schemas.microsoft.com/office/drawing/2014/main" id="{90769180-C8E3-4567-E263-F1F97B0C76BE}"/>
                </a:ext>
              </a:extLst>
            </p:cNvPr>
            <p:cNvSpPr/>
            <p:nvPr/>
          </p:nvSpPr>
          <p:spPr>
            <a:xfrm>
              <a:off x="1788797" y="2122407"/>
              <a:ext cx="708655" cy="15240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E8C90F7-10DC-535E-5D2E-9DBB7EA6A21B}"/>
                </a:ext>
              </a:extLst>
            </p:cNvPr>
            <p:cNvSpPr txBox="1"/>
            <p:nvPr/>
          </p:nvSpPr>
          <p:spPr>
            <a:xfrm>
              <a:off x="1880872" y="1892141"/>
              <a:ext cx="561372" cy="246221"/>
            </a:xfrm>
            <a:prstGeom prst="rect">
              <a:avLst/>
            </a:prstGeom>
            <a:noFill/>
          </p:spPr>
          <p:txBody>
            <a:bodyPr wrap="none" rtlCol="0">
              <a:spAutoFit/>
            </a:bodyPr>
            <a:lstStyle/>
            <a:p>
              <a:r>
                <a:rPr lang="en-US" sz="1000" dirty="0"/>
                <a:t>Comb.</a:t>
              </a:r>
              <a:endParaRPr lang="en-US" sz="500" dirty="0"/>
            </a:p>
          </p:txBody>
        </p:sp>
        <p:sp>
          <p:nvSpPr>
            <p:cNvPr id="16" name="TextBox 15">
              <a:extLst>
                <a:ext uri="{FF2B5EF4-FFF2-40B4-BE49-F238E27FC236}">
                  <a16:creationId xmlns:a16="http://schemas.microsoft.com/office/drawing/2014/main" id="{736C07D3-23E9-6BE3-40FA-542962F0E692}"/>
                </a:ext>
              </a:extLst>
            </p:cNvPr>
            <p:cNvSpPr txBox="1"/>
            <p:nvPr/>
          </p:nvSpPr>
          <p:spPr>
            <a:xfrm>
              <a:off x="1848484" y="2075496"/>
              <a:ext cx="590226" cy="246221"/>
            </a:xfrm>
            <a:prstGeom prst="rect">
              <a:avLst/>
            </a:prstGeom>
            <a:noFill/>
          </p:spPr>
          <p:txBody>
            <a:bodyPr wrap="none" rtlCol="0">
              <a:spAutoFit/>
            </a:bodyPr>
            <a:lstStyle/>
            <a:p>
              <a:r>
                <a:rPr lang="en-US" sz="1000" dirty="0"/>
                <a:t>128 reg</a:t>
              </a:r>
              <a:endParaRPr lang="en-US" sz="500" dirty="0"/>
            </a:p>
          </p:txBody>
        </p:sp>
      </p:grpSp>
      <p:sp>
        <p:nvSpPr>
          <p:cNvPr id="17" name="Rectangle 16">
            <a:extLst>
              <a:ext uri="{FF2B5EF4-FFF2-40B4-BE49-F238E27FC236}">
                <a16:creationId xmlns:a16="http://schemas.microsoft.com/office/drawing/2014/main" id="{32A26E5F-D978-C04C-2911-CFB00FEA7E83}"/>
              </a:ext>
            </a:extLst>
          </p:cNvPr>
          <p:cNvSpPr/>
          <p:nvPr/>
        </p:nvSpPr>
        <p:spPr>
          <a:xfrm>
            <a:off x="2275686" y="5476294"/>
            <a:ext cx="708655" cy="15240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4412B500-C2DC-CDE6-0552-18E616DE91F4}"/>
              </a:ext>
            </a:extLst>
          </p:cNvPr>
          <p:cNvSpPr txBox="1"/>
          <p:nvPr/>
        </p:nvSpPr>
        <p:spPr>
          <a:xfrm>
            <a:off x="2367761" y="5246028"/>
            <a:ext cx="561372" cy="246221"/>
          </a:xfrm>
          <a:prstGeom prst="rect">
            <a:avLst/>
          </a:prstGeom>
          <a:noFill/>
        </p:spPr>
        <p:txBody>
          <a:bodyPr wrap="none" rtlCol="0">
            <a:spAutoFit/>
          </a:bodyPr>
          <a:lstStyle/>
          <a:p>
            <a:r>
              <a:rPr lang="en-US" sz="1000" dirty="0"/>
              <a:t>Comb.</a:t>
            </a:r>
            <a:endParaRPr lang="en-US" sz="500" dirty="0"/>
          </a:p>
        </p:txBody>
      </p:sp>
      <p:sp>
        <p:nvSpPr>
          <p:cNvPr id="19" name="TextBox 18">
            <a:extLst>
              <a:ext uri="{FF2B5EF4-FFF2-40B4-BE49-F238E27FC236}">
                <a16:creationId xmlns:a16="http://schemas.microsoft.com/office/drawing/2014/main" id="{C0CDAD5D-FF0B-803E-7E0A-D814BCDD7740}"/>
              </a:ext>
            </a:extLst>
          </p:cNvPr>
          <p:cNvSpPr txBox="1"/>
          <p:nvPr/>
        </p:nvSpPr>
        <p:spPr>
          <a:xfrm>
            <a:off x="2335373" y="5429383"/>
            <a:ext cx="590226" cy="246221"/>
          </a:xfrm>
          <a:prstGeom prst="rect">
            <a:avLst/>
          </a:prstGeom>
          <a:noFill/>
        </p:spPr>
        <p:txBody>
          <a:bodyPr wrap="none" rtlCol="0">
            <a:spAutoFit/>
          </a:bodyPr>
          <a:lstStyle/>
          <a:p>
            <a:r>
              <a:rPr lang="en-US" sz="1000" dirty="0"/>
              <a:t>128 reg</a:t>
            </a:r>
            <a:endParaRPr lang="en-US" sz="500" dirty="0"/>
          </a:p>
        </p:txBody>
      </p:sp>
      <p:cxnSp>
        <p:nvCxnSpPr>
          <p:cNvPr id="21" name="Straight Connector 20">
            <a:extLst>
              <a:ext uri="{FF2B5EF4-FFF2-40B4-BE49-F238E27FC236}">
                <a16:creationId xmlns:a16="http://schemas.microsoft.com/office/drawing/2014/main" id="{62C62584-33A4-D7E4-DCDC-CD91EE51F563}"/>
              </a:ext>
            </a:extLst>
          </p:cNvPr>
          <p:cNvCxnSpPr>
            <a:cxnSpLocks/>
          </p:cNvCxnSpPr>
          <p:nvPr/>
        </p:nvCxnSpPr>
        <p:spPr>
          <a:xfrm>
            <a:off x="2630012" y="3784773"/>
            <a:ext cx="0" cy="1349575"/>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6BAA7050-AA97-9113-053D-F878D526EDDC}"/>
              </a:ext>
            </a:extLst>
          </p:cNvPr>
          <p:cNvSpPr txBox="1"/>
          <p:nvPr/>
        </p:nvSpPr>
        <p:spPr>
          <a:xfrm>
            <a:off x="3093436" y="1085269"/>
            <a:ext cx="570990" cy="369332"/>
          </a:xfrm>
          <a:prstGeom prst="rect">
            <a:avLst/>
          </a:prstGeom>
          <a:noFill/>
        </p:spPr>
        <p:txBody>
          <a:bodyPr wrap="none" rtlCol="0">
            <a:spAutoFit/>
          </a:bodyPr>
          <a:lstStyle/>
          <a:p>
            <a:r>
              <a:rPr lang="en-US" dirty="0"/>
              <a:t>R10</a:t>
            </a:r>
          </a:p>
        </p:txBody>
      </p:sp>
      <p:sp>
        <p:nvSpPr>
          <p:cNvPr id="31" name="TextBox 30">
            <a:extLst>
              <a:ext uri="{FF2B5EF4-FFF2-40B4-BE49-F238E27FC236}">
                <a16:creationId xmlns:a16="http://schemas.microsoft.com/office/drawing/2014/main" id="{89311A7F-08DB-830D-16AE-1261B86D13D8}"/>
              </a:ext>
            </a:extLst>
          </p:cNvPr>
          <p:cNvSpPr txBox="1"/>
          <p:nvPr/>
        </p:nvSpPr>
        <p:spPr>
          <a:xfrm>
            <a:off x="3096355" y="2406743"/>
            <a:ext cx="447558" cy="369332"/>
          </a:xfrm>
          <a:prstGeom prst="rect">
            <a:avLst/>
          </a:prstGeom>
          <a:noFill/>
        </p:spPr>
        <p:txBody>
          <a:bodyPr wrap="none" rtlCol="0">
            <a:spAutoFit/>
          </a:bodyPr>
          <a:lstStyle/>
          <a:p>
            <a:r>
              <a:rPr lang="en-US" dirty="0"/>
              <a:t>R9</a:t>
            </a:r>
          </a:p>
        </p:txBody>
      </p:sp>
      <p:sp>
        <p:nvSpPr>
          <p:cNvPr id="32" name="TextBox 31">
            <a:extLst>
              <a:ext uri="{FF2B5EF4-FFF2-40B4-BE49-F238E27FC236}">
                <a16:creationId xmlns:a16="http://schemas.microsoft.com/office/drawing/2014/main" id="{DD8991C4-D48B-65FE-2469-562B62863011}"/>
              </a:ext>
            </a:extLst>
          </p:cNvPr>
          <p:cNvSpPr txBox="1"/>
          <p:nvPr/>
        </p:nvSpPr>
        <p:spPr>
          <a:xfrm>
            <a:off x="3127723" y="5322703"/>
            <a:ext cx="447558" cy="369332"/>
          </a:xfrm>
          <a:prstGeom prst="rect">
            <a:avLst/>
          </a:prstGeom>
          <a:noFill/>
        </p:spPr>
        <p:txBody>
          <a:bodyPr wrap="none" rtlCol="0">
            <a:spAutoFit/>
          </a:bodyPr>
          <a:lstStyle/>
          <a:p>
            <a:r>
              <a:rPr lang="en-US" dirty="0"/>
              <a:t>R0</a:t>
            </a:r>
          </a:p>
        </p:txBody>
      </p:sp>
      <p:sp>
        <p:nvSpPr>
          <p:cNvPr id="34" name="Rectangle 33">
            <a:hlinkClick r:id="rId2" action="ppaction://hlinksldjump"/>
            <a:extLst>
              <a:ext uri="{FF2B5EF4-FFF2-40B4-BE49-F238E27FC236}">
                <a16:creationId xmlns:a16="http://schemas.microsoft.com/office/drawing/2014/main" id="{BB85392B-AD83-8FFC-AF2D-C8AABFEABAC0}"/>
              </a:ext>
            </a:extLst>
          </p:cNvPr>
          <p:cNvSpPr/>
          <p:nvPr/>
        </p:nvSpPr>
        <p:spPr>
          <a:xfrm>
            <a:off x="7636351" y="1055623"/>
            <a:ext cx="2185034" cy="2185034"/>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5EA2AB6F-5944-D32F-8CA5-47D9F633AD52}"/>
              </a:ext>
            </a:extLst>
          </p:cNvPr>
          <p:cNvSpPr txBox="1"/>
          <p:nvPr/>
        </p:nvSpPr>
        <p:spPr>
          <a:xfrm>
            <a:off x="7935317" y="1997879"/>
            <a:ext cx="1587101" cy="369332"/>
          </a:xfrm>
          <a:prstGeom prst="rect">
            <a:avLst/>
          </a:prstGeom>
          <a:noFill/>
        </p:spPr>
        <p:txBody>
          <a:bodyPr wrap="none" rtlCol="0">
            <a:spAutoFit/>
          </a:bodyPr>
          <a:lstStyle/>
          <a:p>
            <a:r>
              <a:rPr lang="en-US" dirty="0"/>
              <a:t>Key Generator</a:t>
            </a:r>
          </a:p>
        </p:txBody>
      </p:sp>
      <p:cxnSp>
        <p:nvCxnSpPr>
          <p:cNvPr id="89" name="Straight Arrow Connector 88">
            <a:extLst>
              <a:ext uri="{FF2B5EF4-FFF2-40B4-BE49-F238E27FC236}">
                <a16:creationId xmlns:a16="http://schemas.microsoft.com/office/drawing/2014/main" id="{48AEA08A-E97C-2916-BE5D-9FAB24F4C778}"/>
              </a:ext>
            </a:extLst>
          </p:cNvPr>
          <p:cNvCxnSpPr>
            <a:cxnSpLocks/>
            <a:stCxn id="91" idx="2"/>
            <a:endCxn id="12" idx="0"/>
          </p:cNvCxnSpPr>
          <p:nvPr/>
        </p:nvCxnSpPr>
        <p:spPr>
          <a:xfrm>
            <a:off x="2648447" y="723794"/>
            <a:ext cx="0" cy="31587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2DBC8157-6F3C-7662-1083-2242AEDF718F}"/>
              </a:ext>
            </a:extLst>
          </p:cNvPr>
          <p:cNvCxnSpPr/>
          <p:nvPr/>
        </p:nvCxnSpPr>
        <p:spPr>
          <a:xfrm>
            <a:off x="2630012" y="5686916"/>
            <a:ext cx="1" cy="32715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1" name="TextBox 90">
            <a:extLst>
              <a:ext uri="{FF2B5EF4-FFF2-40B4-BE49-F238E27FC236}">
                <a16:creationId xmlns:a16="http://schemas.microsoft.com/office/drawing/2014/main" id="{F62C2FC2-EA06-7C79-1C1F-8BBD9A1331AC}"/>
              </a:ext>
            </a:extLst>
          </p:cNvPr>
          <p:cNvSpPr txBox="1"/>
          <p:nvPr/>
        </p:nvSpPr>
        <p:spPr>
          <a:xfrm>
            <a:off x="2422872" y="354462"/>
            <a:ext cx="451149" cy="369332"/>
          </a:xfrm>
          <a:prstGeom prst="rect">
            <a:avLst/>
          </a:prstGeom>
          <a:noFill/>
        </p:spPr>
        <p:txBody>
          <a:bodyPr wrap="none" rtlCol="0">
            <a:spAutoFit/>
          </a:bodyPr>
          <a:lstStyle/>
          <a:p>
            <a:r>
              <a:rPr lang="en-US" dirty="0"/>
              <a:t>CT</a:t>
            </a:r>
          </a:p>
        </p:txBody>
      </p:sp>
      <p:sp>
        <p:nvSpPr>
          <p:cNvPr id="92" name="TextBox 91">
            <a:extLst>
              <a:ext uri="{FF2B5EF4-FFF2-40B4-BE49-F238E27FC236}">
                <a16:creationId xmlns:a16="http://schemas.microsoft.com/office/drawing/2014/main" id="{1A2AB6B0-8800-2A6A-B7AA-56737A74A593}"/>
              </a:ext>
            </a:extLst>
          </p:cNvPr>
          <p:cNvSpPr txBox="1"/>
          <p:nvPr/>
        </p:nvSpPr>
        <p:spPr>
          <a:xfrm>
            <a:off x="2399234" y="6025378"/>
            <a:ext cx="424475" cy="369332"/>
          </a:xfrm>
          <a:prstGeom prst="rect">
            <a:avLst/>
          </a:prstGeom>
          <a:noFill/>
        </p:spPr>
        <p:txBody>
          <a:bodyPr wrap="none" rtlCol="0">
            <a:spAutoFit/>
          </a:bodyPr>
          <a:lstStyle/>
          <a:p>
            <a:r>
              <a:rPr lang="en-US" dirty="0"/>
              <a:t>PT</a:t>
            </a:r>
          </a:p>
        </p:txBody>
      </p:sp>
      <p:cxnSp>
        <p:nvCxnSpPr>
          <p:cNvPr id="96" name="Straight Arrow Connector 95">
            <a:extLst>
              <a:ext uri="{FF2B5EF4-FFF2-40B4-BE49-F238E27FC236}">
                <a16:creationId xmlns:a16="http://schemas.microsoft.com/office/drawing/2014/main" id="{38351B61-BB8B-9D02-834A-917C9245A0FE}"/>
              </a:ext>
            </a:extLst>
          </p:cNvPr>
          <p:cNvCxnSpPr>
            <a:cxnSpLocks/>
          </p:cNvCxnSpPr>
          <p:nvPr/>
        </p:nvCxnSpPr>
        <p:spPr>
          <a:xfrm flipH="1">
            <a:off x="7178040" y="2160157"/>
            <a:ext cx="458311"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9" name="TextBox 98">
            <a:extLst>
              <a:ext uri="{FF2B5EF4-FFF2-40B4-BE49-F238E27FC236}">
                <a16:creationId xmlns:a16="http://schemas.microsoft.com/office/drawing/2014/main" id="{DB0709A7-E744-CA5C-9076-EEB392F372EB}"/>
              </a:ext>
            </a:extLst>
          </p:cNvPr>
          <p:cNvSpPr txBox="1"/>
          <p:nvPr/>
        </p:nvSpPr>
        <p:spPr>
          <a:xfrm>
            <a:off x="5148144" y="113285"/>
            <a:ext cx="1895712" cy="523220"/>
          </a:xfrm>
          <a:prstGeom prst="rect">
            <a:avLst/>
          </a:prstGeom>
          <a:noFill/>
        </p:spPr>
        <p:txBody>
          <a:bodyPr wrap="none" rtlCol="0">
            <a:spAutoFit/>
          </a:bodyPr>
          <a:lstStyle/>
          <a:p>
            <a:r>
              <a:rPr lang="en-US" sz="2800" dirty="0"/>
              <a:t>Decryption</a:t>
            </a:r>
            <a:endParaRPr lang="en-US" dirty="0"/>
          </a:p>
        </p:txBody>
      </p:sp>
      <p:sp>
        <p:nvSpPr>
          <p:cNvPr id="3" name="Rectangle 2">
            <a:extLst>
              <a:ext uri="{FF2B5EF4-FFF2-40B4-BE49-F238E27FC236}">
                <a16:creationId xmlns:a16="http://schemas.microsoft.com/office/drawing/2014/main" id="{3AB282DE-12A7-E35B-A045-276ECE4FE675}"/>
              </a:ext>
            </a:extLst>
          </p:cNvPr>
          <p:cNvSpPr/>
          <p:nvPr/>
        </p:nvSpPr>
        <p:spPr>
          <a:xfrm>
            <a:off x="3848030" y="1968237"/>
            <a:ext cx="3236984"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72358EC-E03E-0040-D3D4-4D53504C5415}"/>
              </a:ext>
            </a:extLst>
          </p:cNvPr>
          <p:cNvSpPr/>
          <p:nvPr/>
        </p:nvSpPr>
        <p:spPr>
          <a:xfrm>
            <a:off x="3848030" y="1968237"/>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4AFC2F4-910D-D1C7-65F6-09BDA2BF010B}"/>
              </a:ext>
            </a:extLst>
          </p:cNvPr>
          <p:cNvSpPr/>
          <p:nvPr/>
        </p:nvSpPr>
        <p:spPr>
          <a:xfrm>
            <a:off x="4143226" y="1968235"/>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2A6ACF2-ACB3-77B1-882B-D6457EC1A1CC}"/>
              </a:ext>
            </a:extLst>
          </p:cNvPr>
          <p:cNvSpPr/>
          <p:nvPr/>
        </p:nvSpPr>
        <p:spPr>
          <a:xfrm>
            <a:off x="4436996" y="1968237"/>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EFCEA4E-D46A-77F5-B245-09841ED5B48A}"/>
              </a:ext>
            </a:extLst>
          </p:cNvPr>
          <p:cNvSpPr/>
          <p:nvPr/>
        </p:nvSpPr>
        <p:spPr>
          <a:xfrm>
            <a:off x="4730363" y="1968235"/>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0379636-FBBD-8C99-ECAF-C019B5313422}"/>
              </a:ext>
            </a:extLst>
          </p:cNvPr>
          <p:cNvSpPr/>
          <p:nvPr/>
        </p:nvSpPr>
        <p:spPr>
          <a:xfrm>
            <a:off x="5025560" y="1968233"/>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7D61C24-0617-C617-B5CE-84B41ECE5326}"/>
              </a:ext>
            </a:extLst>
          </p:cNvPr>
          <p:cNvSpPr/>
          <p:nvPr/>
        </p:nvSpPr>
        <p:spPr>
          <a:xfrm>
            <a:off x="5319328" y="1968235"/>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91F87BA2-E9E7-8525-5634-91D901428110}"/>
              </a:ext>
            </a:extLst>
          </p:cNvPr>
          <p:cNvSpPr/>
          <p:nvPr/>
        </p:nvSpPr>
        <p:spPr>
          <a:xfrm>
            <a:off x="5617134" y="1968594"/>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30F8B8AF-FBA8-A412-441B-3E99BB934E30}"/>
              </a:ext>
            </a:extLst>
          </p:cNvPr>
          <p:cNvSpPr/>
          <p:nvPr/>
        </p:nvSpPr>
        <p:spPr>
          <a:xfrm>
            <a:off x="5909312" y="1968596"/>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D4C22605-B9B8-F156-CC62-5485094B8902}"/>
              </a:ext>
            </a:extLst>
          </p:cNvPr>
          <p:cNvSpPr/>
          <p:nvPr/>
        </p:nvSpPr>
        <p:spPr>
          <a:xfrm>
            <a:off x="6202679" y="1968594"/>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D40AF63C-A64C-8E30-A9E1-E814EDC10A6B}"/>
              </a:ext>
            </a:extLst>
          </p:cNvPr>
          <p:cNvSpPr/>
          <p:nvPr/>
        </p:nvSpPr>
        <p:spPr>
          <a:xfrm>
            <a:off x="6496289" y="1968592"/>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0D254E7D-8CA0-EEB1-5186-862F49FAD53D}"/>
              </a:ext>
            </a:extLst>
          </p:cNvPr>
          <p:cNvSpPr/>
          <p:nvPr/>
        </p:nvSpPr>
        <p:spPr>
          <a:xfrm>
            <a:off x="6791646" y="1968594"/>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0B240BF2-A7AB-394A-0337-3A59BCFFF18B}"/>
              </a:ext>
            </a:extLst>
          </p:cNvPr>
          <p:cNvSpPr txBox="1"/>
          <p:nvPr/>
        </p:nvSpPr>
        <p:spPr>
          <a:xfrm>
            <a:off x="4083431" y="1469245"/>
            <a:ext cx="2493631" cy="369332"/>
          </a:xfrm>
          <a:prstGeom prst="rect">
            <a:avLst/>
          </a:prstGeom>
          <a:noFill/>
        </p:spPr>
        <p:txBody>
          <a:bodyPr wrap="none" rtlCol="0">
            <a:spAutoFit/>
          </a:bodyPr>
          <a:lstStyle/>
          <a:p>
            <a:r>
              <a:rPr lang="en-US" dirty="0"/>
              <a:t>1408-bit register “keys”</a:t>
            </a:r>
          </a:p>
        </p:txBody>
      </p:sp>
      <p:sp>
        <p:nvSpPr>
          <p:cNvPr id="48" name="TextBox 47">
            <a:extLst>
              <a:ext uri="{FF2B5EF4-FFF2-40B4-BE49-F238E27FC236}">
                <a16:creationId xmlns:a16="http://schemas.microsoft.com/office/drawing/2014/main" id="{C844BED6-41A1-2DD1-00D5-4D8ADE87E3C7}"/>
              </a:ext>
            </a:extLst>
          </p:cNvPr>
          <p:cNvSpPr txBox="1"/>
          <p:nvPr/>
        </p:nvSpPr>
        <p:spPr>
          <a:xfrm>
            <a:off x="3797952" y="2055587"/>
            <a:ext cx="435478" cy="253916"/>
          </a:xfrm>
          <a:prstGeom prst="rect">
            <a:avLst/>
          </a:prstGeom>
          <a:noFill/>
        </p:spPr>
        <p:txBody>
          <a:bodyPr wrap="square" rtlCol="0">
            <a:spAutoFit/>
          </a:bodyPr>
          <a:lstStyle/>
          <a:p>
            <a:r>
              <a:rPr lang="en-US" sz="1050" dirty="0"/>
              <a:t>k10</a:t>
            </a:r>
          </a:p>
        </p:txBody>
      </p:sp>
      <p:sp>
        <p:nvSpPr>
          <p:cNvPr id="51" name="TextBox 50">
            <a:extLst>
              <a:ext uri="{FF2B5EF4-FFF2-40B4-BE49-F238E27FC236}">
                <a16:creationId xmlns:a16="http://schemas.microsoft.com/office/drawing/2014/main" id="{1CB3FECD-089C-4179-9809-83484458741B}"/>
              </a:ext>
            </a:extLst>
          </p:cNvPr>
          <p:cNvSpPr txBox="1"/>
          <p:nvPr/>
        </p:nvSpPr>
        <p:spPr>
          <a:xfrm>
            <a:off x="6765223" y="2056907"/>
            <a:ext cx="435478" cy="253916"/>
          </a:xfrm>
          <a:prstGeom prst="rect">
            <a:avLst/>
          </a:prstGeom>
          <a:noFill/>
        </p:spPr>
        <p:txBody>
          <a:bodyPr wrap="square" rtlCol="0">
            <a:spAutoFit/>
          </a:bodyPr>
          <a:lstStyle/>
          <a:p>
            <a:r>
              <a:rPr lang="en-US" sz="1050" dirty="0"/>
              <a:t>k0</a:t>
            </a:r>
          </a:p>
        </p:txBody>
      </p:sp>
      <p:cxnSp>
        <p:nvCxnSpPr>
          <p:cNvPr id="52" name="Straight Arrow Connector 51">
            <a:extLst>
              <a:ext uri="{FF2B5EF4-FFF2-40B4-BE49-F238E27FC236}">
                <a16:creationId xmlns:a16="http://schemas.microsoft.com/office/drawing/2014/main" id="{C74925C3-53D5-2FFF-F068-0B59A5ABB2D0}"/>
              </a:ext>
            </a:extLst>
          </p:cNvPr>
          <p:cNvCxnSpPr>
            <a:cxnSpLocks/>
          </p:cNvCxnSpPr>
          <p:nvPr/>
        </p:nvCxnSpPr>
        <p:spPr>
          <a:xfrm>
            <a:off x="3994713" y="2396853"/>
            <a:ext cx="0" cy="309539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F48198CD-360B-CAE6-B0F8-E8CED8C45891}"/>
              </a:ext>
            </a:extLst>
          </p:cNvPr>
          <p:cNvCxnSpPr>
            <a:cxnSpLocks/>
            <a:endCxn id="4" idx="3"/>
          </p:cNvCxnSpPr>
          <p:nvPr/>
        </p:nvCxnSpPr>
        <p:spPr>
          <a:xfrm flipH="1">
            <a:off x="3664429" y="1269936"/>
            <a:ext cx="3263305"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EEFDD864-0A65-E137-5C64-7C337BEB7C49}"/>
              </a:ext>
            </a:extLst>
          </p:cNvPr>
          <p:cNvCxnSpPr>
            <a:cxnSpLocks/>
          </p:cNvCxnSpPr>
          <p:nvPr/>
        </p:nvCxnSpPr>
        <p:spPr>
          <a:xfrm flipH="1">
            <a:off x="3685149" y="5460340"/>
            <a:ext cx="309564"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83CAF2EE-984A-49B7-F8FA-77BC19227720}"/>
              </a:ext>
            </a:extLst>
          </p:cNvPr>
          <p:cNvCxnSpPr>
            <a:cxnSpLocks/>
          </p:cNvCxnSpPr>
          <p:nvPr/>
        </p:nvCxnSpPr>
        <p:spPr>
          <a:xfrm flipH="1" flipV="1">
            <a:off x="6927734" y="1224595"/>
            <a:ext cx="7924" cy="75283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301502B0-EF90-1A63-63DD-6E206B29CF3A}"/>
              </a:ext>
            </a:extLst>
          </p:cNvPr>
          <p:cNvSpPr txBox="1"/>
          <p:nvPr/>
        </p:nvSpPr>
        <p:spPr>
          <a:xfrm>
            <a:off x="4148201" y="2057276"/>
            <a:ext cx="435478" cy="253916"/>
          </a:xfrm>
          <a:prstGeom prst="rect">
            <a:avLst/>
          </a:prstGeom>
          <a:noFill/>
        </p:spPr>
        <p:txBody>
          <a:bodyPr wrap="square" rtlCol="0">
            <a:spAutoFit/>
          </a:bodyPr>
          <a:lstStyle/>
          <a:p>
            <a:r>
              <a:rPr lang="en-US" sz="1050" dirty="0"/>
              <a:t>k9</a:t>
            </a:r>
          </a:p>
        </p:txBody>
      </p:sp>
      <p:cxnSp>
        <p:nvCxnSpPr>
          <p:cNvPr id="22" name="Straight Arrow Connector 21">
            <a:extLst>
              <a:ext uri="{FF2B5EF4-FFF2-40B4-BE49-F238E27FC236}">
                <a16:creationId xmlns:a16="http://schemas.microsoft.com/office/drawing/2014/main" id="{6BCA6FFF-310E-F4E0-9F66-79AFF92A9CA3}"/>
              </a:ext>
            </a:extLst>
          </p:cNvPr>
          <p:cNvCxnSpPr>
            <a:cxnSpLocks/>
          </p:cNvCxnSpPr>
          <p:nvPr/>
        </p:nvCxnSpPr>
        <p:spPr>
          <a:xfrm flipH="1">
            <a:off x="3664426" y="2632355"/>
            <a:ext cx="613411"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D4AB0FE9-BBD9-21AA-0457-CA4CE2877F86}"/>
              </a:ext>
            </a:extLst>
          </p:cNvPr>
          <p:cNvCxnSpPr>
            <a:cxnSpLocks/>
          </p:cNvCxnSpPr>
          <p:nvPr/>
        </p:nvCxnSpPr>
        <p:spPr>
          <a:xfrm>
            <a:off x="4289909" y="2386866"/>
            <a:ext cx="0" cy="2530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F2155083-19D1-2A70-B97C-D8D29ED617F5}"/>
              </a:ext>
            </a:extLst>
          </p:cNvPr>
          <p:cNvCxnSpPr>
            <a:cxnSpLocks/>
          </p:cNvCxnSpPr>
          <p:nvPr/>
        </p:nvCxnSpPr>
        <p:spPr>
          <a:xfrm>
            <a:off x="1825360" y="697891"/>
            <a:ext cx="0" cy="32880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1E2021CA-B706-F3A0-4526-FE9FABCBD9B7}"/>
              </a:ext>
            </a:extLst>
          </p:cNvPr>
          <p:cNvSpPr txBox="1"/>
          <p:nvPr/>
        </p:nvSpPr>
        <p:spPr>
          <a:xfrm>
            <a:off x="1497770" y="291821"/>
            <a:ext cx="655179" cy="369332"/>
          </a:xfrm>
          <a:prstGeom prst="rect">
            <a:avLst/>
          </a:prstGeom>
          <a:noFill/>
        </p:spPr>
        <p:txBody>
          <a:bodyPr wrap="none" rtlCol="0">
            <a:spAutoFit/>
          </a:bodyPr>
          <a:lstStyle/>
          <a:p>
            <a:r>
              <a:rPr lang="en-US" dirty="0"/>
              <a:t>valid</a:t>
            </a:r>
          </a:p>
        </p:txBody>
      </p:sp>
      <p:cxnSp>
        <p:nvCxnSpPr>
          <p:cNvPr id="33" name="Straight Arrow Connector 32">
            <a:extLst>
              <a:ext uri="{FF2B5EF4-FFF2-40B4-BE49-F238E27FC236}">
                <a16:creationId xmlns:a16="http://schemas.microsoft.com/office/drawing/2014/main" id="{00327621-5A2A-AFC2-7153-A91CAF1E0DE7}"/>
              </a:ext>
            </a:extLst>
          </p:cNvPr>
          <p:cNvCxnSpPr>
            <a:cxnSpLocks/>
          </p:cNvCxnSpPr>
          <p:nvPr/>
        </p:nvCxnSpPr>
        <p:spPr>
          <a:xfrm>
            <a:off x="1812027" y="1595383"/>
            <a:ext cx="0" cy="71400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60127E56-6B1C-9E6E-F282-E829B7E61D4D}"/>
              </a:ext>
            </a:extLst>
          </p:cNvPr>
          <p:cNvCxnSpPr>
            <a:cxnSpLocks/>
          </p:cNvCxnSpPr>
          <p:nvPr/>
        </p:nvCxnSpPr>
        <p:spPr>
          <a:xfrm>
            <a:off x="1812027" y="2792865"/>
            <a:ext cx="0" cy="88011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9F550150-C57C-80AC-9CE5-DE099E6D167A}"/>
              </a:ext>
            </a:extLst>
          </p:cNvPr>
          <p:cNvCxnSpPr>
            <a:cxnSpLocks/>
          </p:cNvCxnSpPr>
          <p:nvPr/>
        </p:nvCxnSpPr>
        <p:spPr>
          <a:xfrm>
            <a:off x="1791245" y="5696458"/>
            <a:ext cx="0" cy="32880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9380D253-44C1-9E6E-2569-42466ABD750D}"/>
              </a:ext>
            </a:extLst>
          </p:cNvPr>
          <p:cNvSpPr txBox="1"/>
          <p:nvPr/>
        </p:nvSpPr>
        <p:spPr>
          <a:xfrm>
            <a:off x="1463655" y="6025378"/>
            <a:ext cx="655179" cy="369332"/>
          </a:xfrm>
          <a:prstGeom prst="rect">
            <a:avLst/>
          </a:prstGeom>
          <a:noFill/>
        </p:spPr>
        <p:txBody>
          <a:bodyPr wrap="none" rtlCol="0">
            <a:spAutoFit/>
          </a:bodyPr>
          <a:lstStyle/>
          <a:p>
            <a:r>
              <a:rPr lang="en-US" dirty="0"/>
              <a:t>valid</a:t>
            </a:r>
          </a:p>
        </p:txBody>
      </p:sp>
      <p:cxnSp>
        <p:nvCxnSpPr>
          <p:cNvPr id="49" name="Straight Arrow Connector 48">
            <a:extLst>
              <a:ext uri="{FF2B5EF4-FFF2-40B4-BE49-F238E27FC236}">
                <a16:creationId xmlns:a16="http://schemas.microsoft.com/office/drawing/2014/main" id="{7FAF7242-3494-A28A-E2DF-D945CCFF0297}"/>
              </a:ext>
            </a:extLst>
          </p:cNvPr>
          <p:cNvCxnSpPr>
            <a:cxnSpLocks/>
          </p:cNvCxnSpPr>
          <p:nvPr/>
        </p:nvCxnSpPr>
        <p:spPr>
          <a:xfrm>
            <a:off x="8734298" y="698009"/>
            <a:ext cx="0" cy="32880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3371D3A8-2309-E0EF-E47E-A261FE717D77}"/>
              </a:ext>
            </a:extLst>
          </p:cNvPr>
          <p:cNvSpPr txBox="1"/>
          <p:nvPr/>
        </p:nvSpPr>
        <p:spPr>
          <a:xfrm>
            <a:off x="8517732" y="278095"/>
            <a:ext cx="433132" cy="369332"/>
          </a:xfrm>
          <a:prstGeom prst="rect">
            <a:avLst/>
          </a:prstGeom>
          <a:noFill/>
        </p:spPr>
        <p:txBody>
          <a:bodyPr wrap="none" rtlCol="0">
            <a:spAutoFit/>
          </a:bodyPr>
          <a:lstStyle/>
          <a:p>
            <a:r>
              <a:rPr lang="en-US" dirty="0"/>
              <a:t>en</a:t>
            </a:r>
          </a:p>
        </p:txBody>
      </p:sp>
      <p:cxnSp>
        <p:nvCxnSpPr>
          <p:cNvPr id="38" name="Straight Connector 37">
            <a:extLst>
              <a:ext uri="{FF2B5EF4-FFF2-40B4-BE49-F238E27FC236}">
                <a16:creationId xmlns:a16="http://schemas.microsoft.com/office/drawing/2014/main" id="{1BDEE6DE-B513-46EC-133A-F2BDE09F0BA5}"/>
              </a:ext>
            </a:extLst>
          </p:cNvPr>
          <p:cNvCxnSpPr>
            <a:cxnSpLocks/>
          </p:cNvCxnSpPr>
          <p:nvPr/>
        </p:nvCxnSpPr>
        <p:spPr>
          <a:xfrm>
            <a:off x="1818852" y="3773343"/>
            <a:ext cx="0" cy="1349575"/>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521120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E8927-41F7-9B1E-5C4E-04DB7550C9EC}"/>
              </a:ext>
            </a:extLst>
          </p:cNvPr>
          <p:cNvSpPr>
            <a:spLocks noGrp="1"/>
          </p:cNvSpPr>
          <p:nvPr>
            <p:ph type="title"/>
          </p:nvPr>
        </p:nvSpPr>
        <p:spPr>
          <a:xfrm>
            <a:off x="4947154" y="99986"/>
            <a:ext cx="2359128" cy="598582"/>
          </a:xfrm>
        </p:spPr>
        <p:txBody>
          <a:bodyPr>
            <a:noAutofit/>
          </a:bodyPr>
          <a:lstStyle/>
          <a:p>
            <a:r>
              <a:rPr lang="en-US" sz="2800" dirty="0"/>
              <a:t>Key Generator</a:t>
            </a:r>
          </a:p>
        </p:txBody>
      </p:sp>
      <p:grpSp>
        <p:nvGrpSpPr>
          <p:cNvPr id="13" name="Group 12">
            <a:extLst>
              <a:ext uri="{FF2B5EF4-FFF2-40B4-BE49-F238E27FC236}">
                <a16:creationId xmlns:a16="http://schemas.microsoft.com/office/drawing/2014/main" id="{2437FD4E-49A9-72B2-28A1-E7D88C9D68DD}"/>
              </a:ext>
            </a:extLst>
          </p:cNvPr>
          <p:cNvGrpSpPr/>
          <p:nvPr/>
        </p:nvGrpSpPr>
        <p:grpSpPr>
          <a:xfrm>
            <a:off x="2171581" y="970906"/>
            <a:ext cx="7848837" cy="400685"/>
            <a:chOff x="1968263" y="1055622"/>
            <a:chExt cx="5157152" cy="401190"/>
          </a:xfrm>
        </p:grpSpPr>
        <p:sp>
          <p:nvSpPr>
            <p:cNvPr id="4" name="Rectangle 3">
              <a:extLst>
                <a:ext uri="{FF2B5EF4-FFF2-40B4-BE49-F238E27FC236}">
                  <a16:creationId xmlns:a16="http://schemas.microsoft.com/office/drawing/2014/main" id="{F95BD45C-FF06-D572-9ABA-28B4CBF53786}"/>
                </a:ext>
              </a:extLst>
            </p:cNvPr>
            <p:cNvSpPr>
              <a:spLocks/>
            </p:cNvSpPr>
            <p:nvPr/>
          </p:nvSpPr>
          <p:spPr>
            <a:xfrm>
              <a:off x="1968263" y="1055623"/>
              <a:ext cx="1289288"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6687809-FE91-9646-9DE0-EC0FD7855149}"/>
                </a:ext>
              </a:extLst>
            </p:cNvPr>
            <p:cNvSpPr>
              <a:spLocks/>
            </p:cNvSpPr>
            <p:nvPr/>
          </p:nvSpPr>
          <p:spPr>
            <a:xfrm>
              <a:off x="5836127" y="1055622"/>
              <a:ext cx="1289288"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774B5B8-69CA-6285-AB2F-90552E01FB84}"/>
                </a:ext>
              </a:extLst>
            </p:cNvPr>
            <p:cNvSpPr>
              <a:spLocks/>
            </p:cNvSpPr>
            <p:nvPr/>
          </p:nvSpPr>
          <p:spPr>
            <a:xfrm>
              <a:off x="4546839" y="1056127"/>
              <a:ext cx="1289288"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375A819-1A58-0FE3-2143-38A4F7FDA18A}"/>
                </a:ext>
              </a:extLst>
            </p:cNvPr>
            <p:cNvSpPr>
              <a:spLocks/>
            </p:cNvSpPr>
            <p:nvPr/>
          </p:nvSpPr>
          <p:spPr>
            <a:xfrm>
              <a:off x="3257551" y="1055622"/>
              <a:ext cx="1289288"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55454FFE-CA99-B7DF-711E-B8D2F5967BA7}"/>
              </a:ext>
            </a:extLst>
          </p:cNvPr>
          <p:cNvGrpSpPr/>
          <p:nvPr/>
        </p:nvGrpSpPr>
        <p:grpSpPr>
          <a:xfrm>
            <a:off x="2181741" y="1847206"/>
            <a:ext cx="7848837" cy="400685"/>
            <a:chOff x="1968263" y="1055622"/>
            <a:chExt cx="5157152" cy="401190"/>
          </a:xfrm>
        </p:grpSpPr>
        <p:sp>
          <p:nvSpPr>
            <p:cNvPr id="15" name="Rectangle 14">
              <a:extLst>
                <a:ext uri="{FF2B5EF4-FFF2-40B4-BE49-F238E27FC236}">
                  <a16:creationId xmlns:a16="http://schemas.microsoft.com/office/drawing/2014/main" id="{3FFDDC5F-8DC2-57CB-3998-A48E5A2A522A}"/>
                </a:ext>
              </a:extLst>
            </p:cNvPr>
            <p:cNvSpPr>
              <a:spLocks/>
            </p:cNvSpPr>
            <p:nvPr/>
          </p:nvSpPr>
          <p:spPr>
            <a:xfrm>
              <a:off x="1968263" y="1055623"/>
              <a:ext cx="1289288"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91BF34D-FCF7-D3CC-3678-5D666D4BC065}"/>
                </a:ext>
              </a:extLst>
            </p:cNvPr>
            <p:cNvSpPr>
              <a:spLocks/>
            </p:cNvSpPr>
            <p:nvPr/>
          </p:nvSpPr>
          <p:spPr>
            <a:xfrm>
              <a:off x="5836127" y="1055622"/>
              <a:ext cx="1289288"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FF3B249-D3B4-809A-0301-CB2F2D8D02C1}"/>
                </a:ext>
              </a:extLst>
            </p:cNvPr>
            <p:cNvSpPr>
              <a:spLocks/>
            </p:cNvSpPr>
            <p:nvPr/>
          </p:nvSpPr>
          <p:spPr>
            <a:xfrm>
              <a:off x="4546839" y="1056127"/>
              <a:ext cx="1289288"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A4F13ED-16BF-0CEF-67C1-C37068831A26}"/>
                </a:ext>
              </a:extLst>
            </p:cNvPr>
            <p:cNvSpPr>
              <a:spLocks/>
            </p:cNvSpPr>
            <p:nvPr/>
          </p:nvSpPr>
          <p:spPr>
            <a:xfrm>
              <a:off x="3257551" y="1055622"/>
              <a:ext cx="1289288"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9" name="Straight Arrow Connector 18">
            <a:extLst>
              <a:ext uri="{FF2B5EF4-FFF2-40B4-BE49-F238E27FC236}">
                <a16:creationId xmlns:a16="http://schemas.microsoft.com/office/drawing/2014/main" id="{E40305C0-9926-742C-F7B3-5AB046C7A5B9}"/>
              </a:ext>
            </a:extLst>
          </p:cNvPr>
          <p:cNvCxnSpPr>
            <a:cxnSpLocks/>
            <a:stCxn id="4" idx="2"/>
            <a:endCxn id="15" idx="0"/>
          </p:cNvCxnSpPr>
          <p:nvPr/>
        </p:nvCxnSpPr>
        <p:spPr>
          <a:xfrm>
            <a:off x="3152686" y="1371088"/>
            <a:ext cx="10160" cy="47611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A890325D-D375-A1EC-7F36-7F507F9F49C9}"/>
              </a:ext>
            </a:extLst>
          </p:cNvPr>
          <p:cNvCxnSpPr>
            <a:cxnSpLocks/>
            <a:stCxn id="5" idx="2"/>
            <a:endCxn id="16" idx="0"/>
          </p:cNvCxnSpPr>
          <p:nvPr/>
        </p:nvCxnSpPr>
        <p:spPr>
          <a:xfrm>
            <a:off x="9039314" y="1371087"/>
            <a:ext cx="10160" cy="47611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8554C956-4E65-422A-90C1-B79A97090EE4}"/>
              </a:ext>
            </a:extLst>
          </p:cNvPr>
          <p:cNvCxnSpPr>
            <a:cxnSpLocks/>
            <a:stCxn id="6" idx="2"/>
            <a:endCxn id="17" idx="0"/>
          </p:cNvCxnSpPr>
          <p:nvPr/>
        </p:nvCxnSpPr>
        <p:spPr>
          <a:xfrm>
            <a:off x="7077105" y="1371591"/>
            <a:ext cx="10160" cy="47611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A551E548-E340-9E0A-80BC-D124B546F789}"/>
              </a:ext>
            </a:extLst>
          </p:cNvPr>
          <p:cNvCxnSpPr>
            <a:cxnSpLocks/>
            <a:stCxn id="7" idx="2"/>
            <a:endCxn id="18" idx="0"/>
          </p:cNvCxnSpPr>
          <p:nvPr/>
        </p:nvCxnSpPr>
        <p:spPr>
          <a:xfrm>
            <a:off x="5114895" y="1371087"/>
            <a:ext cx="10160" cy="47611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D23E2950-3354-69EC-B453-C009AAD12033}"/>
              </a:ext>
            </a:extLst>
          </p:cNvPr>
          <p:cNvCxnSpPr>
            <a:cxnSpLocks/>
          </p:cNvCxnSpPr>
          <p:nvPr/>
        </p:nvCxnSpPr>
        <p:spPr>
          <a:xfrm>
            <a:off x="3169034" y="2269549"/>
            <a:ext cx="2" cy="45395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4" name="Oval 23">
            <a:extLst>
              <a:ext uri="{FF2B5EF4-FFF2-40B4-BE49-F238E27FC236}">
                <a16:creationId xmlns:a16="http://schemas.microsoft.com/office/drawing/2014/main" id="{4BCBA607-862C-5077-47EB-CE68B99BB8D5}"/>
              </a:ext>
            </a:extLst>
          </p:cNvPr>
          <p:cNvSpPr/>
          <p:nvPr/>
        </p:nvSpPr>
        <p:spPr>
          <a:xfrm>
            <a:off x="2968944" y="2745669"/>
            <a:ext cx="400181" cy="400181"/>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B705C2D0-C807-2189-86F7-435D2B51CBA3}"/>
              </a:ext>
            </a:extLst>
          </p:cNvPr>
          <p:cNvCxnSpPr>
            <a:stCxn id="24" idx="0"/>
            <a:endCxn id="24" idx="4"/>
          </p:cNvCxnSpPr>
          <p:nvPr/>
        </p:nvCxnSpPr>
        <p:spPr>
          <a:xfrm>
            <a:off x="3169035" y="2745669"/>
            <a:ext cx="0" cy="4001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82667F2-2D5B-9057-9C23-D3E2A75A22E4}"/>
              </a:ext>
            </a:extLst>
          </p:cNvPr>
          <p:cNvCxnSpPr>
            <a:cxnSpLocks/>
            <a:stCxn id="24" idx="6"/>
            <a:endCxn id="24" idx="2"/>
          </p:cNvCxnSpPr>
          <p:nvPr/>
        </p:nvCxnSpPr>
        <p:spPr>
          <a:xfrm flipH="1">
            <a:off x="2968944" y="2945760"/>
            <a:ext cx="40018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CFB77D71-55F0-3989-9364-D39A84D2F102}"/>
              </a:ext>
            </a:extLst>
          </p:cNvPr>
          <p:cNvCxnSpPr>
            <a:cxnSpLocks/>
            <a:stCxn id="18" idx="2"/>
            <a:endCxn id="33" idx="0"/>
          </p:cNvCxnSpPr>
          <p:nvPr/>
        </p:nvCxnSpPr>
        <p:spPr>
          <a:xfrm>
            <a:off x="5125055" y="2247387"/>
            <a:ext cx="6348" cy="109689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3" name="Oval 32">
            <a:extLst>
              <a:ext uri="{FF2B5EF4-FFF2-40B4-BE49-F238E27FC236}">
                <a16:creationId xmlns:a16="http://schemas.microsoft.com/office/drawing/2014/main" id="{69BC7BF5-9229-5A72-5F22-B3D6913C595A}"/>
              </a:ext>
            </a:extLst>
          </p:cNvPr>
          <p:cNvSpPr/>
          <p:nvPr/>
        </p:nvSpPr>
        <p:spPr>
          <a:xfrm>
            <a:off x="4931312" y="3344284"/>
            <a:ext cx="400181" cy="400181"/>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Connector 33">
            <a:extLst>
              <a:ext uri="{FF2B5EF4-FFF2-40B4-BE49-F238E27FC236}">
                <a16:creationId xmlns:a16="http://schemas.microsoft.com/office/drawing/2014/main" id="{C0E746F6-F67A-F394-F83B-E767CDA53B2E}"/>
              </a:ext>
            </a:extLst>
          </p:cNvPr>
          <p:cNvCxnSpPr>
            <a:stCxn id="33" idx="0"/>
            <a:endCxn id="33" idx="4"/>
          </p:cNvCxnSpPr>
          <p:nvPr/>
        </p:nvCxnSpPr>
        <p:spPr>
          <a:xfrm>
            <a:off x="5131403" y="3344284"/>
            <a:ext cx="0" cy="4001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637BC57B-775F-3D28-857A-375312C077C8}"/>
              </a:ext>
            </a:extLst>
          </p:cNvPr>
          <p:cNvCxnSpPr>
            <a:cxnSpLocks/>
            <a:stCxn id="33" idx="6"/>
            <a:endCxn id="33" idx="2"/>
          </p:cNvCxnSpPr>
          <p:nvPr/>
        </p:nvCxnSpPr>
        <p:spPr>
          <a:xfrm flipH="1">
            <a:off x="4931312" y="3544375"/>
            <a:ext cx="40018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3CC2EA0B-FFAF-4E42-E280-F309DFDBC957}"/>
              </a:ext>
            </a:extLst>
          </p:cNvPr>
          <p:cNvCxnSpPr>
            <a:cxnSpLocks/>
            <a:stCxn id="17" idx="2"/>
            <a:endCxn id="41" idx="0"/>
          </p:cNvCxnSpPr>
          <p:nvPr/>
        </p:nvCxnSpPr>
        <p:spPr>
          <a:xfrm flipH="1">
            <a:off x="7087264" y="2247891"/>
            <a:ext cx="1" cy="149657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46" name="Group 45">
            <a:extLst>
              <a:ext uri="{FF2B5EF4-FFF2-40B4-BE49-F238E27FC236}">
                <a16:creationId xmlns:a16="http://schemas.microsoft.com/office/drawing/2014/main" id="{939E7DE9-1305-CCEE-55CF-2E0AEAF8D436}"/>
              </a:ext>
            </a:extLst>
          </p:cNvPr>
          <p:cNvGrpSpPr/>
          <p:nvPr/>
        </p:nvGrpSpPr>
        <p:grpSpPr>
          <a:xfrm>
            <a:off x="6887173" y="3744465"/>
            <a:ext cx="400181" cy="400181"/>
            <a:chOff x="6877012" y="4149598"/>
            <a:chExt cx="400181" cy="400181"/>
          </a:xfrm>
        </p:grpSpPr>
        <p:sp>
          <p:nvSpPr>
            <p:cNvPr id="41" name="Oval 40">
              <a:extLst>
                <a:ext uri="{FF2B5EF4-FFF2-40B4-BE49-F238E27FC236}">
                  <a16:creationId xmlns:a16="http://schemas.microsoft.com/office/drawing/2014/main" id="{75460B87-3F2C-9D97-A39B-91486B67B302}"/>
                </a:ext>
              </a:extLst>
            </p:cNvPr>
            <p:cNvSpPr/>
            <p:nvPr/>
          </p:nvSpPr>
          <p:spPr>
            <a:xfrm>
              <a:off x="6877012" y="4149598"/>
              <a:ext cx="400181" cy="400181"/>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Connector 41">
              <a:extLst>
                <a:ext uri="{FF2B5EF4-FFF2-40B4-BE49-F238E27FC236}">
                  <a16:creationId xmlns:a16="http://schemas.microsoft.com/office/drawing/2014/main" id="{A5806E4B-E164-9348-A129-19CF294C3F3B}"/>
                </a:ext>
              </a:extLst>
            </p:cNvPr>
            <p:cNvCxnSpPr>
              <a:cxnSpLocks/>
              <a:stCxn id="41" idx="0"/>
              <a:endCxn id="41" idx="4"/>
            </p:cNvCxnSpPr>
            <p:nvPr/>
          </p:nvCxnSpPr>
          <p:spPr>
            <a:xfrm>
              <a:off x="7077103" y="4149598"/>
              <a:ext cx="0" cy="4001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4EB9B89D-0AFE-1934-1ED0-5A00AEA6B8D6}"/>
                </a:ext>
              </a:extLst>
            </p:cNvPr>
            <p:cNvCxnSpPr>
              <a:cxnSpLocks/>
              <a:stCxn id="41" idx="6"/>
              <a:endCxn id="41" idx="2"/>
            </p:cNvCxnSpPr>
            <p:nvPr/>
          </p:nvCxnSpPr>
          <p:spPr>
            <a:xfrm flipH="1">
              <a:off x="6877012" y="4349689"/>
              <a:ext cx="40018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53" name="Straight Arrow Connector 52">
            <a:extLst>
              <a:ext uri="{FF2B5EF4-FFF2-40B4-BE49-F238E27FC236}">
                <a16:creationId xmlns:a16="http://schemas.microsoft.com/office/drawing/2014/main" id="{CF403295-266B-D2A0-0B75-50ECD910BE35}"/>
              </a:ext>
            </a:extLst>
          </p:cNvPr>
          <p:cNvCxnSpPr>
            <a:cxnSpLocks/>
            <a:stCxn id="16" idx="2"/>
            <a:endCxn id="55" idx="0"/>
          </p:cNvCxnSpPr>
          <p:nvPr/>
        </p:nvCxnSpPr>
        <p:spPr>
          <a:xfrm flipH="1">
            <a:off x="9049473" y="2247387"/>
            <a:ext cx="1" cy="189725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54" name="Group 53">
            <a:extLst>
              <a:ext uri="{FF2B5EF4-FFF2-40B4-BE49-F238E27FC236}">
                <a16:creationId xmlns:a16="http://schemas.microsoft.com/office/drawing/2014/main" id="{98977094-943C-E7AF-DA87-A3ACF88558C0}"/>
              </a:ext>
            </a:extLst>
          </p:cNvPr>
          <p:cNvGrpSpPr/>
          <p:nvPr/>
        </p:nvGrpSpPr>
        <p:grpSpPr>
          <a:xfrm>
            <a:off x="8849382" y="4144646"/>
            <a:ext cx="400181" cy="400181"/>
            <a:chOff x="6877012" y="4149598"/>
            <a:chExt cx="400181" cy="400181"/>
          </a:xfrm>
        </p:grpSpPr>
        <p:sp>
          <p:nvSpPr>
            <p:cNvPr id="55" name="Oval 54">
              <a:extLst>
                <a:ext uri="{FF2B5EF4-FFF2-40B4-BE49-F238E27FC236}">
                  <a16:creationId xmlns:a16="http://schemas.microsoft.com/office/drawing/2014/main" id="{4D48002A-D8E5-4006-0D77-C1CAEEE1E3F6}"/>
                </a:ext>
              </a:extLst>
            </p:cNvPr>
            <p:cNvSpPr/>
            <p:nvPr/>
          </p:nvSpPr>
          <p:spPr>
            <a:xfrm>
              <a:off x="6877012" y="4149598"/>
              <a:ext cx="400181" cy="400181"/>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6" name="Straight Connector 55">
              <a:extLst>
                <a:ext uri="{FF2B5EF4-FFF2-40B4-BE49-F238E27FC236}">
                  <a16:creationId xmlns:a16="http://schemas.microsoft.com/office/drawing/2014/main" id="{120B6517-147D-BC02-63E7-92930CD8B9BC}"/>
                </a:ext>
              </a:extLst>
            </p:cNvPr>
            <p:cNvCxnSpPr>
              <a:cxnSpLocks/>
              <a:stCxn id="55" idx="0"/>
              <a:endCxn id="55" idx="4"/>
            </p:cNvCxnSpPr>
            <p:nvPr/>
          </p:nvCxnSpPr>
          <p:spPr>
            <a:xfrm>
              <a:off x="7077103" y="4149598"/>
              <a:ext cx="0" cy="4001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F68295F1-A406-530A-A541-6DBC709BC182}"/>
                </a:ext>
              </a:extLst>
            </p:cNvPr>
            <p:cNvCxnSpPr>
              <a:cxnSpLocks/>
              <a:stCxn id="55" idx="6"/>
              <a:endCxn id="55" idx="2"/>
            </p:cNvCxnSpPr>
            <p:nvPr/>
          </p:nvCxnSpPr>
          <p:spPr>
            <a:xfrm flipH="1">
              <a:off x="6877012" y="4349689"/>
              <a:ext cx="40018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59" name="Rectangle 58">
            <a:hlinkClick r:id="rId2" action="ppaction://hlinksldjump"/>
            <a:extLst>
              <a:ext uri="{FF2B5EF4-FFF2-40B4-BE49-F238E27FC236}">
                <a16:creationId xmlns:a16="http://schemas.microsoft.com/office/drawing/2014/main" id="{E41AD7BD-07D9-0A18-B00A-C042390959E9}"/>
              </a:ext>
            </a:extLst>
          </p:cNvPr>
          <p:cNvSpPr/>
          <p:nvPr/>
        </p:nvSpPr>
        <p:spPr>
          <a:xfrm>
            <a:off x="3851910" y="2745669"/>
            <a:ext cx="498319"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hlinkClick r:id="rId2" action="ppaction://hlinksldjump"/>
            <a:extLst>
              <a:ext uri="{FF2B5EF4-FFF2-40B4-BE49-F238E27FC236}">
                <a16:creationId xmlns:a16="http://schemas.microsoft.com/office/drawing/2014/main" id="{B3D86C4B-A6BB-55E8-A33B-CCED48B941A8}"/>
              </a:ext>
            </a:extLst>
          </p:cNvPr>
          <p:cNvSpPr txBox="1"/>
          <p:nvPr/>
        </p:nvSpPr>
        <p:spPr>
          <a:xfrm>
            <a:off x="3951062" y="2722808"/>
            <a:ext cx="296876" cy="369332"/>
          </a:xfrm>
          <a:prstGeom prst="rect">
            <a:avLst/>
          </a:prstGeom>
          <a:noFill/>
        </p:spPr>
        <p:txBody>
          <a:bodyPr wrap="square" rtlCol="0">
            <a:spAutoFit/>
          </a:bodyPr>
          <a:lstStyle/>
          <a:p>
            <a:r>
              <a:rPr lang="en-US" dirty="0"/>
              <a:t>g</a:t>
            </a:r>
          </a:p>
        </p:txBody>
      </p:sp>
      <p:cxnSp>
        <p:nvCxnSpPr>
          <p:cNvPr id="61" name="Straight Arrow Connector 60">
            <a:extLst>
              <a:ext uri="{FF2B5EF4-FFF2-40B4-BE49-F238E27FC236}">
                <a16:creationId xmlns:a16="http://schemas.microsoft.com/office/drawing/2014/main" id="{F15FCDFC-96D2-DB42-A135-80424BA6A6B1}"/>
              </a:ext>
            </a:extLst>
          </p:cNvPr>
          <p:cNvCxnSpPr>
            <a:cxnSpLocks/>
            <a:endCxn id="59" idx="3"/>
          </p:cNvCxnSpPr>
          <p:nvPr/>
        </p:nvCxnSpPr>
        <p:spPr>
          <a:xfrm flipH="1">
            <a:off x="4350229" y="2945759"/>
            <a:ext cx="4699243" cy="25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7196D3C5-5E0F-C092-3E44-5B65865B78BC}"/>
              </a:ext>
            </a:extLst>
          </p:cNvPr>
          <p:cNvCxnSpPr>
            <a:cxnSpLocks/>
            <a:stCxn id="59" idx="1"/>
            <a:endCxn id="24" idx="6"/>
          </p:cNvCxnSpPr>
          <p:nvPr/>
        </p:nvCxnSpPr>
        <p:spPr>
          <a:xfrm flipH="1" flipV="1">
            <a:off x="3369125" y="2945760"/>
            <a:ext cx="482785" cy="25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358F9BD4-D98B-C2AF-7216-6E2D09A720DA}"/>
              </a:ext>
            </a:extLst>
          </p:cNvPr>
          <p:cNvCxnSpPr>
            <a:cxnSpLocks/>
            <a:stCxn id="24" idx="4"/>
            <a:endCxn id="77" idx="0"/>
          </p:cNvCxnSpPr>
          <p:nvPr/>
        </p:nvCxnSpPr>
        <p:spPr>
          <a:xfrm flipH="1">
            <a:off x="3162846" y="3145850"/>
            <a:ext cx="6189" cy="229528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76" name="Group 75">
            <a:extLst>
              <a:ext uri="{FF2B5EF4-FFF2-40B4-BE49-F238E27FC236}">
                <a16:creationId xmlns:a16="http://schemas.microsoft.com/office/drawing/2014/main" id="{084CDE17-4D18-EB16-AF1F-D5FB4CCF175D}"/>
              </a:ext>
            </a:extLst>
          </p:cNvPr>
          <p:cNvGrpSpPr/>
          <p:nvPr/>
        </p:nvGrpSpPr>
        <p:grpSpPr>
          <a:xfrm>
            <a:off x="2181741" y="5441131"/>
            <a:ext cx="7848837" cy="400685"/>
            <a:chOff x="1968263" y="1055622"/>
            <a:chExt cx="5157152" cy="401190"/>
          </a:xfrm>
        </p:grpSpPr>
        <p:sp>
          <p:nvSpPr>
            <p:cNvPr id="77" name="Rectangle 76">
              <a:extLst>
                <a:ext uri="{FF2B5EF4-FFF2-40B4-BE49-F238E27FC236}">
                  <a16:creationId xmlns:a16="http://schemas.microsoft.com/office/drawing/2014/main" id="{A82F8E07-952B-F182-3F49-C4935716922F}"/>
                </a:ext>
              </a:extLst>
            </p:cNvPr>
            <p:cNvSpPr>
              <a:spLocks/>
            </p:cNvSpPr>
            <p:nvPr/>
          </p:nvSpPr>
          <p:spPr>
            <a:xfrm>
              <a:off x="1968263" y="1055623"/>
              <a:ext cx="1289288"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1AFEE3BB-8303-4BD1-8178-9049FE61DDDE}"/>
                </a:ext>
              </a:extLst>
            </p:cNvPr>
            <p:cNvSpPr>
              <a:spLocks/>
            </p:cNvSpPr>
            <p:nvPr/>
          </p:nvSpPr>
          <p:spPr>
            <a:xfrm>
              <a:off x="5836127" y="1055622"/>
              <a:ext cx="1289288"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E8B09B24-F4F0-2AA5-33DB-75A0497055BC}"/>
                </a:ext>
              </a:extLst>
            </p:cNvPr>
            <p:cNvSpPr>
              <a:spLocks/>
            </p:cNvSpPr>
            <p:nvPr/>
          </p:nvSpPr>
          <p:spPr>
            <a:xfrm>
              <a:off x="4546839" y="1056127"/>
              <a:ext cx="1289288"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C59DDC04-6722-758D-5A04-6102E674EA29}"/>
                </a:ext>
              </a:extLst>
            </p:cNvPr>
            <p:cNvSpPr>
              <a:spLocks/>
            </p:cNvSpPr>
            <p:nvPr/>
          </p:nvSpPr>
          <p:spPr>
            <a:xfrm>
              <a:off x="3257551" y="1055622"/>
              <a:ext cx="1289288"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82" name="Straight Arrow Connector 81">
            <a:extLst>
              <a:ext uri="{FF2B5EF4-FFF2-40B4-BE49-F238E27FC236}">
                <a16:creationId xmlns:a16="http://schemas.microsoft.com/office/drawing/2014/main" id="{3EDCA240-FF6D-F4E3-9689-DFF696A568A6}"/>
              </a:ext>
            </a:extLst>
          </p:cNvPr>
          <p:cNvCxnSpPr>
            <a:cxnSpLocks/>
            <a:stCxn id="33" idx="4"/>
            <a:endCxn id="80" idx="0"/>
          </p:cNvCxnSpPr>
          <p:nvPr/>
        </p:nvCxnSpPr>
        <p:spPr>
          <a:xfrm flipH="1">
            <a:off x="5125055" y="3744465"/>
            <a:ext cx="6348" cy="169666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5" name="Straight Arrow Connector 84">
            <a:extLst>
              <a:ext uri="{FF2B5EF4-FFF2-40B4-BE49-F238E27FC236}">
                <a16:creationId xmlns:a16="http://schemas.microsoft.com/office/drawing/2014/main" id="{C5CB6E7E-6B9E-713B-FCFD-D555A45970C6}"/>
              </a:ext>
            </a:extLst>
          </p:cNvPr>
          <p:cNvCxnSpPr>
            <a:cxnSpLocks/>
            <a:stCxn id="41" idx="4"/>
            <a:endCxn id="79" idx="0"/>
          </p:cNvCxnSpPr>
          <p:nvPr/>
        </p:nvCxnSpPr>
        <p:spPr>
          <a:xfrm>
            <a:off x="7087264" y="4144646"/>
            <a:ext cx="1" cy="129698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74371038-6118-6B86-C83F-2818FEF4F1A7}"/>
              </a:ext>
            </a:extLst>
          </p:cNvPr>
          <p:cNvCxnSpPr>
            <a:cxnSpLocks/>
            <a:stCxn id="55" idx="4"/>
            <a:endCxn id="78" idx="0"/>
          </p:cNvCxnSpPr>
          <p:nvPr/>
        </p:nvCxnSpPr>
        <p:spPr>
          <a:xfrm>
            <a:off x="9049473" y="4544827"/>
            <a:ext cx="1" cy="89630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5EE3569B-3BB7-5176-33A1-1F4C28B867EA}"/>
              </a:ext>
            </a:extLst>
          </p:cNvPr>
          <p:cNvCxnSpPr>
            <a:cxnSpLocks/>
            <a:endCxn id="33" idx="2"/>
          </p:cNvCxnSpPr>
          <p:nvPr/>
        </p:nvCxnSpPr>
        <p:spPr>
          <a:xfrm>
            <a:off x="3169195" y="3544375"/>
            <a:ext cx="1762117"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5" name="Straight Arrow Connector 94">
            <a:extLst>
              <a:ext uri="{FF2B5EF4-FFF2-40B4-BE49-F238E27FC236}">
                <a16:creationId xmlns:a16="http://schemas.microsoft.com/office/drawing/2014/main" id="{837B5E44-9CC9-954D-FE9E-DD197F71D558}"/>
              </a:ext>
            </a:extLst>
          </p:cNvPr>
          <p:cNvCxnSpPr>
            <a:cxnSpLocks/>
          </p:cNvCxnSpPr>
          <p:nvPr/>
        </p:nvCxnSpPr>
        <p:spPr>
          <a:xfrm>
            <a:off x="5131404" y="3944555"/>
            <a:ext cx="1762117"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5B7FA757-E822-6FBF-9445-82E2EDF73EFD}"/>
              </a:ext>
            </a:extLst>
          </p:cNvPr>
          <p:cNvCxnSpPr>
            <a:cxnSpLocks/>
          </p:cNvCxnSpPr>
          <p:nvPr/>
        </p:nvCxnSpPr>
        <p:spPr>
          <a:xfrm>
            <a:off x="7077103" y="4344736"/>
            <a:ext cx="1762117"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7" name="Oval 96">
            <a:extLst>
              <a:ext uri="{FF2B5EF4-FFF2-40B4-BE49-F238E27FC236}">
                <a16:creationId xmlns:a16="http://schemas.microsoft.com/office/drawing/2014/main" id="{42CCEF5B-A189-5CC6-6847-29CE2E1A356E}"/>
              </a:ext>
            </a:extLst>
          </p:cNvPr>
          <p:cNvSpPr/>
          <p:nvPr/>
        </p:nvSpPr>
        <p:spPr>
          <a:xfrm>
            <a:off x="3137960" y="3514657"/>
            <a:ext cx="65649" cy="6564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B110F815-6A88-12C5-635E-6D8622C94F89}"/>
              </a:ext>
            </a:extLst>
          </p:cNvPr>
          <p:cNvSpPr/>
          <p:nvPr/>
        </p:nvSpPr>
        <p:spPr>
          <a:xfrm>
            <a:off x="9016647" y="2915131"/>
            <a:ext cx="65649" cy="6564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3685EEB4-AEB8-A096-6433-D4620B32118C}"/>
              </a:ext>
            </a:extLst>
          </p:cNvPr>
          <p:cNvSpPr/>
          <p:nvPr/>
        </p:nvSpPr>
        <p:spPr>
          <a:xfrm>
            <a:off x="5095404" y="3920502"/>
            <a:ext cx="65649" cy="6564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C4B390DA-291F-79E6-ED51-5EEB422CA945}"/>
              </a:ext>
            </a:extLst>
          </p:cNvPr>
          <p:cNvSpPr/>
          <p:nvPr/>
        </p:nvSpPr>
        <p:spPr>
          <a:xfrm>
            <a:off x="7052979" y="4314255"/>
            <a:ext cx="65649" cy="6564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1" name="Straight Connector 100">
            <a:extLst>
              <a:ext uri="{FF2B5EF4-FFF2-40B4-BE49-F238E27FC236}">
                <a16:creationId xmlns:a16="http://schemas.microsoft.com/office/drawing/2014/main" id="{A600196E-EEE4-178D-A7A2-D6E44E4A1678}"/>
              </a:ext>
            </a:extLst>
          </p:cNvPr>
          <p:cNvCxnSpPr>
            <a:cxnSpLocks/>
          </p:cNvCxnSpPr>
          <p:nvPr/>
        </p:nvCxnSpPr>
        <p:spPr>
          <a:xfrm flipH="1">
            <a:off x="3104782" y="1491064"/>
            <a:ext cx="128825" cy="11392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1" name="Straight Connector 110">
            <a:extLst>
              <a:ext uri="{FF2B5EF4-FFF2-40B4-BE49-F238E27FC236}">
                <a16:creationId xmlns:a16="http://schemas.microsoft.com/office/drawing/2014/main" id="{D1941C54-B43B-FBD2-1297-63A240D956D7}"/>
              </a:ext>
            </a:extLst>
          </p:cNvPr>
          <p:cNvCxnSpPr>
            <a:cxnSpLocks/>
          </p:cNvCxnSpPr>
          <p:nvPr/>
        </p:nvCxnSpPr>
        <p:spPr>
          <a:xfrm flipH="1">
            <a:off x="5066991" y="1490072"/>
            <a:ext cx="128825" cy="11392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2" name="Straight Connector 111">
            <a:extLst>
              <a:ext uri="{FF2B5EF4-FFF2-40B4-BE49-F238E27FC236}">
                <a16:creationId xmlns:a16="http://schemas.microsoft.com/office/drawing/2014/main" id="{472B0ED7-69D2-975D-D403-D802493D58AC}"/>
              </a:ext>
            </a:extLst>
          </p:cNvPr>
          <p:cNvCxnSpPr>
            <a:cxnSpLocks/>
          </p:cNvCxnSpPr>
          <p:nvPr/>
        </p:nvCxnSpPr>
        <p:spPr>
          <a:xfrm flipH="1">
            <a:off x="7012690" y="1491064"/>
            <a:ext cx="128825" cy="11392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5450C989-F794-1EEC-B368-C6C1228550AC}"/>
              </a:ext>
            </a:extLst>
          </p:cNvPr>
          <p:cNvCxnSpPr>
            <a:cxnSpLocks/>
          </p:cNvCxnSpPr>
          <p:nvPr/>
        </p:nvCxnSpPr>
        <p:spPr>
          <a:xfrm flipH="1">
            <a:off x="8985058" y="1496686"/>
            <a:ext cx="128825" cy="11392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14" name="TextBox 113">
            <a:extLst>
              <a:ext uri="{FF2B5EF4-FFF2-40B4-BE49-F238E27FC236}">
                <a16:creationId xmlns:a16="http://schemas.microsoft.com/office/drawing/2014/main" id="{7467FF75-6A23-2724-F323-C480C7166DBB}"/>
              </a:ext>
            </a:extLst>
          </p:cNvPr>
          <p:cNvSpPr txBox="1"/>
          <p:nvPr/>
        </p:nvSpPr>
        <p:spPr>
          <a:xfrm>
            <a:off x="2273695" y="986332"/>
            <a:ext cx="1778299" cy="369332"/>
          </a:xfrm>
          <a:prstGeom prst="rect">
            <a:avLst/>
          </a:prstGeom>
          <a:noFill/>
        </p:spPr>
        <p:txBody>
          <a:bodyPr wrap="square" rtlCol="0">
            <a:spAutoFit/>
          </a:bodyPr>
          <a:lstStyle/>
          <a:p>
            <a:r>
              <a:rPr lang="en-US" dirty="0"/>
              <a:t>K0    K1    K2    K3</a:t>
            </a:r>
          </a:p>
        </p:txBody>
      </p:sp>
      <p:sp>
        <p:nvSpPr>
          <p:cNvPr id="115" name="TextBox 114">
            <a:extLst>
              <a:ext uri="{FF2B5EF4-FFF2-40B4-BE49-F238E27FC236}">
                <a16:creationId xmlns:a16="http://schemas.microsoft.com/office/drawing/2014/main" id="{8D52DAE7-DEF2-E2BC-5740-0FB2EFFA4C02}"/>
              </a:ext>
            </a:extLst>
          </p:cNvPr>
          <p:cNvSpPr txBox="1"/>
          <p:nvPr/>
        </p:nvSpPr>
        <p:spPr>
          <a:xfrm>
            <a:off x="4242803" y="992677"/>
            <a:ext cx="1778299" cy="369332"/>
          </a:xfrm>
          <a:prstGeom prst="rect">
            <a:avLst/>
          </a:prstGeom>
          <a:noFill/>
        </p:spPr>
        <p:txBody>
          <a:bodyPr wrap="square" rtlCol="0">
            <a:spAutoFit/>
          </a:bodyPr>
          <a:lstStyle/>
          <a:p>
            <a:r>
              <a:rPr lang="en-US" dirty="0"/>
              <a:t>K4    K5    K6    K7</a:t>
            </a:r>
          </a:p>
        </p:txBody>
      </p:sp>
      <p:sp>
        <p:nvSpPr>
          <p:cNvPr id="116" name="TextBox 115">
            <a:extLst>
              <a:ext uri="{FF2B5EF4-FFF2-40B4-BE49-F238E27FC236}">
                <a16:creationId xmlns:a16="http://schemas.microsoft.com/office/drawing/2014/main" id="{2EB92A85-CAA3-0DCB-07A5-2ECA47F07CA3}"/>
              </a:ext>
            </a:extLst>
          </p:cNvPr>
          <p:cNvSpPr txBox="1"/>
          <p:nvPr/>
        </p:nvSpPr>
        <p:spPr>
          <a:xfrm>
            <a:off x="6126718" y="978484"/>
            <a:ext cx="1921330" cy="369332"/>
          </a:xfrm>
          <a:prstGeom prst="rect">
            <a:avLst/>
          </a:prstGeom>
          <a:noFill/>
        </p:spPr>
        <p:txBody>
          <a:bodyPr wrap="square" rtlCol="0">
            <a:spAutoFit/>
          </a:bodyPr>
          <a:lstStyle/>
          <a:p>
            <a:r>
              <a:rPr lang="en-US" dirty="0"/>
              <a:t>K8    K9   K10   K11</a:t>
            </a:r>
          </a:p>
        </p:txBody>
      </p:sp>
      <p:sp>
        <p:nvSpPr>
          <p:cNvPr id="117" name="TextBox 116">
            <a:extLst>
              <a:ext uri="{FF2B5EF4-FFF2-40B4-BE49-F238E27FC236}">
                <a16:creationId xmlns:a16="http://schemas.microsoft.com/office/drawing/2014/main" id="{85496246-E14F-9921-5C04-97C3CE082AB6}"/>
              </a:ext>
            </a:extLst>
          </p:cNvPr>
          <p:cNvSpPr txBox="1"/>
          <p:nvPr/>
        </p:nvSpPr>
        <p:spPr>
          <a:xfrm>
            <a:off x="8078766" y="979225"/>
            <a:ext cx="1962209" cy="369332"/>
          </a:xfrm>
          <a:prstGeom prst="rect">
            <a:avLst/>
          </a:prstGeom>
          <a:noFill/>
        </p:spPr>
        <p:txBody>
          <a:bodyPr wrap="square" rtlCol="0">
            <a:spAutoFit/>
          </a:bodyPr>
          <a:lstStyle/>
          <a:p>
            <a:r>
              <a:rPr lang="en-US" dirty="0"/>
              <a:t>K12  K13  K14  K15</a:t>
            </a:r>
          </a:p>
        </p:txBody>
      </p:sp>
      <p:sp>
        <p:nvSpPr>
          <p:cNvPr id="118" name="TextBox 117">
            <a:extLst>
              <a:ext uri="{FF2B5EF4-FFF2-40B4-BE49-F238E27FC236}">
                <a16:creationId xmlns:a16="http://schemas.microsoft.com/office/drawing/2014/main" id="{2B4F9A9F-DF7A-EDD4-AA8C-4C53D588EDAC}"/>
              </a:ext>
            </a:extLst>
          </p:cNvPr>
          <p:cNvSpPr txBox="1"/>
          <p:nvPr/>
        </p:nvSpPr>
        <p:spPr>
          <a:xfrm>
            <a:off x="3179356" y="1404063"/>
            <a:ext cx="457925" cy="369332"/>
          </a:xfrm>
          <a:prstGeom prst="rect">
            <a:avLst/>
          </a:prstGeom>
          <a:noFill/>
        </p:spPr>
        <p:txBody>
          <a:bodyPr wrap="square" rtlCol="0">
            <a:spAutoFit/>
          </a:bodyPr>
          <a:lstStyle/>
          <a:p>
            <a:r>
              <a:rPr lang="en-US" dirty="0"/>
              <a:t>32</a:t>
            </a:r>
          </a:p>
        </p:txBody>
      </p:sp>
      <p:sp>
        <p:nvSpPr>
          <p:cNvPr id="119" name="TextBox 118">
            <a:extLst>
              <a:ext uri="{FF2B5EF4-FFF2-40B4-BE49-F238E27FC236}">
                <a16:creationId xmlns:a16="http://schemas.microsoft.com/office/drawing/2014/main" id="{2E15D916-8CF7-48B9-AB7E-F34B6CFD77E8}"/>
              </a:ext>
            </a:extLst>
          </p:cNvPr>
          <p:cNvSpPr txBox="1"/>
          <p:nvPr/>
        </p:nvSpPr>
        <p:spPr>
          <a:xfrm>
            <a:off x="5134861" y="1406017"/>
            <a:ext cx="457925" cy="369332"/>
          </a:xfrm>
          <a:prstGeom prst="rect">
            <a:avLst/>
          </a:prstGeom>
          <a:noFill/>
        </p:spPr>
        <p:txBody>
          <a:bodyPr wrap="square" rtlCol="0">
            <a:spAutoFit/>
          </a:bodyPr>
          <a:lstStyle/>
          <a:p>
            <a:r>
              <a:rPr lang="en-US" dirty="0"/>
              <a:t>32</a:t>
            </a:r>
          </a:p>
        </p:txBody>
      </p:sp>
      <p:sp>
        <p:nvSpPr>
          <p:cNvPr id="120" name="TextBox 119">
            <a:extLst>
              <a:ext uri="{FF2B5EF4-FFF2-40B4-BE49-F238E27FC236}">
                <a16:creationId xmlns:a16="http://schemas.microsoft.com/office/drawing/2014/main" id="{3F24BC49-CF8E-B6AE-59DA-8E0633A0BCFE}"/>
              </a:ext>
            </a:extLst>
          </p:cNvPr>
          <p:cNvSpPr txBox="1"/>
          <p:nvPr/>
        </p:nvSpPr>
        <p:spPr>
          <a:xfrm>
            <a:off x="7105661" y="1399332"/>
            <a:ext cx="457925" cy="369332"/>
          </a:xfrm>
          <a:prstGeom prst="rect">
            <a:avLst/>
          </a:prstGeom>
          <a:noFill/>
        </p:spPr>
        <p:txBody>
          <a:bodyPr wrap="square" rtlCol="0">
            <a:spAutoFit/>
          </a:bodyPr>
          <a:lstStyle/>
          <a:p>
            <a:r>
              <a:rPr lang="en-US" dirty="0"/>
              <a:t>32</a:t>
            </a:r>
          </a:p>
        </p:txBody>
      </p:sp>
      <p:sp>
        <p:nvSpPr>
          <p:cNvPr id="121" name="TextBox 120">
            <a:extLst>
              <a:ext uri="{FF2B5EF4-FFF2-40B4-BE49-F238E27FC236}">
                <a16:creationId xmlns:a16="http://schemas.microsoft.com/office/drawing/2014/main" id="{F4B669A6-541D-096A-45B9-4D819567F003}"/>
              </a:ext>
            </a:extLst>
          </p:cNvPr>
          <p:cNvSpPr txBox="1"/>
          <p:nvPr/>
        </p:nvSpPr>
        <p:spPr>
          <a:xfrm>
            <a:off x="9077020" y="1425944"/>
            <a:ext cx="457925" cy="369332"/>
          </a:xfrm>
          <a:prstGeom prst="rect">
            <a:avLst/>
          </a:prstGeom>
          <a:noFill/>
        </p:spPr>
        <p:txBody>
          <a:bodyPr wrap="square" rtlCol="0">
            <a:spAutoFit/>
          </a:bodyPr>
          <a:lstStyle/>
          <a:p>
            <a:r>
              <a:rPr lang="en-US" dirty="0"/>
              <a:t>32</a:t>
            </a:r>
          </a:p>
        </p:txBody>
      </p:sp>
      <p:sp>
        <p:nvSpPr>
          <p:cNvPr id="122" name="TextBox 121">
            <a:extLst>
              <a:ext uri="{FF2B5EF4-FFF2-40B4-BE49-F238E27FC236}">
                <a16:creationId xmlns:a16="http://schemas.microsoft.com/office/drawing/2014/main" id="{098956C7-D911-F1F1-A226-E8F123FF099F}"/>
              </a:ext>
            </a:extLst>
          </p:cNvPr>
          <p:cNvSpPr txBox="1"/>
          <p:nvPr/>
        </p:nvSpPr>
        <p:spPr>
          <a:xfrm>
            <a:off x="2273695" y="1857819"/>
            <a:ext cx="1778299" cy="369332"/>
          </a:xfrm>
          <a:prstGeom prst="rect">
            <a:avLst/>
          </a:prstGeom>
          <a:noFill/>
        </p:spPr>
        <p:txBody>
          <a:bodyPr wrap="square" rtlCol="0">
            <a:spAutoFit/>
          </a:bodyPr>
          <a:lstStyle/>
          <a:p>
            <a:pPr algn="ctr"/>
            <a:r>
              <a:rPr lang="en-US" dirty="0"/>
              <a:t>W[0]</a:t>
            </a:r>
          </a:p>
        </p:txBody>
      </p:sp>
      <p:sp>
        <p:nvSpPr>
          <p:cNvPr id="123" name="TextBox 122">
            <a:extLst>
              <a:ext uri="{FF2B5EF4-FFF2-40B4-BE49-F238E27FC236}">
                <a16:creationId xmlns:a16="http://schemas.microsoft.com/office/drawing/2014/main" id="{8B07DD4C-88D2-474C-1612-C268E2ADB8F6}"/>
              </a:ext>
            </a:extLst>
          </p:cNvPr>
          <p:cNvSpPr txBox="1"/>
          <p:nvPr/>
        </p:nvSpPr>
        <p:spPr>
          <a:xfrm>
            <a:off x="4174521" y="1861520"/>
            <a:ext cx="1778299" cy="369332"/>
          </a:xfrm>
          <a:prstGeom prst="rect">
            <a:avLst/>
          </a:prstGeom>
          <a:noFill/>
        </p:spPr>
        <p:txBody>
          <a:bodyPr wrap="square" rtlCol="0">
            <a:spAutoFit/>
          </a:bodyPr>
          <a:lstStyle/>
          <a:p>
            <a:pPr algn="ctr"/>
            <a:r>
              <a:rPr lang="en-US" dirty="0"/>
              <a:t>W[1]</a:t>
            </a:r>
          </a:p>
        </p:txBody>
      </p:sp>
      <p:sp>
        <p:nvSpPr>
          <p:cNvPr id="124" name="TextBox 123">
            <a:extLst>
              <a:ext uri="{FF2B5EF4-FFF2-40B4-BE49-F238E27FC236}">
                <a16:creationId xmlns:a16="http://schemas.microsoft.com/office/drawing/2014/main" id="{D56D91C6-8658-937A-3635-9E9C8EDD76B1}"/>
              </a:ext>
            </a:extLst>
          </p:cNvPr>
          <p:cNvSpPr txBox="1"/>
          <p:nvPr/>
        </p:nvSpPr>
        <p:spPr>
          <a:xfrm>
            <a:off x="6126718" y="1849971"/>
            <a:ext cx="1921330" cy="369332"/>
          </a:xfrm>
          <a:prstGeom prst="rect">
            <a:avLst/>
          </a:prstGeom>
          <a:noFill/>
        </p:spPr>
        <p:txBody>
          <a:bodyPr wrap="square" rtlCol="0">
            <a:spAutoFit/>
          </a:bodyPr>
          <a:lstStyle/>
          <a:p>
            <a:pPr algn="ctr"/>
            <a:r>
              <a:rPr lang="en-US" dirty="0"/>
              <a:t>W[2]</a:t>
            </a:r>
          </a:p>
        </p:txBody>
      </p:sp>
      <p:sp>
        <p:nvSpPr>
          <p:cNvPr id="125" name="TextBox 124">
            <a:extLst>
              <a:ext uri="{FF2B5EF4-FFF2-40B4-BE49-F238E27FC236}">
                <a16:creationId xmlns:a16="http://schemas.microsoft.com/office/drawing/2014/main" id="{780F11DA-1D08-3D21-7B4B-672ACD9A95D7}"/>
              </a:ext>
            </a:extLst>
          </p:cNvPr>
          <p:cNvSpPr txBox="1"/>
          <p:nvPr/>
        </p:nvSpPr>
        <p:spPr>
          <a:xfrm>
            <a:off x="8078766" y="1850712"/>
            <a:ext cx="1941889" cy="369332"/>
          </a:xfrm>
          <a:prstGeom prst="rect">
            <a:avLst/>
          </a:prstGeom>
          <a:noFill/>
        </p:spPr>
        <p:txBody>
          <a:bodyPr wrap="square" rtlCol="0">
            <a:spAutoFit/>
          </a:bodyPr>
          <a:lstStyle/>
          <a:p>
            <a:pPr algn="ctr"/>
            <a:r>
              <a:rPr lang="en-US" dirty="0"/>
              <a:t>W[3]</a:t>
            </a:r>
          </a:p>
        </p:txBody>
      </p:sp>
      <p:sp>
        <p:nvSpPr>
          <p:cNvPr id="126" name="TextBox 125">
            <a:extLst>
              <a:ext uri="{FF2B5EF4-FFF2-40B4-BE49-F238E27FC236}">
                <a16:creationId xmlns:a16="http://schemas.microsoft.com/office/drawing/2014/main" id="{F80D4BF4-5A69-0E59-CE82-EE277FA94604}"/>
              </a:ext>
            </a:extLst>
          </p:cNvPr>
          <p:cNvSpPr txBox="1"/>
          <p:nvPr/>
        </p:nvSpPr>
        <p:spPr>
          <a:xfrm>
            <a:off x="2273695" y="5440350"/>
            <a:ext cx="1778299" cy="369332"/>
          </a:xfrm>
          <a:prstGeom prst="rect">
            <a:avLst/>
          </a:prstGeom>
          <a:noFill/>
        </p:spPr>
        <p:txBody>
          <a:bodyPr wrap="square" rtlCol="0">
            <a:spAutoFit/>
          </a:bodyPr>
          <a:lstStyle/>
          <a:p>
            <a:pPr algn="ctr"/>
            <a:r>
              <a:rPr lang="en-US" dirty="0"/>
              <a:t>W[4]</a:t>
            </a:r>
          </a:p>
        </p:txBody>
      </p:sp>
      <p:sp>
        <p:nvSpPr>
          <p:cNvPr id="127" name="TextBox 126">
            <a:extLst>
              <a:ext uri="{FF2B5EF4-FFF2-40B4-BE49-F238E27FC236}">
                <a16:creationId xmlns:a16="http://schemas.microsoft.com/office/drawing/2014/main" id="{B7BD6C84-7457-F838-5DD8-ED66E45A68E8}"/>
              </a:ext>
            </a:extLst>
          </p:cNvPr>
          <p:cNvSpPr txBox="1"/>
          <p:nvPr/>
        </p:nvSpPr>
        <p:spPr>
          <a:xfrm>
            <a:off x="4174521" y="5444051"/>
            <a:ext cx="1778299" cy="369332"/>
          </a:xfrm>
          <a:prstGeom prst="rect">
            <a:avLst/>
          </a:prstGeom>
          <a:noFill/>
        </p:spPr>
        <p:txBody>
          <a:bodyPr wrap="square" rtlCol="0">
            <a:spAutoFit/>
          </a:bodyPr>
          <a:lstStyle/>
          <a:p>
            <a:pPr algn="ctr"/>
            <a:r>
              <a:rPr lang="en-US" dirty="0"/>
              <a:t>W[5]</a:t>
            </a:r>
          </a:p>
        </p:txBody>
      </p:sp>
      <p:sp>
        <p:nvSpPr>
          <p:cNvPr id="128" name="TextBox 127">
            <a:extLst>
              <a:ext uri="{FF2B5EF4-FFF2-40B4-BE49-F238E27FC236}">
                <a16:creationId xmlns:a16="http://schemas.microsoft.com/office/drawing/2014/main" id="{787E5195-C7A3-7404-F911-8E7236CF253F}"/>
              </a:ext>
            </a:extLst>
          </p:cNvPr>
          <p:cNvSpPr txBox="1"/>
          <p:nvPr/>
        </p:nvSpPr>
        <p:spPr>
          <a:xfrm>
            <a:off x="6126718" y="5432502"/>
            <a:ext cx="1921330" cy="369332"/>
          </a:xfrm>
          <a:prstGeom prst="rect">
            <a:avLst/>
          </a:prstGeom>
          <a:noFill/>
        </p:spPr>
        <p:txBody>
          <a:bodyPr wrap="square" rtlCol="0">
            <a:spAutoFit/>
          </a:bodyPr>
          <a:lstStyle/>
          <a:p>
            <a:pPr algn="ctr"/>
            <a:r>
              <a:rPr lang="en-US" dirty="0"/>
              <a:t>W[6]</a:t>
            </a:r>
          </a:p>
        </p:txBody>
      </p:sp>
      <p:sp>
        <p:nvSpPr>
          <p:cNvPr id="129" name="TextBox 128">
            <a:extLst>
              <a:ext uri="{FF2B5EF4-FFF2-40B4-BE49-F238E27FC236}">
                <a16:creationId xmlns:a16="http://schemas.microsoft.com/office/drawing/2014/main" id="{612633EB-9AF0-23D8-79A4-DBE254123920}"/>
              </a:ext>
            </a:extLst>
          </p:cNvPr>
          <p:cNvSpPr txBox="1"/>
          <p:nvPr/>
        </p:nvSpPr>
        <p:spPr>
          <a:xfrm>
            <a:off x="8078766" y="5433243"/>
            <a:ext cx="1941889" cy="369332"/>
          </a:xfrm>
          <a:prstGeom prst="rect">
            <a:avLst/>
          </a:prstGeom>
          <a:noFill/>
        </p:spPr>
        <p:txBody>
          <a:bodyPr wrap="square" rtlCol="0">
            <a:spAutoFit/>
          </a:bodyPr>
          <a:lstStyle/>
          <a:p>
            <a:pPr algn="ctr"/>
            <a:r>
              <a:rPr lang="en-US" dirty="0"/>
              <a:t>W[8]</a:t>
            </a:r>
          </a:p>
        </p:txBody>
      </p:sp>
      <p:sp>
        <p:nvSpPr>
          <p:cNvPr id="130" name="TextBox 129">
            <a:extLst>
              <a:ext uri="{FF2B5EF4-FFF2-40B4-BE49-F238E27FC236}">
                <a16:creationId xmlns:a16="http://schemas.microsoft.com/office/drawing/2014/main" id="{29FFF562-8F9B-3854-F86D-1CE55A96927C}"/>
              </a:ext>
            </a:extLst>
          </p:cNvPr>
          <p:cNvSpPr txBox="1"/>
          <p:nvPr/>
        </p:nvSpPr>
        <p:spPr>
          <a:xfrm>
            <a:off x="209372" y="1849971"/>
            <a:ext cx="1778299" cy="369332"/>
          </a:xfrm>
          <a:prstGeom prst="rect">
            <a:avLst/>
          </a:prstGeom>
          <a:noFill/>
        </p:spPr>
        <p:txBody>
          <a:bodyPr wrap="square" rtlCol="0">
            <a:spAutoFit/>
          </a:bodyPr>
          <a:lstStyle/>
          <a:p>
            <a:pPr algn="ctr"/>
            <a:r>
              <a:rPr lang="en-US" dirty="0"/>
              <a:t>Round key 0</a:t>
            </a:r>
          </a:p>
        </p:txBody>
      </p:sp>
      <p:sp>
        <p:nvSpPr>
          <p:cNvPr id="131" name="TextBox 130">
            <a:extLst>
              <a:ext uri="{FF2B5EF4-FFF2-40B4-BE49-F238E27FC236}">
                <a16:creationId xmlns:a16="http://schemas.microsoft.com/office/drawing/2014/main" id="{40DECA99-FE44-4CBC-E748-2BE460A5DA59}"/>
              </a:ext>
            </a:extLst>
          </p:cNvPr>
          <p:cNvSpPr txBox="1"/>
          <p:nvPr/>
        </p:nvSpPr>
        <p:spPr>
          <a:xfrm>
            <a:off x="280915" y="5456555"/>
            <a:ext cx="1778299" cy="369332"/>
          </a:xfrm>
          <a:prstGeom prst="rect">
            <a:avLst/>
          </a:prstGeom>
          <a:noFill/>
        </p:spPr>
        <p:txBody>
          <a:bodyPr wrap="square" rtlCol="0">
            <a:spAutoFit/>
          </a:bodyPr>
          <a:lstStyle/>
          <a:p>
            <a:pPr algn="ctr"/>
            <a:r>
              <a:rPr lang="en-US" dirty="0"/>
              <a:t>Next round key</a:t>
            </a:r>
          </a:p>
        </p:txBody>
      </p:sp>
      <p:cxnSp>
        <p:nvCxnSpPr>
          <p:cNvPr id="132" name="Straight Connector 131">
            <a:extLst>
              <a:ext uri="{FF2B5EF4-FFF2-40B4-BE49-F238E27FC236}">
                <a16:creationId xmlns:a16="http://schemas.microsoft.com/office/drawing/2014/main" id="{D417B3D8-05FC-EBE2-8A73-2E617722E42E}"/>
              </a:ext>
            </a:extLst>
          </p:cNvPr>
          <p:cNvCxnSpPr>
            <a:cxnSpLocks/>
          </p:cNvCxnSpPr>
          <p:nvPr/>
        </p:nvCxnSpPr>
        <p:spPr>
          <a:xfrm>
            <a:off x="3148507" y="5841312"/>
            <a:ext cx="0" cy="4001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3" name="Straight Connector 132">
            <a:extLst>
              <a:ext uri="{FF2B5EF4-FFF2-40B4-BE49-F238E27FC236}">
                <a16:creationId xmlns:a16="http://schemas.microsoft.com/office/drawing/2014/main" id="{4DAA52E5-258D-5D34-0460-EB8459B07CC9}"/>
              </a:ext>
            </a:extLst>
          </p:cNvPr>
          <p:cNvCxnSpPr>
            <a:cxnSpLocks/>
          </p:cNvCxnSpPr>
          <p:nvPr/>
        </p:nvCxnSpPr>
        <p:spPr>
          <a:xfrm>
            <a:off x="5131404" y="5844760"/>
            <a:ext cx="0" cy="4001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4" name="Straight Connector 133">
            <a:extLst>
              <a:ext uri="{FF2B5EF4-FFF2-40B4-BE49-F238E27FC236}">
                <a16:creationId xmlns:a16="http://schemas.microsoft.com/office/drawing/2014/main" id="{180121B1-8001-5154-8407-01869DF5230A}"/>
              </a:ext>
            </a:extLst>
          </p:cNvPr>
          <p:cNvCxnSpPr>
            <a:cxnSpLocks/>
          </p:cNvCxnSpPr>
          <p:nvPr/>
        </p:nvCxnSpPr>
        <p:spPr>
          <a:xfrm>
            <a:off x="7091676" y="5841312"/>
            <a:ext cx="0" cy="4001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5" name="Straight Connector 134">
            <a:extLst>
              <a:ext uri="{FF2B5EF4-FFF2-40B4-BE49-F238E27FC236}">
                <a16:creationId xmlns:a16="http://schemas.microsoft.com/office/drawing/2014/main" id="{E928FCB2-96E3-11E0-9487-38080C452A40}"/>
              </a:ext>
            </a:extLst>
          </p:cNvPr>
          <p:cNvCxnSpPr>
            <a:cxnSpLocks/>
          </p:cNvCxnSpPr>
          <p:nvPr/>
        </p:nvCxnSpPr>
        <p:spPr>
          <a:xfrm>
            <a:off x="9071059" y="5841312"/>
            <a:ext cx="0" cy="4001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7" name="Straight Connector 136">
            <a:extLst>
              <a:ext uri="{FF2B5EF4-FFF2-40B4-BE49-F238E27FC236}">
                <a16:creationId xmlns:a16="http://schemas.microsoft.com/office/drawing/2014/main" id="{A547DA04-14DB-3B77-F0FA-DDFF4A8FC91F}"/>
              </a:ext>
            </a:extLst>
          </p:cNvPr>
          <p:cNvCxnSpPr>
            <a:cxnSpLocks/>
          </p:cNvCxnSpPr>
          <p:nvPr/>
        </p:nvCxnSpPr>
        <p:spPr>
          <a:xfrm>
            <a:off x="4133790" y="6041402"/>
            <a:ext cx="0" cy="400181"/>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38" name="Straight Connector 137">
            <a:extLst>
              <a:ext uri="{FF2B5EF4-FFF2-40B4-BE49-F238E27FC236}">
                <a16:creationId xmlns:a16="http://schemas.microsoft.com/office/drawing/2014/main" id="{0BD9C2AA-105F-164F-E6FA-B7D81E78D0BF}"/>
              </a:ext>
            </a:extLst>
          </p:cNvPr>
          <p:cNvCxnSpPr>
            <a:cxnSpLocks/>
          </p:cNvCxnSpPr>
          <p:nvPr/>
        </p:nvCxnSpPr>
        <p:spPr>
          <a:xfrm>
            <a:off x="8102599" y="6041402"/>
            <a:ext cx="0" cy="400181"/>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39" name="Straight Connector 138">
            <a:extLst>
              <a:ext uri="{FF2B5EF4-FFF2-40B4-BE49-F238E27FC236}">
                <a16:creationId xmlns:a16="http://schemas.microsoft.com/office/drawing/2014/main" id="{3FC33451-09F6-D263-E4AA-EC89CEED54CA}"/>
              </a:ext>
            </a:extLst>
          </p:cNvPr>
          <p:cNvCxnSpPr>
            <a:cxnSpLocks/>
          </p:cNvCxnSpPr>
          <p:nvPr/>
        </p:nvCxnSpPr>
        <p:spPr>
          <a:xfrm>
            <a:off x="6095999" y="6041402"/>
            <a:ext cx="0" cy="400181"/>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 name="Straight Arrow Connector 9">
            <a:extLst>
              <a:ext uri="{FF2B5EF4-FFF2-40B4-BE49-F238E27FC236}">
                <a16:creationId xmlns:a16="http://schemas.microsoft.com/office/drawing/2014/main" id="{76749B01-09EA-9E1F-2FDF-79DC13B5C9B5}"/>
              </a:ext>
            </a:extLst>
          </p:cNvPr>
          <p:cNvCxnSpPr>
            <a:cxnSpLocks/>
            <a:endCxn id="125" idx="3"/>
          </p:cNvCxnSpPr>
          <p:nvPr/>
        </p:nvCxnSpPr>
        <p:spPr>
          <a:xfrm flipH="1">
            <a:off x="10020655" y="2027751"/>
            <a:ext cx="666395" cy="762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D88307FD-9B46-FC4E-F4DC-972D02CB7335}"/>
              </a:ext>
            </a:extLst>
          </p:cNvPr>
          <p:cNvSpPr txBox="1"/>
          <p:nvPr/>
        </p:nvSpPr>
        <p:spPr>
          <a:xfrm>
            <a:off x="10559681" y="1719319"/>
            <a:ext cx="1778299" cy="646331"/>
          </a:xfrm>
          <a:prstGeom prst="rect">
            <a:avLst/>
          </a:prstGeom>
          <a:noFill/>
        </p:spPr>
        <p:txBody>
          <a:bodyPr wrap="square" rtlCol="0">
            <a:spAutoFit/>
          </a:bodyPr>
          <a:lstStyle/>
          <a:p>
            <a:pPr algn="ctr"/>
            <a:r>
              <a:rPr lang="en-US" dirty="0"/>
              <a:t>Enable from FSM</a:t>
            </a:r>
          </a:p>
        </p:txBody>
      </p:sp>
    </p:spTree>
    <p:extLst>
      <p:ext uri="{BB962C8B-B14F-4D97-AF65-F5344CB8AC3E}">
        <p14:creationId xmlns:p14="http://schemas.microsoft.com/office/powerpoint/2010/main" val="3357552373"/>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9AEBA-D84B-897B-9B28-8DCBF4D708D8}"/>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1CD78C72-D367-A159-9532-1A04DA933F19}"/>
              </a:ext>
            </a:extLst>
          </p:cNvPr>
          <p:cNvSpPr txBox="1">
            <a:spLocks/>
          </p:cNvSpPr>
          <p:nvPr/>
        </p:nvSpPr>
        <p:spPr>
          <a:xfrm>
            <a:off x="4947154" y="99986"/>
            <a:ext cx="2359128" cy="59858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a:t>Key Generator</a:t>
            </a:r>
            <a:endParaRPr lang="en-US" sz="2800" dirty="0"/>
          </a:p>
        </p:txBody>
      </p:sp>
      <p:sp>
        <p:nvSpPr>
          <p:cNvPr id="24" name="TextBox 23">
            <a:extLst>
              <a:ext uri="{FF2B5EF4-FFF2-40B4-BE49-F238E27FC236}">
                <a16:creationId xmlns:a16="http://schemas.microsoft.com/office/drawing/2014/main" id="{F265FD1F-7364-E5CB-673E-80C887183EA8}"/>
              </a:ext>
            </a:extLst>
          </p:cNvPr>
          <p:cNvSpPr txBox="1"/>
          <p:nvPr/>
        </p:nvSpPr>
        <p:spPr>
          <a:xfrm>
            <a:off x="457052" y="1119351"/>
            <a:ext cx="4416841" cy="1323439"/>
          </a:xfrm>
          <a:prstGeom prst="rect">
            <a:avLst/>
          </a:prstGeom>
          <a:noFill/>
        </p:spPr>
        <p:txBody>
          <a:bodyPr wrap="square" rtlCol="0">
            <a:spAutoFit/>
          </a:bodyPr>
          <a:lstStyle/>
          <a:p>
            <a:r>
              <a:rPr lang="en-US" sz="2000" dirty="0"/>
              <a:t>One comb. Block with FSM to calculate the next key and put it in the MSB 128-bit in the 1408-bit shift register.</a:t>
            </a:r>
          </a:p>
        </p:txBody>
      </p:sp>
      <p:sp>
        <p:nvSpPr>
          <p:cNvPr id="25" name="TextBox 24">
            <a:extLst>
              <a:ext uri="{FF2B5EF4-FFF2-40B4-BE49-F238E27FC236}">
                <a16:creationId xmlns:a16="http://schemas.microsoft.com/office/drawing/2014/main" id="{77C6B173-2D56-E6A0-1CD2-82398B630CEF}"/>
              </a:ext>
            </a:extLst>
          </p:cNvPr>
          <p:cNvSpPr txBox="1"/>
          <p:nvPr/>
        </p:nvSpPr>
        <p:spPr>
          <a:xfrm>
            <a:off x="462704" y="2566526"/>
            <a:ext cx="4263503" cy="1631216"/>
          </a:xfrm>
          <a:prstGeom prst="rect">
            <a:avLst/>
          </a:prstGeom>
          <a:noFill/>
        </p:spPr>
        <p:txBody>
          <a:bodyPr wrap="square" rtlCol="0">
            <a:spAutoFit/>
          </a:bodyPr>
          <a:lstStyle/>
          <a:p>
            <a:r>
              <a:rPr lang="en-US" sz="2000" dirty="0"/>
              <a:t>Then the stored key is used to calculate the next key and then the register is shifted 128 bit to the right to put the calculated key in the right place.</a:t>
            </a:r>
          </a:p>
        </p:txBody>
      </p:sp>
      <p:sp>
        <p:nvSpPr>
          <p:cNvPr id="26" name="TextBox 25">
            <a:extLst>
              <a:ext uri="{FF2B5EF4-FFF2-40B4-BE49-F238E27FC236}">
                <a16:creationId xmlns:a16="http://schemas.microsoft.com/office/drawing/2014/main" id="{5BA82FCC-192E-014C-0EEE-40685990EB4D}"/>
              </a:ext>
            </a:extLst>
          </p:cNvPr>
          <p:cNvSpPr txBox="1"/>
          <p:nvPr/>
        </p:nvSpPr>
        <p:spPr>
          <a:xfrm>
            <a:off x="457052" y="4321479"/>
            <a:ext cx="3863487" cy="1631216"/>
          </a:xfrm>
          <a:prstGeom prst="rect">
            <a:avLst/>
          </a:prstGeom>
          <a:noFill/>
        </p:spPr>
        <p:txBody>
          <a:bodyPr wrap="square" rtlCol="0">
            <a:spAutoFit/>
          </a:bodyPr>
          <a:lstStyle/>
          <a:p>
            <a:r>
              <a:rPr lang="en-US" sz="2000" dirty="0"/>
              <a:t>An enable signal is provided from the FSM for 11 cycles to calculate all the keys and then every key is assigned to its correct place in the register</a:t>
            </a:r>
          </a:p>
        </p:txBody>
      </p:sp>
      <p:grpSp>
        <p:nvGrpSpPr>
          <p:cNvPr id="151" name="Group 150">
            <a:extLst>
              <a:ext uri="{FF2B5EF4-FFF2-40B4-BE49-F238E27FC236}">
                <a16:creationId xmlns:a16="http://schemas.microsoft.com/office/drawing/2014/main" id="{DF78B638-5104-3F37-9B24-D9589AE3B92E}"/>
              </a:ext>
            </a:extLst>
          </p:cNvPr>
          <p:cNvGrpSpPr/>
          <p:nvPr/>
        </p:nvGrpSpPr>
        <p:grpSpPr>
          <a:xfrm>
            <a:off x="7433133" y="698568"/>
            <a:ext cx="4525700" cy="2497493"/>
            <a:chOff x="209372" y="970906"/>
            <a:chExt cx="9913399" cy="5470677"/>
          </a:xfrm>
        </p:grpSpPr>
        <p:grpSp>
          <p:nvGrpSpPr>
            <p:cNvPr id="27" name="Group 26">
              <a:extLst>
                <a:ext uri="{FF2B5EF4-FFF2-40B4-BE49-F238E27FC236}">
                  <a16:creationId xmlns:a16="http://schemas.microsoft.com/office/drawing/2014/main" id="{1A4E0F4A-A27A-39A5-6662-1F377A1EAE07}"/>
                </a:ext>
              </a:extLst>
            </p:cNvPr>
            <p:cNvGrpSpPr/>
            <p:nvPr/>
          </p:nvGrpSpPr>
          <p:grpSpPr>
            <a:xfrm>
              <a:off x="2171581" y="970906"/>
              <a:ext cx="7848837" cy="400685"/>
              <a:chOff x="1968263" y="1055622"/>
              <a:chExt cx="5157152" cy="401190"/>
            </a:xfrm>
          </p:grpSpPr>
          <p:sp>
            <p:nvSpPr>
              <p:cNvPr id="28" name="Rectangle 27">
                <a:extLst>
                  <a:ext uri="{FF2B5EF4-FFF2-40B4-BE49-F238E27FC236}">
                    <a16:creationId xmlns:a16="http://schemas.microsoft.com/office/drawing/2014/main" id="{50F065D3-CAEE-2705-207F-21C10717783B}"/>
                  </a:ext>
                </a:extLst>
              </p:cNvPr>
              <p:cNvSpPr>
                <a:spLocks/>
              </p:cNvSpPr>
              <p:nvPr/>
            </p:nvSpPr>
            <p:spPr>
              <a:xfrm>
                <a:off x="1968263" y="1055623"/>
                <a:ext cx="1289288"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156F0E4A-C470-E03A-23B3-E46710D1C9EA}"/>
                  </a:ext>
                </a:extLst>
              </p:cNvPr>
              <p:cNvSpPr>
                <a:spLocks/>
              </p:cNvSpPr>
              <p:nvPr/>
            </p:nvSpPr>
            <p:spPr>
              <a:xfrm>
                <a:off x="5836127" y="1055622"/>
                <a:ext cx="1289288"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7C160A45-ADD2-F9CA-1310-CE6FA3108861}"/>
                  </a:ext>
                </a:extLst>
              </p:cNvPr>
              <p:cNvSpPr>
                <a:spLocks/>
              </p:cNvSpPr>
              <p:nvPr/>
            </p:nvSpPr>
            <p:spPr>
              <a:xfrm>
                <a:off x="4546839" y="1056127"/>
                <a:ext cx="1289288"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C9A97E41-02B6-27C8-6AB3-D4C6F272F065}"/>
                  </a:ext>
                </a:extLst>
              </p:cNvPr>
              <p:cNvSpPr>
                <a:spLocks/>
              </p:cNvSpPr>
              <p:nvPr/>
            </p:nvSpPr>
            <p:spPr>
              <a:xfrm>
                <a:off x="3257551" y="1055622"/>
                <a:ext cx="1289288"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 name="Group 46">
              <a:extLst>
                <a:ext uri="{FF2B5EF4-FFF2-40B4-BE49-F238E27FC236}">
                  <a16:creationId xmlns:a16="http://schemas.microsoft.com/office/drawing/2014/main" id="{19EE43E7-7DEE-2ECC-BB74-060641920818}"/>
                </a:ext>
              </a:extLst>
            </p:cNvPr>
            <p:cNvGrpSpPr/>
            <p:nvPr/>
          </p:nvGrpSpPr>
          <p:grpSpPr>
            <a:xfrm>
              <a:off x="2181741" y="1847206"/>
              <a:ext cx="7848837" cy="400685"/>
              <a:chOff x="1968263" y="1055622"/>
              <a:chExt cx="5157152" cy="401190"/>
            </a:xfrm>
          </p:grpSpPr>
          <p:sp>
            <p:nvSpPr>
              <p:cNvPr id="48" name="Rectangle 47">
                <a:extLst>
                  <a:ext uri="{FF2B5EF4-FFF2-40B4-BE49-F238E27FC236}">
                    <a16:creationId xmlns:a16="http://schemas.microsoft.com/office/drawing/2014/main" id="{39310186-88EC-6609-7198-045B75C31954}"/>
                  </a:ext>
                </a:extLst>
              </p:cNvPr>
              <p:cNvSpPr>
                <a:spLocks/>
              </p:cNvSpPr>
              <p:nvPr/>
            </p:nvSpPr>
            <p:spPr>
              <a:xfrm>
                <a:off x="1968263" y="1055623"/>
                <a:ext cx="1289288"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35C18978-C269-871F-104D-F30C39AC314A}"/>
                  </a:ext>
                </a:extLst>
              </p:cNvPr>
              <p:cNvSpPr>
                <a:spLocks/>
              </p:cNvSpPr>
              <p:nvPr/>
            </p:nvSpPr>
            <p:spPr>
              <a:xfrm>
                <a:off x="5836127" y="1055622"/>
                <a:ext cx="1289288"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F9A21AB7-54E2-2709-61AC-95EA4366B776}"/>
                  </a:ext>
                </a:extLst>
              </p:cNvPr>
              <p:cNvSpPr>
                <a:spLocks/>
              </p:cNvSpPr>
              <p:nvPr/>
            </p:nvSpPr>
            <p:spPr>
              <a:xfrm>
                <a:off x="4546839" y="1056127"/>
                <a:ext cx="1289288"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CA85DECF-B691-65D4-8229-AE3F9F9D2856}"/>
                  </a:ext>
                </a:extLst>
              </p:cNvPr>
              <p:cNvSpPr>
                <a:spLocks/>
              </p:cNvSpPr>
              <p:nvPr/>
            </p:nvSpPr>
            <p:spPr>
              <a:xfrm>
                <a:off x="3257551" y="1055622"/>
                <a:ext cx="1289288"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2" name="Straight Arrow Connector 51">
              <a:extLst>
                <a:ext uri="{FF2B5EF4-FFF2-40B4-BE49-F238E27FC236}">
                  <a16:creationId xmlns:a16="http://schemas.microsoft.com/office/drawing/2014/main" id="{A515B375-B508-15F9-9FF3-F25388E194D7}"/>
                </a:ext>
              </a:extLst>
            </p:cNvPr>
            <p:cNvCxnSpPr>
              <a:cxnSpLocks/>
              <a:stCxn id="28" idx="2"/>
              <a:endCxn id="48" idx="0"/>
            </p:cNvCxnSpPr>
            <p:nvPr/>
          </p:nvCxnSpPr>
          <p:spPr>
            <a:xfrm>
              <a:off x="3152686" y="1371088"/>
              <a:ext cx="10160" cy="47611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7FDBFC88-84ED-F399-545B-4D33FFD47BCE}"/>
                </a:ext>
              </a:extLst>
            </p:cNvPr>
            <p:cNvCxnSpPr>
              <a:cxnSpLocks/>
              <a:stCxn id="29" idx="2"/>
              <a:endCxn id="49" idx="0"/>
            </p:cNvCxnSpPr>
            <p:nvPr/>
          </p:nvCxnSpPr>
          <p:spPr>
            <a:xfrm>
              <a:off x="9039314" y="1371087"/>
              <a:ext cx="10160" cy="47611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8CB6B309-CB50-AC9F-48AD-29AE095230EB}"/>
                </a:ext>
              </a:extLst>
            </p:cNvPr>
            <p:cNvCxnSpPr>
              <a:cxnSpLocks/>
              <a:stCxn id="45" idx="2"/>
              <a:endCxn id="50" idx="0"/>
            </p:cNvCxnSpPr>
            <p:nvPr/>
          </p:nvCxnSpPr>
          <p:spPr>
            <a:xfrm>
              <a:off x="7077105" y="1371591"/>
              <a:ext cx="10160" cy="47611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E5BEF5B4-C156-B7A5-0613-B1AE51630BC3}"/>
                </a:ext>
              </a:extLst>
            </p:cNvPr>
            <p:cNvCxnSpPr>
              <a:cxnSpLocks/>
              <a:stCxn id="46" idx="2"/>
              <a:endCxn id="51" idx="0"/>
            </p:cNvCxnSpPr>
            <p:nvPr/>
          </p:nvCxnSpPr>
          <p:spPr>
            <a:xfrm>
              <a:off x="5114895" y="1371087"/>
              <a:ext cx="10160" cy="47611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25DD73D8-9302-6FB8-7347-E621C5650002}"/>
                </a:ext>
              </a:extLst>
            </p:cNvPr>
            <p:cNvCxnSpPr>
              <a:cxnSpLocks/>
            </p:cNvCxnSpPr>
            <p:nvPr/>
          </p:nvCxnSpPr>
          <p:spPr>
            <a:xfrm>
              <a:off x="3169034" y="2269549"/>
              <a:ext cx="2" cy="45395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7" name="Oval 56">
              <a:extLst>
                <a:ext uri="{FF2B5EF4-FFF2-40B4-BE49-F238E27FC236}">
                  <a16:creationId xmlns:a16="http://schemas.microsoft.com/office/drawing/2014/main" id="{0CD2CDC2-0802-41F6-0E29-B0B849B2C537}"/>
                </a:ext>
              </a:extLst>
            </p:cNvPr>
            <p:cNvSpPr/>
            <p:nvPr/>
          </p:nvSpPr>
          <p:spPr>
            <a:xfrm>
              <a:off x="2968944" y="2745669"/>
              <a:ext cx="400181" cy="400181"/>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Connector 57">
              <a:extLst>
                <a:ext uri="{FF2B5EF4-FFF2-40B4-BE49-F238E27FC236}">
                  <a16:creationId xmlns:a16="http://schemas.microsoft.com/office/drawing/2014/main" id="{BE2088BD-541F-F6FB-A9EF-5CC8DA27F354}"/>
                </a:ext>
              </a:extLst>
            </p:cNvPr>
            <p:cNvCxnSpPr>
              <a:stCxn id="57" idx="0"/>
              <a:endCxn id="57" idx="4"/>
            </p:cNvCxnSpPr>
            <p:nvPr/>
          </p:nvCxnSpPr>
          <p:spPr>
            <a:xfrm>
              <a:off x="3169035" y="2745669"/>
              <a:ext cx="0" cy="4001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7F953735-0FC1-EF09-6107-D7C9520262D6}"/>
                </a:ext>
              </a:extLst>
            </p:cNvPr>
            <p:cNvCxnSpPr>
              <a:cxnSpLocks/>
              <a:stCxn id="57" idx="6"/>
              <a:endCxn id="57" idx="2"/>
            </p:cNvCxnSpPr>
            <p:nvPr/>
          </p:nvCxnSpPr>
          <p:spPr>
            <a:xfrm flipH="1">
              <a:off x="2968944" y="2945760"/>
              <a:ext cx="40018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A99AE1E2-2F08-3F61-D6A5-628BFC4874FD}"/>
                </a:ext>
              </a:extLst>
            </p:cNvPr>
            <p:cNvCxnSpPr>
              <a:cxnSpLocks/>
              <a:stCxn id="51" idx="2"/>
              <a:endCxn id="61" idx="0"/>
            </p:cNvCxnSpPr>
            <p:nvPr/>
          </p:nvCxnSpPr>
          <p:spPr>
            <a:xfrm>
              <a:off x="5125055" y="2247387"/>
              <a:ext cx="6348" cy="109689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1" name="Oval 60">
              <a:extLst>
                <a:ext uri="{FF2B5EF4-FFF2-40B4-BE49-F238E27FC236}">
                  <a16:creationId xmlns:a16="http://schemas.microsoft.com/office/drawing/2014/main" id="{38E576EC-E682-BB62-FDE4-EECEFC94F281}"/>
                </a:ext>
              </a:extLst>
            </p:cNvPr>
            <p:cNvSpPr/>
            <p:nvPr/>
          </p:nvSpPr>
          <p:spPr>
            <a:xfrm>
              <a:off x="4931312" y="3344284"/>
              <a:ext cx="400181" cy="400181"/>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Connector 61">
              <a:extLst>
                <a:ext uri="{FF2B5EF4-FFF2-40B4-BE49-F238E27FC236}">
                  <a16:creationId xmlns:a16="http://schemas.microsoft.com/office/drawing/2014/main" id="{40080505-73AD-CDF0-17CC-1E7D7EE08897}"/>
                </a:ext>
              </a:extLst>
            </p:cNvPr>
            <p:cNvCxnSpPr>
              <a:stCxn id="61" idx="0"/>
              <a:endCxn id="61" idx="4"/>
            </p:cNvCxnSpPr>
            <p:nvPr/>
          </p:nvCxnSpPr>
          <p:spPr>
            <a:xfrm>
              <a:off x="5131403" y="3344284"/>
              <a:ext cx="0" cy="4001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BDA32E2E-CB35-342E-D439-839B0B73E777}"/>
                </a:ext>
              </a:extLst>
            </p:cNvPr>
            <p:cNvCxnSpPr>
              <a:cxnSpLocks/>
              <a:stCxn id="61" idx="6"/>
              <a:endCxn id="61" idx="2"/>
            </p:cNvCxnSpPr>
            <p:nvPr/>
          </p:nvCxnSpPr>
          <p:spPr>
            <a:xfrm flipH="1">
              <a:off x="4931312" y="3544375"/>
              <a:ext cx="40018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A505E17F-2ACD-B8AA-2495-6E421AD77DA4}"/>
                </a:ext>
              </a:extLst>
            </p:cNvPr>
            <p:cNvCxnSpPr>
              <a:cxnSpLocks/>
              <a:stCxn id="50" idx="2"/>
              <a:endCxn id="67" idx="0"/>
            </p:cNvCxnSpPr>
            <p:nvPr/>
          </p:nvCxnSpPr>
          <p:spPr>
            <a:xfrm flipH="1">
              <a:off x="7087264" y="2247891"/>
              <a:ext cx="1" cy="149657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65" name="Group 64">
              <a:extLst>
                <a:ext uri="{FF2B5EF4-FFF2-40B4-BE49-F238E27FC236}">
                  <a16:creationId xmlns:a16="http://schemas.microsoft.com/office/drawing/2014/main" id="{9A5C4063-B4EF-739A-7BF4-951E37C92CA1}"/>
                </a:ext>
              </a:extLst>
            </p:cNvPr>
            <p:cNvGrpSpPr/>
            <p:nvPr/>
          </p:nvGrpSpPr>
          <p:grpSpPr>
            <a:xfrm>
              <a:off x="6887173" y="3744465"/>
              <a:ext cx="400181" cy="400181"/>
              <a:chOff x="6877012" y="4149598"/>
              <a:chExt cx="400181" cy="400181"/>
            </a:xfrm>
          </p:grpSpPr>
          <p:sp>
            <p:nvSpPr>
              <p:cNvPr id="67" name="Oval 66">
                <a:extLst>
                  <a:ext uri="{FF2B5EF4-FFF2-40B4-BE49-F238E27FC236}">
                    <a16:creationId xmlns:a16="http://schemas.microsoft.com/office/drawing/2014/main" id="{144A254B-3861-1195-5B76-2BC7D085A84B}"/>
                  </a:ext>
                </a:extLst>
              </p:cNvPr>
              <p:cNvSpPr/>
              <p:nvPr/>
            </p:nvSpPr>
            <p:spPr>
              <a:xfrm>
                <a:off x="6877012" y="4149598"/>
                <a:ext cx="400181" cy="400181"/>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Straight Connector 67">
                <a:extLst>
                  <a:ext uri="{FF2B5EF4-FFF2-40B4-BE49-F238E27FC236}">
                    <a16:creationId xmlns:a16="http://schemas.microsoft.com/office/drawing/2014/main" id="{E71D61A3-7581-15A7-7A41-FEB589CC165D}"/>
                  </a:ext>
                </a:extLst>
              </p:cNvPr>
              <p:cNvCxnSpPr>
                <a:cxnSpLocks/>
                <a:stCxn id="67" idx="0"/>
                <a:endCxn id="67" idx="4"/>
              </p:cNvCxnSpPr>
              <p:nvPr/>
            </p:nvCxnSpPr>
            <p:spPr>
              <a:xfrm>
                <a:off x="7077103" y="4149598"/>
                <a:ext cx="0" cy="4001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765E13AD-C4A2-A7B2-931B-E8B6EF782490}"/>
                  </a:ext>
                </a:extLst>
              </p:cNvPr>
              <p:cNvCxnSpPr>
                <a:cxnSpLocks/>
                <a:stCxn id="67" idx="6"/>
                <a:endCxn id="67" idx="2"/>
              </p:cNvCxnSpPr>
              <p:nvPr/>
            </p:nvCxnSpPr>
            <p:spPr>
              <a:xfrm flipH="1">
                <a:off x="6877012" y="4349689"/>
                <a:ext cx="40018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70" name="Straight Arrow Connector 69">
              <a:extLst>
                <a:ext uri="{FF2B5EF4-FFF2-40B4-BE49-F238E27FC236}">
                  <a16:creationId xmlns:a16="http://schemas.microsoft.com/office/drawing/2014/main" id="{013A3CFF-ACBF-5541-CBBC-C51325322CF7}"/>
                </a:ext>
              </a:extLst>
            </p:cNvPr>
            <p:cNvCxnSpPr>
              <a:cxnSpLocks/>
              <a:stCxn id="49" idx="2"/>
              <a:endCxn id="72" idx="0"/>
            </p:cNvCxnSpPr>
            <p:nvPr/>
          </p:nvCxnSpPr>
          <p:spPr>
            <a:xfrm flipH="1">
              <a:off x="9049473" y="2247387"/>
              <a:ext cx="1" cy="189725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71" name="Group 70">
              <a:extLst>
                <a:ext uri="{FF2B5EF4-FFF2-40B4-BE49-F238E27FC236}">
                  <a16:creationId xmlns:a16="http://schemas.microsoft.com/office/drawing/2014/main" id="{9B44448B-7AAD-D1D3-6F98-66C13D087093}"/>
                </a:ext>
              </a:extLst>
            </p:cNvPr>
            <p:cNvGrpSpPr/>
            <p:nvPr/>
          </p:nvGrpSpPr>
          <p:grpSpPr>
            <a:xfrm>
              <a:off x="8849382" y="4144646"/>
              <a:ext cx="400181" cy="400181"/>
              <a:chOff x="6877012" y="4149598"/>
              <a:chExt cx="400181" cy="400181"/>
            </a:xfrm>
          </p:grpSpPr>
          <p:sp>
            <p:nvSpPr>
              <p:cNvPr id="72" name="Oval 71">
                <a:extLst>
                  <a:ext uri="{FF2B5EF4-FFF2-40B4-BE49-F238E27FC236}">
                    <a16:creationId xmlns:a16="http://schemas.microsoft.com/office/drawing/2014/main" id="{53A5DEF2-8E9B-CA8A-9999-EC5F1DC46E12}"/>
                  </a:ext>
                </a:extLst>
              </p:cNvPr>
              <p:cNvSpPr/>
              <p:nvPr/>
            </p:nvSpPr>
            <p:spPr>
              <a:xfrm>
                <a:off x="6877012" y="4149598"/>
                <a:ext cx="400181" cy="400181"/>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3" name="Straight Connector 72">
                <a:extLst>
                  <a:ext uri="{FF2B5EF4-FFF2-40B4-BE49-F238E27FC236}">
                    <a16:creationId xmlns:a16="http://schemas.microsoft.com/office/drawing/2014/main" id="{9E5F98CF-0994-F2E1-D4DE-94EF10826B53}"/>
                  </a:ext>
                </a:extLst>
              </p:cNvPr>
              <p:cNvCxnSpPr>
                <a:cxnSpLocks/>
                <a:stCxn id="72" idx="0"/>
                <a:endCxn id="72" idx="4"/>
              </p:cNvCxnSpPr>
              <p:nvPr/>
            </p:nvCxnSpPr>
            <p:spPr>
              <a:xfrm>
                <a:off x="7077103" y="4149598"/>
                <a:ext cx="0" cy="4001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34660FF7-31E0-4991-03CC-275F0A03CF56}"/>
                  </a:ext>
                </a:extLst>
              </p:cNvPr>
              <p:cNvCxnSpPr>
                <a:cxnSpLocks/>
                <a:stCxn id="72" idx="6"/>
                <a:endCxn id="72" idx="2"/>
              </p:cNvCxnSpPr>
              <p:nvPr/>
            </p:nvCxnSpPr>
            <p:spPr>
              <a:xfrm flipH="1">
                <a:off x="6877012" y="4349689"/>
                <a:ext cx="40018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75" name="Rectangle 74">
              <a:hlinkClick r:id="rId2" action="ppaction://hlinksldjump"/>
              <a:extLst>
                <a:ext uri="{FF2B5EF4-FFF2-40B4-BE49-F238E27FC236}">
                  <a16:creationId xmlns:a16="http://schemas.microsoft.com/office/drawing/2014/main" id="{0AC8B40E-94B5-1DE0-7D89-AF05C5F87D8C}"/>
                </a:ext>
              </a:extLst>
            </p:cNvPr>
            <p:cNvSpPr/>
            <p:nvPr/>
          </p:nvSpPr>
          <p:spPr>
            <a:xfrm>
              <a:off x="3851910" y="2745669"/>
              <a:ext cx="498319"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hlinkClick r:id="rId2" action="ppaction://hlinksldjump"/>
              <a:extLst>
                <a:ext uri="{FF2B5EF4-FFF2-40B4-BE49-F238E27FC236}">
                  <a16:creationId xmlns:a16="http://schemas.microsoft.com/office/drawing/2014/main" id="{5C54A7C5-6CF1-C1DC-06EE-1993437B24B0}"/>
                </a:ext>
              </a:extLst>
            </p:cNvPr>
            <p:cNvSpPr txBox="1"/>
            <p:nvPr/>
          </p:nvSpPr>
          <p:spPr>
            <a:xfrm>
              <a:off x="3951061" y="2722809"/>
              <a:ext cx="296876" cy="438214"/>
            </a:xfrm>
            <a:prstGeom prst="rect">
              <a:avLst/>
            </a:prstGeom>
            <a:noFill/>
          </p:spPr>
          <p:txBody>
            <a:bodyPr wrap="square" rtlCol="0">
              <a:spAutoFit/>
            </a:bodyPr>
            <a:lstStyle/>
            <a:p>
              <a:r>
                <a:rPr lang="en-US" sz="700" dirty="0"/>
                <a:t>g</a:t>
              </a:r>
            </a:p>
          </p:txBody>
        </p:sp>
        <p:cxnSp>
          <p:nvCxnSpPr>
            <p:cNvPr id="77" name="Straight Arrow Connector 76">
              <a:extLst>
                <a:ext uri="{FF2B5EF4-FFF2-40B4-BE49-F238E27FC236}">
                  <a16:creationId xmlns:a16="http://schemas.microsoft.com/office/drawing/2014/main" id="{F1CEE34D-02D5-BE0D-DA3A-775FCA2C8FB5}"/>
                </a:ext>
              </a:extLst>
            </p:cNvPr>
            <p:cNvCxnSpPr>
              <a:cxnSpLocks/>
              <a:endCxn id="75" idx="3"/>
            </p:cNvCxnSpPr>
            <p:nvPr/>
          </p:nvCxnSpPr>
          <p:spPr>
            <a:xfrm flipH="1">
              <a:off x="4350229" y="2945759"/>
              <a:ext cx="4699243" cy="25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A030DAE3-B4FC-1F8C-30A0-46CB285EE4A9}"/>
                </a:ext>
              </a:extLst>
            </p:cNvPr>
            <p:cNvCxnSpPr>
              <a:cxnSpLocks/>
              <a:stCxn id="75" idx="1"/>
              <a:endCxn id="57" idx="6"/>
            </p:cNvCxnSpPr>
            <p:nvPr/>
          </p:nvCxnSpPr>
          <p:spPr>
            <a:xfrm flipH="1" flipV="1">
              <a:off x="3369125" y="2945760"/>
              <a:ext cx="482785" cy="25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9" name="Straight Arrow Connector 78">
              <a:extLst>
                <a:ext uri="{FF2B5EF4-FFF2-40B4-BE49-F238E27FC236}">
                  <a16:creationId xmlns:a16="http://schemas.microsoft.com/office/drawing/2014/main" id="{2184AEF5-FECA-DCA4-C61D-8CDE017115F6}"/>
                </a:ext>
              </a:extLst>
            </p:cNvPr>
            <p:cNvCxnSpPr>
              <a:cxnSpLocks/>
              <a:stCxn id="57" idx="4"/>
              <a:endCxn id="81" idx="0"/>
            </p:cNvCxnSpPr>
            <p:nvPr/>
          </p:nvCxnSpPr>
          <p:spPr>
            <a:xfrm flipH="1">
              <a:off x="3162846" y="3145850"/>
              <a:ext cx="6189" cy="229528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80" name="Group 79">
              <a:extLst>
                <a:ext uri="{FF2B5EF4-FFF2-40B4-BE49-F238E27FC236}">
                  <a16:creationId xmlns:a16="http://schemas.microsoft.com/office/drawing/2014/main" id="{DE388C89-A9DC-92BA-B308-B40936C68853}"/>
                </a:ext>
              </a:extLst>
            </p:cNvPr>
            <p:cNvGrpSpPr/>
            <p:nvPr/>
          </p:nvGrpSpPr>
          <p:grpSpPr>
            <a:xfrm>
              <a:off x="2181741" y="5441131"/>
              <a:ext cx="7848837" cy="400685"/>
              <a:chOff x="1968263" y="1055622"/>
              <a:chExt cx="5157152" cy="401190"/>
            </a:xfrm>
          </p:grpSpPr>
          <p:sp>
            <p:nvSpPr>
              <p:cNvPr id="81" name="Rectangle 80">
                <a:extLst>
                  <a:ext uri="{FF2B5EF4-FFF2-40B4-BE49-F238E27FC236}">
                    <a16:creationId xmlns:a16="http://schemas.microsoft.com/office/drawing/2014/main" id="{21680420-29C3-9B43-1A3F-C42310AB3BBA}"/>
                  </a:ext>
                </a:extLst>
              </p:cNvPr>
              <p:cNvSpPr>
                <a:spLocks/>
              </p:cNvSpPr>
              <p:nvPr/>
            </p:nvSpPr>
            <p:spPr>
              <a:xfrm>
                <a:off x="1968263" y="1055623"/>
                <a:ext cx="1289288"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A492DDE8-E641-F7F1-C378-7525EE48AA71}"/>
                  </a:ext>
                </a:extLst>
              </p:cNvPr>
              <p:cNvSpPr>
                <a:spLocks/>
              </p:cNvSpPr>
              <p:nvPr/>
            </p:nvSpPr>
            <p:spPr>
              <a:xfrm>
                <a:off x="5836127" y="1055622"/>
                <a:ext cx="1289288"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8885CF69-A10C-95F5-EC25-642EC43700C7}"/>
                  </a:ext>
                </a:extLst>
              </p:cNvPr>
              <p:cNvSpPr>
                <a:spLocks/>
              </p:cNvSpPr>
              <p:nvPr/>
            </p:nvSpPr>
            <p:spPr>
              <a:xfrm>
                <a:off x="4546839" y="1056127"/>
                <a:ext cx="1289288"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6D34C658-6D62-8645-038D-0EC1E488CD11}"/>
                  </a:ext>
                </a:extLst>
              </p:cNvPr>
              <p:cNvSpPr>
                <a:spLocks/>
              </p:cNvSpPr>
              <p:nvPr/>
            </p:nvSpPr>
            <p:spPr>
              <a:xfrm>
                <a:off x="3257551" y="1055622"/>
                <a:ext cx="1289288"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90" name="Straight Arrow Connector 89">
              <a:extLst>
                <a:ext uri="{FF2B5EF4-FFF2-40B4-BE49-F238E27FC236}">
                  <a16:creationId xmlns:a16="http://schemas.microsoft.com/office/drawing/2014/main" id="{4D389F29-01FA-37BD-3B06-C3031351C50B}"/>
                </a:ext>
              </a:extLst>
            </p:cNvPr>
            <p:cNvCxnSpPr>
              <a:cxnSpLocks/>
              <a:stCxn id="61" idx="4"/>
              <a:endCxn id="89" idx="0"/>
            </p:cNvCxnSpPr>
            <p:nvPr/>
          </p:nvCxnSpPr>
          <p:spPr>
            <a:xfrm flipH="1">
              <a:off x="5125055" y="3744465"/>
              <a:ext cx="6348" cy="169666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0A0567C5-E202-3CAB-C3B3-C71483B49EBB}"/>
                </a:ext>
              </a:extLst>
            </p:cNvPr>
            <p:cNvCxnSpPr>
              <a:cxnSpLocks/>
              <a:stCxn id="67" idx="4"/>
              <a:endCxn id="87" idx="0"/>
            </p:cNvCxnSpPr>
            <p:nvPr/>
          </p:nvCxnSpPr>
          <p:spPr>
            <a:xfrm>
              <a:off x="7087264" y="4144646"/>
              <a:ext cx="1" cy="129698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D9290CAB-B31B-9EE1-9EBA-1426A3B28996}"/>
                </a:ext>
              </a:extLst>
            </p:cNvPr>
            <p:cNvCxnSpPr>
              <a:cxnSpLocks/>
              <a:stCxn id="72" idx="4"/>
              <a:endCxn id="86" idx="0"/>
            </p:cNvCxnSpPr>
            <p:nvPr/>
          </p:nvCxnSpPr>
          <p:spPr>
            <a:xfrm>
              <a:off x="9049473" y="4544827"/>
              <a:ext cx="1" cy="89630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5" name="Straight Arrow Connector 94">
              <a:extLst>
                <a:ext uri="{FF2B5EF4-FFF2-40B4-BE49-F238E27FC236}">
                  <a16:creationId xmlns:a16="http://schemas.microsoft.com/office/drawing/2014/main" id="{5770DBE1-23BF-EB8A-1BC0-8E812E087AB8}"/>
                </a:ext>
              </a:extLst>
            </p:cNvPr>
            <p:cNvCxnSpPr>
              <a:cxnSpLocks/>
              <a:endCxn id="61" idx="2"/>
            </p:cNvCxnSpPr>
            <p:nvPr/>
          </p:nvCxnSpPr>
          <p:spPr>
            <a:xfrm>
              <a:off x="3169195" y="3544375"/>
              <a:ext cx="1762117"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3B8EE657-2EEC-6110-F6B5-0E9D202F5F2E}"/>
                </a:ext>
              </a:extLst>
            </p:cNvPr>
            <p:cNvCxnSpPr>
              <a:cxnSpLocks/>
            </p:cNvCxnSpPr>
            <p:nvPr/>
          </p:nvCxnSpPr>
          <p:spPr>
            <a:xfrm>
              <a:off x="5131404" y="3944555"/>
              <a:ext cx="1762117"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0" name="Straight Arrow Connector 99">
              <a:extLst>
                <a:ext uri="{FF2B5EF4-FFF2-40B4-BE49-F238E27FC236}">
                  <a16:creationId xmlns:a16="http://schemas.microsoft.com/office/drawing/2014/main" id="{3AA4C204-4040-3C9E-A0E5-5C259A9D84B2}"/>
                </a:ext>
              </a:extLst>
            </p:cNvPr>
            <p:cNvCxnSpPr>
              <a:cxnSpLocks/>
            </p:cNvCxnSpPr>
            <p:nvPr/>
          </p:nvCxnSpPr>
          <p:spPr>
            <a:xfrm>
              <a:off x="7077103" y="4344736"/>
              <a:ext cx="1762117"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1" name="Oval 100">
              <a:extLst>
                <a:ext uri="{FF2B5EF4-FFF2-40B4-BE49-F238E27FC236}">
                  <a16:creationId xmlns:a16="http://schemas.microsoft.com/office/drawing/2014/main" id="{EE1E2BA6-E568-18F2-C5A4-4B423E1AC898}"/>
                </a:ext>
              </a:extLst>
            </p:cNvPr>
            <p:cNvSpPr/>
            <p:nvPr/>
          </p:nvSpPr>
          <p:spPr>
            <a:xfrm>
              <a:off x="3137960" y="3514657"/>
              <a:ext cx="65649" cy="6564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091D53F3-4458-646C-34FB-1D3D895A8D96}"/>
                </a:ext>
              </a:extLst>
            </p:cNvPr>
            <p:cNvSpPr/>
            <p:nvPr/>
          </p:nvSpPr>
          <p:spPr>
            <a:xfrm>
              <a:off x="9016647" y="2915131"/>
              <a:ext cx="65649" cy="6564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a:extLst>
                <a:ext uri="{FF2B5EF4-FFF2-40B4-BE49-F238E27FC236}">
                  <a16:creationId xmlns:a16="http://schemas.microsoft.com/office/drawing/2014/main" id="{CCA2320D-3596-2AE1-027E-B878EEC783F9}"/>
                </a:ext>
              </a:extLst>
            </p:cNvPr>
            <p:cNvSpPr/>
            <p:nvPr/>
          </p:nvSpPr>
          <p:spPr>
            <a:xfrm>
              <a:off x="5098579" y="3920502"/>
              <a:ext cx="65649" cy="6564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89C563D4-0EF5-8887-1AA4-268872198C0F}"/>
                </a:ext>
              </a:extLst>
            </p:cNvPr>
            <p:cNvSpPr/>
            <p:nvPr/>
          </p:nvSpPr>
          <p:spPr>
            <a:xfrm>
              <a:off x="7052979" y="4314255"/>
              <a:ext cx="65649" cy="6564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8" name="Straight Connector 107">
              <a:extLst>
                <a:ext uri="{FF2B5EF4-FFF2-40B4-BE49-F238E27FC236}">
                  <a16:creationId xmlns:a16="http://schemas.microsoft.com/office/drawing/2014/main" id="{90048354-02DA-208A-5C20-ABA65C1286BB}"/>
                </a:ext>
              </a:extLst>
            </p:cNvPr>
            <p:cNvCxnSpPr>
              <a:cxnSpLocks/>
            </p:cNvCxnSpPr>
            <p:nvPr/>
          </p:nvCxnSpPr>
          <p:spPr>
            <a:xfrm flipH="1">
              <a:off x="3104782" y="1491064"/>
              <a:ext cx="128825" cy="11392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9" name="Straight Connector 108">
              <a:extLst>
                <a:ext uri="{FF2B5EF4-FFF2-40B4-BE49-F238E27FC236}">
                  <a16:creationId xmlns:a16="http://schemas.microsoft.com/office/drawing/2014/main" id="{16B344CA-1F8A-1DA3-9D07-3539F9762A20}"/>
                </a:ext>
              </a:extLst>
            </p:cNvPr>
            <p:cNvCxnSpPr>
              <a:cxnSpLocks/>
            </p:cNvCxnSpPr>
            <p:nvPr/>
          </p:nvCxnSpPr>
          <p:spPr>
            <a:xfrm flipH="1">
              <a:off x="5066991" y="1490072"/>
              <a:ext cx="128825" cy="11392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0" name="Straight Connector 109">
              <a:extLst>
                <a:ext uri="{FF2B5EF4-FFF2-40B4-BE49-F238E27FC236}">
                  <a16:creationId xmlns:a16="http://schemas.microsoft.com/office/drawing/2014/main" id="{0F371E63-1ADB-DCEF-C921-497FF64854DB}"/>
                </a:ext>
              </a:extLst>
            </p:cNvPr>
            <p:cNvCxnSpPr>
              <a:cxnSpLocks/>
            </p:cNvCxnSpPr>
            <p:nvPr/>
          </p:nvCxnSpPr>
          <p:spPr>
            <a:xfrm flipH="1">
              <a:off x="7012690" y="1491064"/>
              <a:ext cx="128825" cy="11392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1" name="Straight Connector 110">
              <a:extLst>
                <a:ext uri="{FF2B5EF4-FFF2-40B4-BE49-F238E27FC236}">
                  <a16:creationId xmlns:a16="http://schemas.microsoft.com/office/drawing/2014/main" id="{615CA679-08B0-EB6D-C860-EDD5213C4D2A}"/>
                </a:ext>
              </a:extLst>
            </p:cNvPr>
            <p:cNvCxnSpPr>
              <a:cxnSpLocks/>
            </p:cNvCxnSpPr>
            <p:nvPr/>
          </p:nvCxnSpPr>
          <p:spPr>
            <a:xfrm flipH="1">
              <a:off x="8985058" y="1496686"/>
              <a:ext cx="128825" cy="11392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14" name="TextBox 113">
              <a:extLst>
                <a:ext uri="{FF2B5EF4-FFF2-40B4-BE49-F238E27FC236}">
                  <a16:creationId xmlns:a16="http://schemas.microsoft.com/office/drawing/2014/main" id="{D31F7C86-150B-1711-316F-D7BCF0C6AF21}"/>
                </a:ext>
              </a:extLst>
            </p:cNvPr>
            <p:cNvSpPr txBox="1"/>
            <p:nvPr/>
          </p:nvSpPr>
          <p:spPr>
            <a:xfrm>
              <a:off x="2273695" y="986331"/>
              <a:ext cx="1778298" cy="438214"/>
            </a:xfrm>
            <a:prstGeom prst="rect">
              <a:avLst/>
            </a:prstGeom>
            <a:noFill/>
          </p:spPr>
          <p:txBody>
            <a:bodyPr wrap="square" rtlCol="0">
              <a:spAutoFit/>
            </a:bodyPr>
            <a:lstStyle/>
            <a:p>
              <a:r>
                <a:rPr lang="en-US" sz="700" dirty="0"/>
                <a:t>K0    K1    K2    K3</a:t>
              </a:r>
            </a:p>
          </p:txBody>
        </p:sp>
        <p:sp>
          <p:nvSpPr>
            <p:cNvPr id="115" name="TextBox 114">
              <a:extLst>
                <a:ext uri="{FF2B5EF4-FFF2-40B4-BE49-F238E27FC236}">
                  <a16:creationId xmlns:a16="http://schemas.microsoft.com/office/drawing/2014/main" id="{D451499F-E5C2-C867-DBE3-7D89870AA32D}"/>
                </a:ext>
              </a:extLst>
            </p:cNvPr>
            <p:cNvSpPr txBox="1"/>
            <p:nvPr/>
          </p:nvSpPr>
          <p:spPr>
            <a:xfrm>
              <a:off x="4242803" y="992677"/>
              <a:ext cx="1778298" cy="438214"/>
            </a:xfrm>
            <a:prstGeom prst="rect">
              <a:avLst/>
            </a:prstGeom>
            <a:noFill/>
          </p:spPr>
          <p:txBody>
            <a:bodyPr wrap="square" rtlCol="0">
              <a:spAutoFit/>
            </a:bodyPr>
            <a:lstStyle/>
            <a:p>
              <a:r>
                <a:rPr lang="en-US" sz="700" dirty="0"/>
                <a:t>K4    K5    K6    K7</a:t>
              </a:r>
            </a:p>
          </p:txBody>
        </p:sp>
        <p:sp>
          <p:nvSpPr>
            <p:cNvPr id="121" name="TextBox 120">
              <a:extLst>
                <a:ext uri="{FF2B5EF4-FFF2-40B4-BE49-F238E27FC236}">
                  <a16:creationId xmlns:a16="http://schemas.microsoft.com/office/drawing/2014/main" id="{F3D83EC1-92F8-3293-CC93-86516D414D53}"/>
                </a:ext>
              </a:extLst>
            </p:cNvPr>
            <p:cNvSpPr txBox="1"/>
            <p:nvPr/>
          </p:nvSpPr>
          <p:spPr>
            <a:xfrm>
              <a:off x="6126719" y="978485"/>
              <a:ext cx="1921329" cy="438214"/>
            </a:xfrm>
            <a:prstGeom prst="rect">
              <a:avLst/>
            </a:prstGeom>
            <a:noFill/>
          </p:spPr>
          <p:txBody>
            <a:bodyPr wrap="square" rtlCol="0">
              <a:spAutoFit/>
            </a:bodyPr>
            <a:lstStyle/>
            <a:p>
              <a:r>
                <a:rPr lang="en-US" sz="700" dirty="0"/>
                <a:t>K8    K9   K10   K11</a:t>
              </a:r>
            </a:p>
          </p:txBody>
        </p:sp>
        <p:sp>
          <p:nvSpPr>
            <p:cNvPr id="122" name="TextBox 121">
              <a:extLst>
                <a:ext uri="{FF2B5EF4-FFF2-40B4-BE49-F238E27FC236}">
                  <a16:creationId xmlns:a16="http://schemas.microsoft.com/office/drawing/2014/main" id="{F4A03DAA-B58B-A7C7-1691-40A4EC024B5C}"/>
                </a:ext>
              </a:extLst>
            </p:cNvPr>
            <p:cNvSpPr txBox="1"/>
            <p:nvPr/>
          </p:nvSpPr>
          <p:spPr>
            <a:xfrm>
              <a:off x="8078765" y="979225"/>
              <a:ext cx="1962210" cy="438214"/>
            </a:xfrm>
            <a:prstGeom prst="rect">
              <a:avLst/>
            </a:prstGeom>
            <a:noFill/>
          </p:spPr>
          <p:txBody>
            <a:bodyPr wrap="square" rtlCol="0">
              <a:spAutoFit/>
            </a:bodyPr>
            <a:lstStyle/>
            <a:p>
              <a:r>
                <a:rPr lang="en-US" sz="700" dirty="0"/>
                <a:t>K12  K13  K14  K15</a:t>
              </a:r>
            </a:p>
          </p:txBody>
        </p:sp>
        <p:sp>
          <p:nvSpPr>
            <p:cNvPr id="123" name="TextBox 122">
              <a:extLst>
                <a:ext uri="{FF2B5EF4-FFF2-40B4-BE49-F238E27FC236}">
                  <a16:creationId xmlns:a16="http://schemas.microsoft.com/office/drawing/2014/main" id="{718C9F24-8EF2-EB14-0CAF-664A5DE01707}"/>
                </a:ext>
              </a:extLst>
            </p:cNvPr>
            <p:cNvSpPr txBox="1"/>
            <p:nvPr/>
          </p:nvSpPr>
          <p:spPr>
            <a:xfrm>
              <a:off x="3179355" y="1404062"/>
              <a:ext cx="896368" cy="438214"/>
            </a:xfrm>
            <a:prstGeom prst="rect">
              <a:avLst/>
            </a:prstGeom>
            <a:noFill/>
          </p:spPr>
          <p:txBody>
            <a:bodyPr wrap="square" rtlCol="0">
              <a:spAutoFit/>
            </a:bodyPr>
            <a:lstStyle/>
            <a:p>
              <a:r>
                <a:rPr lang="en-US" sz="700" dirty="0"/>
                <a:t>32</a:t>
              </a:r>
            </a:p>
          </p:txBody>
        </p:sp>
        <p:sp>
          <p:nvSpPr>
            <p:cNvPr id="124" name="TextBox 123">
              <a:extLst>
                <a:ext uri="{FF2B5EF4-FFF2-40B4-BE49-F238E27FC236}">
                  <a16:creationId xmlns:a16="http://schemas.microsoft.com/office/drawing/2014/main" id="{84350A85-EF69-68C7-BD29-CFE9EE396280}"/>
                </a:ext>
              </a:extLst>
            </p:cNvPr>
            <p:cNvSpPr txBox="1"/>
            <p:nvPr/>
          </p:nvSpPr>
          <p:spPr>
            <a:xfrm>
              <a:off x="5134862" y="1406016"/>
              <a:ext cx="882373" cy="438214"/>
            </a:xfrm>
            <a:prstGeom prst="rect">
              <a:avLst/>
            </a:prstGeom>
            <a:noFill/>
          </p:spPr>
          <p:txBody>
            <a:bodyPr wrap="square" rtlCol="0">
              <a:spAutoFit/>
            </a:bodyPr>
            <a:lstStyle/>
            <a:p>
              <a:r>
                <a:rPr lang="en-US" sz="700" dirty="0"/>
                <a:t>32</a:t>
              </a:r>
            </a:p>
          </p:txBody>
        </p:sp>
        <p:sp>
          <p:nvSpPr>
            <p:cNvPr id="126" name="TextBox 125">
              <a:extLst>
                <a:ext uri="{FF2B5EF4-FFF2-40B4-BE49-F238E27FC236}">
                  <a16:creationId xmlns:a16="http://schemas.microsoft.com/office/drawing/2014/main" id="{C91A3DA7-1D06-D44D-F707-09511D9B2264}"/>
                </a:ext>
              </a:extLst>
            </p:cNvPr>
            <p:cNvSpPr txBox="1"/>
            <p:nvPr/>
          </p:nvSpPr>
          <p:spPr>
            <a:xfrm>
              <a:off x="7105661" y="1399333"/>
              <a:ext cx="962570" cy="438214"/>
            </a:xfrm>
            <a:prstGeom prst="rect">
              <a:avLst/>
            </a:prstGeom>
            <a:noFill/>
          </p:spPr>
          <p:txBody>
            <a:bodyPr wrap="square" rtlCol="0">
              <a:spAutoFit/>
            </a:bodyPr>
            <a:lstStyle/>
            <a:p>
              <a:r>
                <a:rPr lang="en-US" sz="700" dirty="0"/>
                <a:t>32</a:t>
              </a:r>
            </a:p>
          </p:txBody>
        </p:sp>
        <p:sp>
          <p:nvSpPr>
            <p:cNvPr id="127" name="TextBox 126">
              <a:extLst>
                <a:ext uri="{FF2B5EF4-FFF2-40B4-BE49-F238E27FC236}">
                  <a16:creationId xmlns:a16="http://schemas.microsoft.com/office/drawing/2014/main" id="{20EC2B38-5474-4FD8-51F7-AB00B536392F}"/>
                </a:ext>
              </a:extLst>
            </p:cNvPr>
            <p:cNvSpPr txBox="1"/>
            <p:nvPr/>
          </p:nvSpPr>
          <p:spPr>
            <a:xfrm>
              <a:off x="9077018" y="1425945"/>
              <a:ext cx="1045753" cy="438214"/>
            </a:xfrm>
            <a:prstGeom prst="rect">
              <a:avLst/>
            </a:prstGeom>
            <a:noFill/>
          </p:spPr>
          <p:txBody>
            <a:bodyPr wrap="square" rtlCol="0">
              <a:spAutoFit/>
            </a:bodyPr>
            <a:lstStyle/>
            <a:p>
              <a:r>
                <a:rPr lang="en-US" sz="700" dirty="0"/>
                <a:t>32</a:t>
              </a:r>
            </a:p>
          </p:txBody>
        </p:sp>
        <p:sp>
          <p:nvSpPr>
            <p:cNvPr id="128" name="TextBox 127">
              <a:extLst>
                <a:ext uri="{FF2B5EF4-FFF2-40B4-BE49-F238E27FC236}">
                  <a16:creationId xmlns:a16="http://schemas.microsoft.com/office/drawing/2014/main" id="{965C607E-99DC-2376-F884-EEA4D679F57C}"/>
                </a:ext>
              </a:extLst>
            </p:cNvPr>
            <p:cNvSpPr txBox="1"/>
            <p:nvPr/>
          </p:nvSpPr>
          <p:spPr>
            <a:xfrm>
              <a:off x="2273695" y="1857820"/>
              <a:ext cx="1778298" cy="438214"/>
            </a:xfrm>
            <a:prstGeom prst="rect">
              <a:avLst/>
            </a:prstGeom>
            <a:noFill/>
          </p:spPr>
          <p:txBody>
            <a:bodyPr wrap="square" rtlCol="0">
              <a:spAutoFit/>
            </a:bodyPr>
            <a:lstStyle/>
            <a:p>
              <a:pPr algn="ctr"/>
              <a:r>
                <a:rPr lang="en-US" sz="700" dirty="0"/>
                <a:t>W[0]</a:t>
              </a:r>
            </a:p>
          </p:txBody>
        </p:sp>
        <p:sp>
          <p:nvSpPr>
            <p:cNvPr id="129" name="TextBox 128">
              <a:extLst>
                <a:ext uri="{FF2B5EF4-FFF2-40B4-BE49-F238E27FC236}">
                  <a16:creationId xmlns:a16="http://schemas.microsoft.com/office/drawing/2014/main" id="{575856FD-F794-026F-2C82-DF7988FC3A7C}"/>
                </a:ext>
              </a:extLst>
            </p:cNvPr>
            <p:cNvSpPr txBox="1"/>
            <p:nvPr/>
          </p:nvSpPr>
          <p:spPr>
            <a:xfrm>
              <a:off x="4174521" y="1861519"/>
              <a:ext cx="1778298" cy="438214"/>
            </a:xfrm>
            <a:prstGeom prst="rect">
              <a:avLst/>
            </a:prstGeom>
            <a:noFill/>
          </p:spPr>
          <p:txBody>
            <a:bodyPr wrap="square" rtlCol="0">
              <a:spAutoFit/>
            </a:bodyPr>
            <a:lstStyle/>
            <a:p>
              <a:pPr algn="ctr"/>
              <a:r>
                <a:rPr lang="en-US" sz="700" dirty="0"/>
                <a:t>W[1]</a:t>
              </a:r>
            </a:p>
          </p:txBody>
        </p:sp>
        <p:sp>
          <p:nvSpPr>
            <p:cNvPr id="130" name="TextBox 129">
              <a:extLst>
                <a:ext uri="{FF2B5EF4-FFF2-40B4-BE49-F238E27FC236}">
                  <a16:creationId xmlns:a16="http://schemas.microsoft.com/office/drawing/2014/main" id="{2518A5B2-B9D7-ECD0-7574-895953732025}"/>
                </a:ext>
              </a:extLst>
            </p:cNvPr>
            <p:cNvSpPr txBox="1"/>
            <p:nvPr/>
          </p:nvSpPr>
          <p:spPr>
            <a:xfrm>
              <a:off x="6126719" y="1849971"/>
              <a:ext cx="1921329" cy="438214"/>
            </a:xfrm>
            <a:prstGeom prst="rect">
              <a:avLst/>
            </a:prstGeom>
            <a:noFill/>
          </p:spPr>
          <p:txBody>
            <a:bodyPr wrap="square" rtlCol="0">
              <a:spAutoFit/>
            </a:bodyPr>
            <a:lstStyle/>
            <a:p>
              <a:pPr algn="ctr"/>
              <a:r>
                <a:rPr lang="en-US" sz="700" dirty="0"/>
                <a:t>W[2]</a:t>
              </a:r>
            </a:p>
          </p:txBody>
        </p:sp>
        <p:sp>
          <p:nvSpPr>
            <p:cNvPr id="131" name="TextBox 130">
              <a:extLst>
                <a:ext uri="{FF2B5EF4-FFF2-40B4-BE49-F238E27FC236}">
                  <a16:creationId xmlns:a16="http://schemas.microsoft.com/office/drawing/2014/main" id="{2A562E34-9B6E-E944-F991-F4B8BC5A6233}"/>
                </a:ext>
              </a:extLst>
            </p:cNvPr>
            <p:cNvSpPr txBox="1"/>
            <p:nvPr/>
          </p:nvSpPr>
          <p:spPr>
            <a:xfrm>
              <a:off x="8078765" y="1850712"/>
              <a:ext cx="1941889" cy="438214"/>
            </a:xfrm>
            <a:prstGeom prst="rect">
              <a:avLst/>
            </a:prstGeom>
            <a:noFill/>
          </p:spPr>
          <p:txBody>
            <a:bodyPr wrap="square" rtlCol="0">
              <a:spAutoFit/>
            </a:bodyPr>
            <a:lstStyle/>
            <a:p>
              <a:pPr algn="ctr"/>
              <a:r>
                <a:rPr lang="en-US" sz="700" dirty="0"/>
                <a:t>W[3]</a:t>
              </a:r>
            </a:p>
          </p:txBody>
        </p:sp>
        <p:sp>
          <p:nvSpPr>
            <p:cNvPr id="134" name="TextBox 133">
              <a:extLst>
                <a:ext uri="{FF2B5EF4-FFF2-40B4-BE49-F238E27FC236}">
                  <a16:creationId xmlns:a16="http://schemas.microsoft.com/office/drawing/2014/main" id="{1BB978B5-E103-A489-4462-40D9650CD335}"/>
                </a:ext>
              </a:extLst>
            </p:cNvPr>
            <p:cNvSpPr txBox="1"/>
            <p:nvPr/>
          </p:nvSpPr>
          <p:spPr>
            <a:xfrm>
              <a:off x="2273695" y="5440351"/>
              <a:ext cx="1778298" cy="438214"/>
            </a:xfrm>
            <a:prstGeom prst="rect">
              <a:avLst/>
            </a:prstGeom>
            <a:noFill/>
          </p:spPr>
          <p:txBody>
            <a:bodyPr wrap="square" rtlCol="0">
              <a:spAutoFit/>
            </a:bodyPr>
            <a:lstStyle/>
            <a:p>
              <a:pPr algn="ctr"/>
              <a:r>
                <a:rPr lang="en-US" sz="700" dirty="0"/>
                <a:t>W[4]</a:t>
              </a:r>
            </a:p>
          </p:txBody>
        </p:sp>
        <p:sp>
          <p:nvSpPr>
            <p:cNvPr id="136" name="TextBox 135">
              <a:extLst>
                <a:ext uri="{FF2B5EF4-FFF2-40B4-BE49-F238E27FC236}">
                  <a16:creationId xmlns:a16="http://schemas.microsoft.com/office/drawing/2014/main" id="{24DD8AA2-08B8-A534-4357-E0CF67BBE479}"/>
                </a:ext>
              </a:extLst>
            </p:cNvPr>
            <p:cNvSpPr txBox="1"/>
            <p:nvPr/>
          </p:nvSpPr>
          <p:spPr>
            <a:xfrm>
              <a:off x="4174521" y="5444051"/>
              <a:ext cx="1778298" cy="438214"/>
            </a:xfrm>
            <a:prstGeom prst="rect">
              <a:avLst/>
            </a:prstGeom>
            <a:noFill/>
          </p:spPr>
          <p:txBody>
            <a:bodyPr wrap="square" rtlCol="0">
              <a:spAutoFit/>
            </a:bodyPr>
            <a:lstStyle/>
            <a:p>
              <a:pPr algn="ctr"/>
              <a:r>
                <a:rPr lang="en-US" sz="700" dirty="0"/>
                <a:t>W[5]</a:t>
              </a:r>
            </a:p>
          </p:txBody>
        </p:sp>
        <p:sp>
          <p:nvSpPr>
            <p:cNvPr id="137" name="TextBox 136">
              <a:extLst>
                <a:ext uri="{FF2B5EF4-FFF2-40B4-BE49-F238E27FC236}">
                  <a16:creationId xmlns:a16="http://schemas.microsoft.com/office/drawing/2014/main" id="{4296EBEA-EC62-6264-3FE5-D425A4611008}"/>
                </a:ext>
              </a:extLst>
            </p:cNvPr>
            <p:cNvSpPr txBox="1"/>
            <p:nvPr/>
          </p:nvSpPr>
          <p:spPr>
            <a:xfrm>
              <a:off x="6126719" y="5432503"/>
              <a:ext cx="1921329" cy="438214"/>
            </a:xfrm>
            <a:prstGeom prst="rect">
              <a:avLst/>
            </a:prstGeom>
            <a:noFill/>
          </p:spPr>
          <p:txBody>
            <a:bodyPr wrap="square" rtlCol="0">
              <a:spAutoFit/>
            </a:bodyPr>
            <a:lstStyle/>
            <a:p>
              <a:pPr algn="ctr"/>
              <a:r>
                <a:rPr lang="en-US" sz="700" dirty="0"/>
                <a:t>W[6]</a:t>
              </a:r>
            </a:p>
          </p:txBody>
        </p:sp>
        <p:sp>
          <p:nvSpPr>
            <p:cNvPr id="141" name="TextBox 140">
              <a:extLst>
                <a:ext uri="{FF2B5EF4-FFF2-40B4-BE49-F238E27FC236}">
                  <a16:creationId xmlns:a16="http://schemas.microsoft.com/office/drawing/2014/main" id="{96A2BDA0-F857-A4C5-D506-6419B3A35CCB}"/>
                </a:ext>
              </a:extLst>
            </p:cNvPr>
            <p:cNvSpPr txBox="1"/>
            <p:nvPr/>
          </p:nvSpPr>
          <p:spPr>
            <a:xfrm>
              <a:off x="8078765" y="5433243"/>
              <a:ext cx="1941889" cy="438214"/>
            </a:xfrm>
            <a:prstGeom prst="rect">
              <a:avLst/>
            </a:prstGeom>
            <a:noFill/>
          </p:spPr>
          <p:txBody>
            <a:bodyPr wrap="square" rtlCol="0">
              <a:spAutoFit/>
            </a:bodyPr>
            <a:lstStyle/>
            <a:p>
              <a:pPr algn="ctr"/>
              <a:r>
                <a:rPr lang="en-US" sz="700" dirty="0"/>
                <a:t>W[8]</a:t>
              </a:r>
            </a:p>
          </p:txBody>
        </p:sp>
        <p:sp>
          <p:nvSpPr>
            <p:cNvPr id="142" name="TextBox 141">
              <a:extLst>
                <a:ext uri="{FF2B5EF4-FFF2-40B4-BE49-F238E27FC236}">
                  <a16:creationId xmlns:a16="http://schemas.microsoft.com/office/drawing/2014/main" id="{276404F0-C683-C36D-12B2-EA28B35A65AA}"/>
                </a:ext>
              </a:extLst>
            </p:cNvPr>
            <p:cNvSpPr txBox="1"/>
            <p:nvPr/>
          </p:nvSpPr>
          <p:spPr>
            <a:xfrm>
              <a:off x="209372" y="1849971"/>
              <a:ext cx="1778298" cy="438214"/>
            </a:xfrm>
            <a:prstGeom prst="rect">
              <a:avLst/>
            </a:prstGeom>
            <a:noFill/>
          </p:spPr>
          <p:txBody>
            <a:bodyPr wrap="square" rtlCol="0">
              <a:spAutoFit/>
            </a:bodyPr>
            <a:lstStyle/>
            <a:p>
              <a:pPr algn="ctr"/>
              <a:r>
                <a:rPr lang="en-US" sz="700" dirty="0"/>
                <a:t>Round key 0</a:t>
              </a:r>
            </a:p>
          </p:txBody>
        </p:sp>
        <p:sp>
          <p:nvSpPr>
            <p:cNvPr id="143" name="TextBox 142">
              <a:extLst>
                <a:ext uri="{FF2B5EF4-FFF2-40B4-BE49-F238E27FC236}">
                  <a16:creationId xmlns:a16="http://schemas.microsoft.com/office/drawing/2014/main" id="{39E25BFC-220E-3DCC-36AB-B690A5506E10}"/>
                </a:ext>
              </a:extLst>
            </p:cNvPr>
            <p:cNvSpPr txBox="1"/>
            <p:nvPr/>
          </p:nvSpPr>
          <p:spPr>
            <a:xfrm>
              <a:off x="367890" y="5418137"/>
              <a:ext cx="1778298" cy="438214"/>
            </a:xfrm>
            <a:prstGeom prst="rect">
              <a:avLst/>
            </a:prstGeom>
            <a:noFill/>
          </p:spPr>
          <p:txBody>
            <a:bodyPr wrap="square" rtlCol="0">
              <a:spAutoFit/>
            </a:bodyPr>
            <a:lstStyle/>
            <a:p>
              <a:pPr algn="ctr"/>
              <a:r>
                <a:rPr lang="en-US" sz="700" dirty="0"/>
                <a:t>Next round key</a:t>
              </a:r>
            </a:p>
          </p:txBody>
        </p:sp>
        <p:cxnSp>
          <p:nvCxnSpPr>
            <p:cNvPr id="144" name="Straight Connector 143">
              <a:extLst>
                <a:ext uri="{FF2B5EF4-FFF2-40B4-BE49-F238E27FC236}">
                  <a16:creationId xmlns:a16="http://schemas.microsoft.com/office/drawing/2014/main" id="{3CB2DD97-8D4E-9B0C-8573-260D535195F2}"/>
                </a:ext>
              </a:extLst>
            </p:cNvPr>
            <p:cNvCxnSpPr>
              <a:cxnSpLocks/>
            </p:cNvCxnSpPr>
            <p:nvPr/>
          </p:nvCxnSpPr>
          <p:spPr>
            <a:xfrm>
              <a:off x="3148507" y="5841312"/>
              <a:ext cx="0" cy="4001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5" name="Straight Connector 144">
              <a:extLst>
                <a:ext uri="{FF2B5EF4-FFF2-40B4-BE49-F238E27FC236}">
                  <a16:creationId xmlns:a16="http://schemas.microsoft.com/office/drawing/2014/main" id="{87802413-28B5-096A-D228-C03C952DFBEF}"/>
                </a:ext>
              </a:extLst>
            </p:cNvPr>
            <p:cNvCxnSpPr>
              <a:cxnSpLocks/>
            </p:cNvCxnSpPr>
            <p:nvPr/>
          </p:nvCxnSpPr>
          <p:spPr>
            <a:xfrm>
              <a:off x="5131404" y="5844760"/>
              <a:ext cx="0" cy="4001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6" name="Straight Connector 145">
              <a:extLst>
                <a:ext uri="{FF2B5EF4-FFF2-40B4-BE49-F238E27FC236}">
                  <a16:creationId xmlns:a16="http://schemas.microsoft.com/office/drawing/2014/main" id="{E5BEB7D2-3AFB-5C98-AE7B-505C11728466}"/>
                </a:ext>
              </a:extLst>
            </p:cNvPr>
            <p:cNvCxnSpPr>
              <a:cxnSpLocks/>
            </p:cNvCxnSpPr>
            <p:nvPr/>
          </p:nvCxnSpPr>
          <p:spPr>
            <a:xfrm>
              <a:off x="7091676" y="5841312"/>
              <a:ext cx="0" cy="4001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7" name="Straight Connector 146">
              <a:extLst>
                <a:ext uri="{FF2B5EF4-FFF2-40B4-BE49-F238E27FC236}">
                  <a16:creationId xmlns:a16="http://schemas.microsoft.com/office/drawing/2014/main" id="{ACF77EB2-5438-0505-010E-01B5752F8918}"/>
                </a:ext>
              </a:extLst>
            </p:cNvPr>
            <p:cNvCxnSpPr>
              <a:cxnSpLocks/>
            </p:cNvCxnSpPr>
            <p:nvPr/>
          </p:nvCxnSpPr>
          <p:spPr>
            <a:xfrm>
              <a:off x="9071059" y="5841312"/>
              <a:ext cx="0" cy="4001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8" name="Straight Connector 147">
              <a:extLst>
                <a:ext uri="{FF2B5EF4-FFF2-40B4-BE49-F238E27FC236}">
                  <a16:creationId xmlns:a16="http://schemas.microsoft.com/office/drawing/2014/main" id="{E45D65AC-F7B2-9F3B-2A11-E1D6D4756CF0}"/>
                </a:ext>
              </a:extLst>
            </p:cNvPr>
            <p:cNvCxnSpPr>
              <a:cxnSpLocks/>
            </p:cNvCxnSpPr>
            <p:nvPr/>
          </p:nvCxnSpPr>
          <p:spPr>
            <a:xfrm>
              <a:off x="4133790" y="6041402"/>
              <a:ext cx="0" cy="400181"/>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9" name="Straight Connector 148">
              <a:extLst>
                <a:ext uri="{FF2B5EF4-FFF2-40B4-BE49-F238E27FC236}">
                  <a16:creationId xmlns:a16="http://schemas.microsoft.com/office/drawing/2014/main" id="{B24482B5-4D44-B939-D9A5-C687584585E6}"/>
                </a:ext>
              </a:extLst>
            </p:cNvPr>
            <p:cNvCxnSpPr>
              <a:cxnSpLocks/>
            </p:cNvCxnSpPr>
            <p:nvPr/>
          </p:nvCxnSpPr>
          <p:spPr>
            <a:xfrm>
              <a:off x="8102599" y="6041402"/>
              <a:ext cx="0" cy="400181"/>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0" name="Straight Connector 149">
              <a:extLst>
                <a:ext uri="{FF2B5EF4-FFF2-40B4-BE49-F238E27FC236}">
                  <a16:creationId xmlns:a16="http://schemas.microsoft.com/office/drawing/2014/main" id="{C708F4EE-BFDF-188C-8423-FE6994CD66DB}"/>
                </a:ext>
              </a:extLst>
            </p:cNvPr>
            <p:cNvCxnSpPr>
              <a:cxnSpLocks/>
            </p:cNvCxnSpPr>
            <p:nvPr/>
          </p:nvCxnSpPr>
          <p:spPr>
            <a:xfrm>
              <a:off x="6095999" y="6041402"/>
              <a:ext cx="0" cy="400181"/>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cxnSp>
        <p:nvCxnSpPr>
          <p:cNvPr id="152" name="Straight Arrow Connector 151">
            <a:extLst>
              <a:ext uri="{FF2B5EF4-FFF2-40B4-BE49-F238E27FC236}">
                <a16:creationId xmlns:a16="http://schemas.microsoft.com/office/drawing/2014/main" id="{20F1D479-3594-FC71-85E7-FA14ED6CE9DD}"/>
              </a:ext>
            </a:extLst>
          </p:cNvPr>
          <p:cNvCxnSpPr>
            <a:cxnSpLocks/>
            <a:stCxn id="24" idx="3"/>
          </p:cNvCxnSpPr>
          <p:nvPr/>
        </p:nvCxnSpPr>
        <p:spPr>
          <a:xfrm>
            <a:off x="4873893" y="1781071"/>
            <a:ext cx="2289892" cy="100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58" name="Rectangle 157">
            <a:extLst>
              <a:ext uri="{FF2B5EF4-FFF2-40B4-BE49-F238E27FC236}">
                <a16:creationId xmlns:a16="http://schemas.microsoft.com/office/drawing/2014/main" id="{AE1137BF-E634-B682-0CC2-F63D0262F3D3}"/>
              </a:ext>
            </a:extLst>
          </p:cNvPr>
          <p:cNvSpPr/>
          <p:nvPr/>
        </p:nvSpPr>
        <p:spPr>
          <a:xfrm>
            <a:off x="4657638" y="3130070"/>
            <a:ext cx="3236984"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4F9AB95F-A545-39C9-6611-BE8E306A83C8}"/>
              </a:ext>
            </a:extLst>
          </p:cNvPr>
          <p:cNvSpPr/>
          <p:nvPr/>
        </p:nvSpPr>
        <p:spPr>
          <a:xfrm>
            <a:off x="4657638" y="3130070"/>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445130FA-A5C4-3756-9015-E6198860F9A9}"/>
              </a:ext>
            </a:extLst>
          </p:cNvPr>
          <p:cNvSpPr/>
          <p:nvPr/>
        </p:nvSpPr>
        <p:spPr>
          <a:xfrm>
            <a:off x="4952834" y="3130068"/>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5BD91DB6-0E51-4358-5084-32329D0A6AA6}"/>
              </a:ext>
            </a:extLst>
          </p:cNvPr>
          <p:cNvSpPr/>
          <p:nvPr/>
        </p:nvSpPr>
        <p:spPr>
          <a:xfrm>
            <a:off x="5246604" y="3130070"/>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ectangle 161">
            <a:extLst>
              <a:ext uri="{FF2B5EF4-FFF2-40B4-BE49-F238E27FC236}">
                <a16:creationId xmlns:a16="http://schemas.microsoft.com/office/drawing/2014/main" id="{A059DDB1-5AEC-3CA2-C32D-06B2B456713B}"/>
              </a:ext>
            </a:extLst>
          </p:cNvPr>
          <p:cNvSpPr/>
          <p:nvPr/>
        </p:nvSpPr>
        <p:spPr>
          <a:xfrm>
            <a:off x="5539971" y="3130068"/>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8ADA0707-FD65-EB70-83CE-154526F1AE43}"/>
              </a:ext>
            </a:extLst>
          </p:cNvPr>
          <p:cNvSpPr/>
          <p:nvPr/>
        </p:nvSpPr>
        <p:spPr>
          <a:xfrm>
            <a:off x="5835168" y="3130066"/>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0AFDBD75-E96D-362F-AFC2-37BDC43A7CAE}"/>
              </a:ext>
            </a:extLst>
          </p:cNvPr>
          <p:cNvSpPr/>
          <p:nvPr/>
        </p:nvSpPr>
        <p:spPr>
          <a:xfrm>
            <a:off x="6128936" y="3130068"/>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ectangle 164">
            <a:extLst>
              <a:ext uri="{FF2B5EF4-FFF2-40B4-BE49-F238E27FC236}">
                <a16:creationId xmlns:a16="http://schemas.microsoft.com/office/drawing/2014/main" id="{B066E0F0-B738-033E-0DF1-50D29FAD8CAE}"/>
              </a:ext>
            </a:extLst>
          </p:cNvPr>
          <p:cNvSpPr/>
          <p:nvPr/>
        </p:nvSpPr>
        <p:spPr>
          <a:xfrm>
            <a:off x="6426742" y="3130427"/>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BD324024-1014-01FF-FE48-8D229BDE7EAE}"/>
              </a:ext>
            </a:extLst>
          </p:cNvPr>
          <p:cNvSpPr/>
          <p:nvPr/>
        </p:nvSpPr>
        <p:spPr>
          <a:xfrm>
            <a:off x="6718920" y="3130429"/>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5602CDD5-0740-1D3A-05F5-3BEBC4C7D58F}"/>
              </a:ext>
            </a:extLst>
          </p:cNvPr>
          <p:cNvSpPr/>
          <p:nvPr/>
        </p:nvSpPr>
        <p:spPr>
          <a:xfrm>
            <a:off x="7012287" y="3130427"/>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FB41DBBC-130B-3627-7D6C-0A46B3E3B62D}"/>
              </a:ext>
            </a:extLst>
          </p:cNvPr>
          <p:cNvSpPr/>
          <p:nvPr/>
        </p:nvSpPr>
        <p:spPr>
          <a:xfrm>
            <a:off x="7305897" y="3130425"/>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6E4EFD73-3B05-83DE-F2E2-0A7B7A722DB8}"/>
              </a:ext>
            </a:extLst>
          </p:cNvPr>
          <p:cNvSpPr/>
          <p:nvPr/>
        </p:nvSpPr>
        <p:spPr>
          <a:xfrm>
            <a:off x="7601254" y="3130427"/>
            <a:ext cx="293367" cy="42862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TextBox 169">
            <a:extLst>
              <a:ext uri="{FF2B5EF4-FFF2-40B4-BE49-F238E27FC236}">
                <a16:creationId xmlns:a16="http://schemas.microsoft.com/office/drawing/2014/main" id="{0F864570-895E-F080-DB3D-99DFC1754FA1}"/>
              </a:ext>
            </a:extLst>
          </p:cNvPr>
          <p:cNvSpPr txBox="1"/>
          <p:nvPr/>
        </p:nvSpPr>
        <p:spPr>
          <a:xfrm>
            <a:off x="5298068" y="3759511"/>
            <a:ext cx="1809278" cy="369332"/>
          </a:xfrm>
          <a:prstGeom prst="rect">
            <a:avLst/>
          </a:prstGeom>
          <a:noFill/>
        </p:spPr>
        <p:txBody>
          <a:bodyPr wrap="none" rtlCol="0">
            <a:spAutoFit/>
          </a:bodyPr>
          <a:lstStyle/>
          <a:p>
            <a:r>
              <a:rPr lang="en-US" dirty="0"/>
              <a:t>1408-bit register</a:t>
            </a:r>
          </a:p>
        </p:txBody>
      </p:sp>
      <p:sp>
        <p:nvSpPr>
          <p:cNvPr id="171" name="TextBox 170">
            <a:extLst>
              <a:ext uri="{FF2B5EF4-FFF2-40B4-BE49-F238E27FC236}">
                <a16:creationId xmlns:a16="http://schemas.microsoft.com/office/drawing/2014/main" id="{11F2B9F5-2F50-D9EE-D2C4-F22011A30945}"/>
              </a:ext>
            </a:extLst>
          </p:cNvPr>
          <p:cNvSpPr txBox="1"/>
          <p:nvPr/>
        </p:nvSpPr>
        <p:spPr>
          <a:xfrm>
            <a:off x="4647237" y="3255176"/>
            <a:ext cx="435478" cy="253916"/>
          </a:xfrm>
          <a:prstGeom prst="rect">
            <a:avLst/>
          </a:prstGeom>
          <a:noFill/>
        </p:spPr>
        <p:txBody>
          <a:bodyPr wrap="square" rtlCol="0">
            <a:spAutoFit/>
          </a:bodyPr>
          <a:lstStyle/>
          <a:p>
            <a:r>
              <a:rPr lang="en-US" sz="1050" dirty="0"/>
              <a:t>K0</a:t>
            </a:r>
          </a:p>
        </p:txBody>
      </p:sp>
      <p:sp>
        <p:nvSpPr>
          <p:cNvPr id="175" name="TextBox 174">
            <a:extLst>
              <a:ext uri="{FF2B5EF4-FFF2-40B4-BE49-F238E27FC236}">
                <a16:creationId xmlns:a16="http://schemas.microsoft.com/office/drawing/2014/main" id="{0FE2D278-116B-B3B7-8E47-0F81AD320394}"/>
              </a:ext>
            </a:extLst>
          </p:cNvPr>
          <p:cNvSpPr txBox="1"/>
          <p:nvPr/>
        </p:nvSpPr>
        <p:spPr>
          <a:xfrm>
            <a:off x="4605684" y="3253806"/>
            <a:ext cx="435478" cy="253916"/>
          </a:xfrm>
          <a:prstGeom prst="rect">
            <a:avLst/>
          </a:prstGeom>
          <a:noFill/>
        </p:spPr>
        <p:txBody>
          <a:bodyPr wrap="square" rtlCol="0">
            <a:spAutoFit/>
          </a:bodyPr>
          <a:lstStyle/>
          <a:p>
            <a:r>
              <a:rPr lang="en-US" sz="1050" dirty="0"/>
              <a:t>K10</a:t>
            </a:r>
          </a:p>
        </p:txBody>
      </p:sp>
      <p:cxnSp>
        <p:nvCxnSpPr>
          <p:cNvPr id="177" name="Straight Arrow Connector 176">
            <a:extLst>
              <a:ext uri="{FF2B5EF4-FFF2-40B4-BE49-F238E27FC236}">
                <a16:creationId xmlns:a16="http://schemas.microsoft.com/office/drawing/2014/main" id="{C61302CB-F0A7-229D-1291-74078CF2486B}"/>
              </a:ext>
            </a:extLst>
          </p:cNvPr>
          <p:cNvCxnSpPr>
            <a:cxnSpLocks/>
            <a:stCxn id="159" idx="0"/>
            <a:endCxn id="160" idx="0"/>
          </p:cNvCxnSpPr>
          <p:nvPr/>
        </p:nvCxnSpPr>
        <p:spPr>
          <a:xfrm rot="5400000" flipH="1" flipV="1">
            <a:off x="4951919" y="2982471"/>
            <a:ext cx="2" cy="295196"/>
          </a:xfrm>
          <a:prstGeom prst="curvedConnector3">
            <a:avLst>
              <a:gd name="adj1" fmla="val 1143010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94" name="Straight Arrow Connector 176">
            <a:extLst>
              <a:ext uri="{FF2B5EF4-FFF2-40B4-BE49-F238E27FC236}">
                <a16:creationId xmlns:a16="http://schemas.microsoft.com/office/drawing/2014/main" id="{32660B81-FD27-1AD2-B9C5-EB130F8DC916}"/>
              </a:ext>
            </a:extLst>
          </p:cNvPr>
          <p:cNvCxnSpPr>
            <a:cxnSpLocks/>
          </p:cNvCxnSpPr>
          <p:nvPr/>
        </p:nvCxnSpPr>
        <p:spPr>
          <a:xfrm rot="5400000" flipH="1" flipV="1">
            <a:off x="5276685" y="2982110"/>
            <a:ext cx="2" cy="295196"/>
          </a:xfrm>
          <a:prstGeom prst="curvedConnector3">
            <a:avLst>
              <a:gd name="adj1" fmla="val 1143010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99" name="Straight Arrow Connector 176">
            <a:extLst>
              <a:ext uri="{FF2B5EF4-FFF2-40B4-BE49-F238E27FC236}">
                <a16:creationId xmlns:a16="http://schemas.microsoft.com/office/drawing/2014/main" id="{E216D731-2C2C-A540-32F9-FE2B5606CF27}"/>
              </a:ext>
            </a:extLst>
          </p:cNvPr>
          <p:cNvCxnSpPr>
            <a:cxnSpLocks/>
          </p:cNvCxnSpPr>
          <p:nvPr/>
        </p:nvCxnSpPr>
        <p:spPr>
          <a:xfrm rot="5400000" flipH="1" flipV="1">
            <a:off x="7597831" y="2982108"/>
            <a:ext cx="2" cy="295196"/>
          </a:xfrm>
          <a:prstGeom prst="curvedConnector3">
            <a:avLst>
              <a:gd name="adj1" fmla="val 1143010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0" name="Straight Connector 199">
            <a:extLst>
              <a:ext uri="{FF2B5EF4-FFF2-40B4-BE49-F238E27FC236}">
                <a16:creationId xmlns:a16="http://schemas.microsoft.com/office/drawing/2014/main" id="{6542084F-D809-8E8F-EF5C-7967FA6F8264}"/>
              </a:ext>
            </a:extLst>
          </p:cNvPr>
          <p:cNvCxnSpPr>
            <a:cxnSpLocks/>
          </p:cNvCxnSpPr>
          <p:nvPr/>
        </p:nvCxnSpPr>
        <p:spPr>
          <a:xfrm flipH="1">
            <a:off x="5606175" y="2970642"/>
            <a:ext cx="1557610" cy="0"/>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48468257"/>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2"/>
                                        </p:tgtEl>
                                        <p:attrNameLst>
                                          <p:attrName>style.visibility</p:attrName>
                                        </p:attrNameLst>
                                      </p:cBhvr>
                                      <p:to>
                                        <p:strVal val="visible"/>
                                      </p:to>
                                    </p:set>
                                    <p:animEffect transition="in" filter="fade">
                                      <p:cBhvr>
                                        <p:cTn id="12" dur="500"/>
                                        <p:tgtEl>
                                          <p:spTgt spid="15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1"/>
                                        </p:tgtEl>
                                        <p:attrNameLst>
                                          <p:attrName>style.visibility</p:attrName>
                                        </p:attrNameLst>
                                      </p:cBhvr>
                                      <p:to>
                                        <p:strVal val="visible"/>
                                      </p:to>
                                    </p:set>
                                    <p:animEffect transition="in" filter="fade">
                                      <p:cBhvr>
                                        <p:cTn id="17" dur="500"/>
                                        <p:tgtEl>
                                          <p:spTgt spid="15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8"/>
                                        </p:tgtEl>
                                        <p:attrNameLst>
                                          <p:attrName>style.visibility</p:attrName>
                                        </p:attrNameLst>
                                      </p:cBhvr>
                                      <p:to>
                                        <p:strVal val="visible"/>
                                      </p:to>
                                    </p:set>
                                    <p:animEffect transition="in" filter="fade">
                                      <p:cBhvr>
                                        <p:cTn id="27" dur="500"/>
                                        <p:tgtEl>
                                          <p:spTgt spid="15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9"/>
                                        </p:tgtEl>
                                        <p:attrNameLst>
                                          <p:attrName>style.visibility</p:attrName>
                                        </p:attrNameLst>
                                      </p:cBhvr>
                                      <p:to>
                                        <p:strVal val="visible"/>
                                      </p:to>
                                    </p:set>
                                    <p:animEffect transition="in" filter="fade">
                                      <p:cBhvr>
                                        <p:cTn id="30" dur="500"/>
                                        <p:tgtEl>
                                          <p:spTgt spid="15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0"/>
                                        </p:tgtEl>
                                        <p:attrNameLst>
                                          <p:attrName>style.visibility</p:attrName>
                                        </p:attrNameLst>
                                      </p:cBhvr>
                                      <p:to>
                                        <p:strVal val="visible"/>
                                      </p:to>
                                    </p:set>
                                    <p:animEffect transition="in" filter="fade">
                                      <p:cBhvr>
                                        <p:cTn id="33" dur="500"/>
                                        <p:tgtEl>
                                          <p:spTgt spid="16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1"/>
                                        </p:tgtEl>
                                        <p:attrNameLst>
                                          <p:attrName>style.visibility</p:attrName>
                                        </p:attrNameLst>
                                      </p:cBhvr>
                                      <p:to>
                                        <p:strVal val="visible"/>
                                      </p:to>
                                    </p:set>
                                    <p:animEffect transition="in" filter="fade">
                                      <p:cBhvr>
                                        <p:cTn id="36" dur="500"/>
                                        <p:tgtEl>
                                          <p:spTgt spid="16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2"/>
                                        </p:tgtEl>
                                        <p:attrNameLst>
                                          <p:attrName>style.visibility</p:attrName>
                                        </p:attrNameLst>
                                      </p:cBhvr>
                                      <p:to>
                                        <p:strVal val="visible"/>
                                      </p:to>
                                    </p:set>
                                    <p:animEffect transition="in" filter="fade">
                                      <p:cBhvr>
                                        <p:cTn id="39" dur="500"/>
                                        <p:tgtEl>
                                          <p:spTgt spid="16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3"/>
                                        </p:tgtEl>
                                        <p:attrNameLst>
                                          <p:attrName>style.visibility</p:attrName>
                                        </p:attrNameLst>
                                      </p:cBhvr>
                                      <p:to>
                                        <p:strVal val="visible"/>
                                      </p:to>
                                    </p:set>
                                    <p:animEffect transition="in" filter="fade">
                                      <p:cBhvr>
                                        <p:cTn id="42" dur="500"/>
                                        <p:tgtEl>
                                          <p:spTgt spid="16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4"/>
                                        </p:tgtEl>
                                        <p:attrNameLst>
                                          <p:attrName>style.visibility</p:attrName>
                                        </p:attrNameLst>
                                      </p:cBhvr>
                                      <p:to>
                                        <p:strVal val="visible"/>
                                      </p:to>
                                    </p:set>
                                    <p:animEffect transition="in" filter="fade">
                                      <p:cBhvr>
                                        <p:cTn id="45" dur="500"/>
                                        <p:tgtEl>
                                          <p:spTgt spid="16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5"/>
                                        </p:tgtEl>
                                        <p:attrNameLst>
                                          <p:attrName>style.visibility</p:attrName>
                                        </p:attrNameLst>
                                      </p:cBhvr>
                                      <p:to>
                                        <p:strVal val="visible"/>
                                      </p:to>
                                    </p:set>
                                    <p:animEffect transition="in" filter="fade">
                                      <p:cBhvr>
                                        <p:cTn id="48" dur="500"/>
                                        <p:tgtEl>
                                          <p:spTgt spid="16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66"/>
                                        </p:tgtEl>
                                        <p:attrNameLst>
                                          <p:attrName>style.visibility</p:attrName>
                                        </p:attrNameLst>
                                      </p:cBhvr>
                                      <p:to>
                                        <p:strVal val="visible"/>
                                      </p:to>
                                    </p:set>
                                    <p:animEffect transition="in" filter="fade">
                                      <p:cBhvr>
                                        <p:cTn id="51" dur="500"/>
                                        <p:tgtEl>
                                          <p:spTgt spid="16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67"/>
                                        </p:tgtEl>
                                        <p:attrNameLst>
                                          <p:attrName>style.visibility</p:attrName>
                                        </p:attrNameLst>
                                      </p:cBhvr>
                                      <p:to>
                                        <p:strVal val="visible"/>
                                      </p:to>
                                    </p:set>
                                    <p:animEffect transition="in" filter="fade">
                                      <p:cBhvr>
                                        <p:cTn id="54" dur="500"/>
                                        <p:tgtEl>
                                          <p:spTgt spid="16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68"/>
                                        </p:tgtEl>
                                        <p:attrNameLst>
                                          <p:attrName>style.visibility</p:attrName>
                                        </p:attrNameLst>
                                      </p:cBhvr>
                                      <p:to>
                                        <p:strVal val="visible"/>
                                      </p:to>
                                    </p:set>
                                    <p:animEffect transition="in" filter="fade">
                                      <p:cBhvr>
                                        <p:cTn id="57" dur="500"/>
                                        <p:tgtEl>
                                          <p:spTgt spid="16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69"/>
                                        </p:tgtEl>
                                        <p:attrNameLst>
                                          <p:attrName>style.visibility</p:attrName>
                                        </p:attrNameLst>
                                      </p:cBhvr>
                                      <p:to>
                                        <p:strVal val="visible"/>
                                      </p:to>
                                    </p:set>
                                    <p:animEffect transition="in" filter="fade">
                                      <p:cBhvr>
                                        <p:cTn id="60" dur="500"/>
                                        <p:tgtEl>
                                          <p:spTgt spid="16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70"/>
                                        </p:tgtEl>
                                        <p:attrNameLst>
                                          <p:attrName>style.visibility</p:attrName>
                                        </p:attrNameLst>
                                      </p:cBhvr>
                                      <p:to>
                                        <p:strVal val="visible"/>
                                      </p:to>
                                    </p:set>
                                    <p:animEffect transition="in" filter="fade">
                                      <p:cBhvr>
                                        <p:cTn id="63" dur="500"/>
                                        <p:tgtEl>
                                          <p:spTgt spid="170"/>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3" nodeType="clickEffect">
                                  <p:stCondLst>
                                    <p:cond delay="0"/>
                                  </p:stCondLst>
                                  <p:childTnLst>
                                    <p:set>
                                      <p:cBhvr>
                                        <p:cTn id="67" dur="1" fill="hold">
                                          <p:stCondLst>
                                            <p:cond delay="0"/>
                                          </p:stCondLst>
                                        </p:cTn>
                                        <p:tgtEl>
                                          <p:spTgt spid="171"/>
                                        </p:tgtEl>
                                        <p:attrNameLst>
                                          <p:attrName>style.visibility</p:attrName>
                                        </p:attrNameLst>
                                      </p:cBhvr>
                                      <p:to>
                                        <p:strVal val="visible"/>
                                      </p:to>
                                    </p:set>
                                    <p:animEffect transition="in" filter="fade">
                                      <p:cBhvr>
                                        <p:cTn id="68" dur="500"/>
                                        <p:tgtEl>
                                          <p:spTgt spid="171"/>
                                        </p:tgtEl>
                                      </p:cBhvr>
                                    </p:animEffect>
                                  </p:childTnLst>
                                </p:cTn>
                              </p:par>
                            </p:childTnLst>
                          </p:cTn>
                        </p:par>
                        <p:par>
                          <p:cTn id="69" fill="hold">
                            <p:stCondLst>
                              <p:cond delay="500"/>
                            </p:stCondLst>
                            <p:childTnLst>
                              <p:par>
                                <p:cTn id="70" presetID="10" presetClass="entr" presetSubtype="0" fill="hold" nodeType="afterEffect">
                                  <p:stCondLst>
                                    <p:cond delay="0"/>
                                  </p:stCondLst>
                                  <p:childTnLst>
                                    <p:set>
                                      <p:cBhvr>
                                        <p:cTn id="71" dur="1" fill="hold">
                                          <p:stCondLst>
                                            <p:cond delay="0"/>
                                          </p:stCondLst>
                                        </p:cTn>
                                        <p:tgtEl>
                                          <p:spTgt spid="177"/>
                                        </p:tgtEl>
                                        <p:attrNameLst>
                                          <p:attrName>style.visibility</p:attrName>
                                        </p:attrNameLst>
                                      </p:cBhvr>
                                      <p:to>
                                        <p:strVal val="visible"/>
                                      </p:to>
                                    </p:set>
                                    <p:animEffect transition="in" filter="fade">
                                      <p:cBhvr>
                                        <p:cTn id="72" dur="500"/>
                                        <p:tgtEl>
                                          <p:spTgt spid="177"/>
                                        </p:tgtEl>
                                      </p:cBhvr>
                                    </p:animEffect>
                                  </p:childTnLst>
                                </p:cTn>
                              </p:par>
                              <p:par>
                                <p:cTn id="73" presetID="42" presetClass="path" presetSubtype="0" accel="50000" decel="50000" fill="hold" grpId="0" nodeType="withEffect">
                                  <p:stCondLst>
                                    <p:cond delay="0"/>
                                  </p:stCondLst>
                                  <p:childTnLst>
                                    <p:animMotion origin="layout" path="M 1.66667E-6 4.44444E-6 L 0.02174 4.44444E-6 " pathEditMode="relative" rAng="0" ptsTypes="AA">
                                      <p:cBhvr>
                                        <p:cTn id="74" dur="1000" fill="hold"/>
                                        <p:tgtEl>
                                          <p:spTgt spid="171"/>
                                        </p:tgtEl>
                                        <p:attrNameLst>
                                          <p:attrName>ppt_x</p:attrName>
                                          <p:attrName>ppt_y</p:attrName>
                                        </p:attrNameLst>
                                      </p:cBhvr>
                                      <p:rCtr x="1081" y="0"/>
                                    </p:animMotion>
                                  </p:childTnLst>
                                </p:cTn>
                              </p:par>
                            </p:childTnLst>
                          </p:cTn>
                        </p:par>
                        <p:par>
                          <p:cTn id="75" fill="hold">
                            <p:stCondLst>
                              <p:cond delay="1500"/>
                            </p:stCondLst>
                            <p:childTnLst>
                              <p:par>
                                <p:cTn id="76" presetID="10" presetClass="entr" presetSubtype="0" fill="hold" nodeType="afterEffect">
                                  <p:stCondLst>
                                    <p:cond delay="0"/>
                                  </p:stCondLst>
                                  <p:childTnLst>
                                    <p:set>
                                      <p:cBhvr>
                                        <p:cTn id="77" dur="1" fill="hold">
                                          <p:stCondLst>
                                            <p:cond delay="0"/>
                                          </p:stCondLst>
                                        </p:cTn>
                                        <p:tgtEl>
                                          <p:spTgt spid="194"/>
                                        </p:tgtEl>
                                        <p:attrNameLst>
                                          <p:attrName>style.visibility</p:attrName>
                                        </p:attrNameLst>
                                      </p:cBhvr>
                                      <p:to>
                                        <p:strVal val="visible"/>
                                      </p:to>
                                    </p:set>
                                    <p:animEffect transition="in" filter="fade">
                                      <p:cBhvr>
                                        <p:cTn id="78" dur="500"/>
                                        <p:tgtEl>
                                          <p:spTgt spid="194"/>
                                        </p:tgtEl>
                                      </p:cBhvr>
                                    </p:animEffect>
                                  </p:childTnLst>
                                </p:cTn>
                              </p:par>
                              <p:par>
                                <p:cTn id="79" presetID="42" presetClass="path" presetSubtype="0" accel="50000" decel="50000" fill="hold" grpId="1" nodeType="withEffect">
                                  <p:stCondLst>
                                    <p:cond delay="0"/>
                                  </p:stCondLst>
                                  <p:childTnLst>
                                    <p:animMotion origin="layout" path="M 0.02175 4.44444E-6 L 0.04596 4.44444E-6 " pathEditMode="relative" rAng="0" ptsTypes="AA">
                                      <p:cBhvr>
                                        <p:cTn id="80" dur="1000" fill="hold"/>
                                        <p:tgtEl>
                                          <p:spTgt spid="171"/>
                                        </p:tgtEl>
                                        <p:attrNameLst>
                                          <p:attrName>ppt_x</p:attrName>
                                          <p:attrName>ppt_y</p:attrName>
                                        </p:attrNameLst>
                                      </p:cBhvr>
                                      <p:rCtr x="1328" y="0"/>
                                    </p:animMotion>
                                  </p:childTnLst>
                                </p:cTn>
                              </p:par>
                            </p:childTnLst>
                          </p:cTn>
                        </p:par>
                        <p:par>
                          <p:cTn id="81" fill="hold">
                            <p:stCondLst>
                              <p:cond delay="2500"/>
                            </p:stCondLst>
                            <p:childTnLst>
                              <p:par>
                                <p:cTn id="82" presetID="10" presetClass="entr" presetSubtype="0" fill="hold" nodeType="afterEffect">
                                  <p:stCondLst>
                                    <p:cond delay="0"/>
                                  </p:stCondLst>
                                  <p:childTnLst>
                                    <p:set>
                                      <p:cBhvr>
                                        <p:cTn id="83" dur="1" fill="hold">
                                          <p:stCondLst>
                                            <p:cond delay="0"/>
                                          </p:stCondLst>
                                        </p:cTn>
                                        <p:tgtEl>
                                          <p:spTgt spid="200"/>
                                        </p:tgtEl>
                                        <p:attrNameLst>
                                          <p:attrName>style.visibility</p:attrName>
                                        </p:attrNameLst>
                                      </p:cBhvr>
                                      <p:to>
                                        <p:strVal val="visible"/>
                                      </p:to>
                                    </p:set>
                                    <p:animEffect transition="in" filter="fade">
                                      <p:cBhvr>
                                        <p:cTn id="84" dur="500"/>
                                        <p:tgtEl>
                                          <p:spTgt spid="200"/>
                                        </p:tgtEl>
                                      </p:cBhvr>
                                    </p:animEffect>
                                  </p:childTnLst>
                                </p:cTn>
                              </p:par>
                            </p:childTnLst>
                          </p:cTn>
                        </p:par>
                        <p:par>
                          <p:cTn id="85" fill="hold">
                            <p:stCondLst>
                              <p:cond delay="3000"/>
                            </p:stCondLst>
                            <p:childTnLst>
                              <p:par>
                                <p:cTn id="86" presetID="10" presetClass="entr" presetSubtype="0" fill="hold" nodeType="afterEffect">
                                  <p:stCondLst>
                                    <p:cond delay="0"/>
                                  </p:stCondLst>
                                  <p:childTnLst>
                                    <p:set>
                                      <p:cBhvr>
                                        <p:cTn id="87" dur="1" fill="hold">
                                          <p:stCondLst>
                                            <p:cond delay="0"/>
                                          </p:stCondLst>
                                        </p:cTn>
                                        <p:tgtEl>
                                          <p:spTgt spid="199"/>
                                        </p:tgtEl>
                                        <p:attrNameLst>
                                          <p:attrName>style.visibility</p:attrName>
                                        </p:attrNameLst>
                                      </p:cBhvr>
                                      <p:to>
                                        <p:strVal val="visible"/>
                                      </p:to>
                                    </p:set>
                                    <p:animEffect transition="in" filter="fade">
                                      <p:cBhvr>
                                        <p:cTn id="88" dur="500"/>
                                        <p:tgtEl>
                                          <p:spTgt spid="199"/>
                                        </p:tgtEl>
                                      </p:cBhvr>
                                    </p:animEffect>
                                  </p:childTnLst>
                                </p:cTn>
                              </p:par>
                              <p:par>
                                <p:cTn id="89" presetID="42" presetClass="path" presetSubtype="0" accel="50000" decel="50000" fill="hold" grpId="2" nodeType="withEffect">
                                  <p:stCondLst>
                                    <p:cond delay="0"/>
                                  </p:stCondLst>
                                  <p:childTnLst>
                                    <p:animMotion origin="layout" path="M 0.04597 1.85185E-6 L 0.23906 -0.00162 " pathEditMode="relative" rAng="0" ptsTypes="AA">
                                      <p:cBhvr>
                                        <p:cTn id="90" dur="1000" fill="hold"/>
                                        <p:tgtEl>
                                          <p:spTgt spid="171"/>
                                        </p:tgtEl>
                                        <p:attrNameLst>
                                          <p:attrName>ppt_x</p:attrName>
                                          <p:attrName>ppt_y</p:attrName>
                                        </p:attrNameLst>
                                      </p:cBhvr>
                                      <p:rCtr x="9779" y="278"/>
                                    </p:animMotion>
                                  </p:childTnLst>
                                </p:cTn>
                              </p:par>
                            </p:childTnLst>
                          </p:cTn>
                        </p:par>
                        <p:par>
                          <p:cTn id="91" fill="hold">
                            <p:stCondLst>
                              <p:cond delay="4000"/>
                            </p:stCondLst>
                            <p:childTnLst>
                              <p:par>
                                <p:cTn id="92" presetID="10" presetClass="entr" presetSubtype="0" fill="hold" grpId="0" nodeType="afterEffect">
                                  <p:stCondLst>
                                    <p:cond delay="0"/>
                                  </p:stCondLst>
                                  <p:childTnLst>
                                    <p:set>
                                      <p:cBhvr>
                                        <p:cTn id="93" dur="1" fill="hold">
                                          <p:stCondLst>
                                            <p:cond delay="0"/>
                                          </p:stCondLst>
                                        </p:cTn>
                                        <p:tgtEl>
                                          <p:spTgt spid="175"/>
                                        </p:tgtEl>
                                        <p:attrNameLst>
                                          <p:attrName>style.visibility</p:attrName>
                                        </p:attrNameLst>
                                      </p:cBhvr>
                                      <p:to>
                                        <p:strVal val="visible"/>
                                      </p:to>
                                    </p:set>
                                    <p:animEffect transition="in" filter="fade">
                                      <p:cBhvr>
                                        <p:cTn id="94" dur="500"/>
                                        <p:tgtEl>
                                          <p:spTgt spid="175"/>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26"/>
                                        </p:tgtEl>
                                        <p:attrNameLst>
                                          <p:attrName>style.visibility</p:attrName>
                                        </p:attrNameLst>
                                      </p:cBhvr>
                                      <p:to>
                                        <p:strVal val="visible"/>
                                      </p:to>
                                    </p:set>
                                    <p:animEffect transition="in" filter="fade">
                                      <p:cBhvr>
                                        <p:cTn id="9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158" grpId="0" animBg="1"/>
      <p:bldP spid="159" grpId="0" animBg="1"/>
      <p:bldP spid="160" grpId="0" animBg="1"/>
      <p:bldP spid="161" grpId="0" animBg="1"/>
      <p:bldP spid="162" grpId="0" animBg="1"/>
      <p:bldP spid="163" grpId="0" animBg="1"/>
      <p:bldP spid="164" grpId="0" animBg="1"/>
      <p:bldP spid="165" grpId="0" animBg="1"/>
      <p:bldP spid="166" grpId="0" animBg="1"/>
      <p:bldP spid="167" grpId="0" animBg="1"/>
      <p:bldP spid="168" grpId="0" animBg="1"/>
      <p:bldP spid="169" grpId="0" animBg="1"/>
      <p:bldP spid="170" grpId="0"/>
      <p:bldP spid="171" grpId="0"/>
      <p:bldP spid="171" grpId="1"/>
      <p:bldP spid="171" grpId="2"/>
      <p:bldP spid="171" grpId="3"/>
      <p:bldP spid="17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97584-8080-6D45-82DB-EBEAA666A879}"/>
              </a:ext>
            </a:extLst>
          </p:cNvPr>
          <p:cNvSpPr>
            <a:spLocks noGrp="1"/>
          </p:cNvSpPr>
          <p:nvPr>
            <p:ph type="title"/>
          </p:nvPr>
        </p:nvSpPr>
        <p:spPr>
          <a:xfrm>
            <a:off x="5227290" y="236007"/>
            <a:ext cx="1737419" cy="315912"/>
          </a:xfrm>
        </p:spPr>
        <p:txBody>
          <a:bodyPr>
            <a:normAutofit fontScale="90000"/>
          </a:bodyPr>
          <a:lstStyle/>
          <a:p>
            <a:r>
              <a:rPr lang="en-US" sz="3200" dirty="0"/>
              <a:t>g-function</a:t>
            </a:r>
          </a:p>
        </p:txBody>
      </p:sp>
      <p:grpSp>
        <p:nvGrpSpPr>
          <p:cNvPr id="4" name="Group 3">
            <a:extLst>
              <a:ext uri="{FF2B5EF4-FFF2-40B4-BE49-F238E27FC236}">
                <a16:creationId xmlns:a16="http://schemas.microsoft.com/office/drawing/2014/main" id="{77DC3676-6343-498E-1E39-E71FFAA62030}"/>
              </a:ext>
            </a:extLst>
          </p:cNvPr>
          <p:cNvGrpSpPr/>
          <p:nvPr/>
        </p:nvGrpSpPr>
        <p:grpSpPr>
          <a:xfrm>
            <a:off x="5301160" y="1270067"/>
            <a:ext cx="1646039" cy="400685"/>
            <a:chOff x="1968263" y="1055622"/>
            <a:chExt cx="5157152" cy="401190"/>
          </a:xfrm>
        </p:grpSpPr>
        <p:sp>
          <p:nvSpPr>
            <p:cNvPr id="5" name="Rectangle 4">
              <a:extLst>
                <a:ext uri="{FF2B5EF4-FFF2-40B4-BE49-F238E27FC236}">
                  <a16:creationId xmlns:a16="http://schemas.microsoft.com/office/drawing/2014/main" id="{EE323C7B-9BE0-9FDA-D7A7-0767652A6263}"/>
                </a:ext>
              </a:extLst>
            </p:cNvPr>
            <p:cNvSpPr>
              <a:spLocks/>
            </p:cNvSpPr>
            <p:nvPr/>
          </p:nvSpPr>
          <p:spPr>
            <a:xfrm>
              <a:off x="1968263" y="1055623"/>
              <a:ext cx="1289288"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B4785EA-84D2-B6F1-395B-618A7CF4EB28}"/>
                </a:ext>
              </a:extLst>
            </p:cNvPr>
            <p:cNvSpPr>
              <a:spLocks/>
            </p:cNvSpPr>
            <p:nvPr/>
          </p:nvSpPr>
          <p:spPr>
            <a:xfrm>
              <a:off x="5836127" y="1055622"/>
              <a:ext cx="1289288"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66ED4BE-CA3F-00C9-E607-955D3DBD9DE7}"/>
                </a:ext>
              </a:extLst>
            </p:cNvPr>
            <p:cNvSpPr>
              <a:spLocks/>
            </p:cNvSpPr>
            <p:nvPr/>
          </p:nvSpPr>
          <p:spPr>
            <a:xfrm>
              <a:off x="4546839" y="1056127"/>
              <a:ext cx="1289288"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42A5F3C-DA21-EC84-D383-BB314F0594E4}"/>
                </a:ext>
              </a:extLst>
            </p:cNvPr>
            <p:cNvSpPr>
              <a:spLocks/>
            </p:cNvSpPr>
            <p:nvPr/>
          </p:nvSpPr>
          <p:spPr>
            <a:xfrm>
              <a:off x="3257551" y="1055622"/>
              <a:ext cx="1289288"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a:extLst>
              <a:ext uri="{FF2B5EF4-FFF2-40B4-BE49-F238E27FC236}">
                <a16:creationId xmlns:a16="http://schemas.microsoft.com/office/drawing/2014/main" id="{C2763561-0040-E546-5651-26734BBBEE62}"/>
              </a:ext>
            </a:extLst>
          </p:cNvPr>
          <p:cNvSpPr txBox="1"/>
          <p:nvPr/>
        </p:nvSpPr>
        <p:spPr>
          <a:xfrm>
            <a:off x="5212910" y="1285491"/>
            <a:ext cx="588009" cy="369332"/>
          </a:xfrm>
          <a:prstGeom prst="rect">
            <a:avLst/>
          </a:prstGeom>
          <a:noFill/>
        </p:spPr>
        <p:txBody>
          <a:bodyPr wrap="square" rtlCol="0">
            <a:spAutoFit/>
          </a:bodyPr>
          <a:lstStyle/>
          <a:p>
            <a:pPr algn="ctr"/>
            <a:r>
              <a:rPr lang="en-US" dirty="0"/>
              <a:t>V0</a:t>
            </a:r>
          </a:p>
        </p:txBody>
      </p:sp>
      <p:sp>
        <p:nvSpPr>
          <p:cNvPr id="10" name="TextBox 9">
            <a:extLst>
              <a:ext uri="{FF2B5EF4-FFF2-40B4-BE49-F238E27FC236}">
                <a16:creationId xmlns:a16="http://schemas.microsoft.com/office/drawing/2014/main" id="{713DD0E3-DBCA-C421-CF6E-0B04DE3C37D2}"/>
              </a:ext>
            </a:extLst>
          </p:cNvPr>
          <p:cNvSpPr txBox="1"/>
          <p:nvPr/>
        </p:nvSpPr>
        <p:spPr>
          <a:xfrm>
            <a:off x="5624420" y="1280993"/>
            <a:ext cx="588009" cy="369332"/>
          </a:xfrm>
          <a:prstGeom prst="rect">
            <a:avLst/>
          </a:prstGeom>
          <a:noFill/>
        </p:spPr>
        <p:txBody>
          <a:bodyPr wrap="square" rtlCol="0">
            <a:spAutoFit/>
          </a:bodyPr>
          <a:lstStyle/>
          <a:p>
            <a:pPr algn="ctr"/>
            <a:r>
              <a:rPr lang="en-US" dirty="0"/>
              <a:t>V1</a:t>
            </a:r>
          </a:p>
        </p:txBody>
      </p:sp>
      <p:sp>
        <p:nvSpPr>
          <p:cNvPr id="11" name="TextBox 10">
            <a:extLst>
              <a:ext uri="{FF2B5EF4-FFF2-40B4-BE49-F238E27FC236}">
                <a16:creationId xmlns:a16="http://schemas.microsoft.com/office/drawing/2014/main" id="{64D2B602-6744-1813-5BF6-576EC20253D6}"/>
              </a:ext>
            </a:extLst>
          </p:cNvPr>
          <p:cNvSpPr txBox="1"/>
          <p:nvPr/>
        </p:nvSpPr>
        <p:spPr>
          <a:xfrm>
            <a:off x="6096000" y="1277527"/>
            <a:ext cx="467869" cy="369332"/>
          </a:xfrm>
          <a:prstGeom prst="rect">
            <a:avLst/>
          </a:prstGeom>
          <a:noFill/>
        </p:spPr>
        <p:txBody>
          <a:bodyPr wrap="square" rtlCol="0">
            <a:spAutoFit/>
          </a:bodyPr>
          <a:lstStyle/>
          <a:p>
            <a:pPr algn="ctr"/>
            <a:r>
              <a:rPr lang="en-US" dirty="0"/>
              <a:t>V2</a:t>
            </a:r>
          </a:p>
        </p:txBody>
      </p:sp>
      <p:sp>
        <p:nvSpPr>
          <p:cNvPr id="12" name="TextBox 11">
            <a:extLst>
              <a:ext uri="{FF2B5EF4-FFF2-40B4-BE49-F238E27FC236}">
                <a16:creationId xmlns:a16="http://schemas.microsoft.com/office/drawing/2014/main" id="{31CFA7A0-1B24-68A3-63E3-2721C0DDB2B3}"/>
              </a:ext>
            </a:extLst>
          </p:cNvPr>
          <p:cNvSpPr txBox="1"/>
          <p:nvPr/>
        </p:nvSpPr>
        <p:spPr>
          <a:xfrm>
            <a:off x="6519812" y="1285491"/>
            <a:ext cx="443265" cy="369332"/>
          </a:xfrm>
          <a:prstGeom prst="rect">
            <a:avLst/>
          </a:prstGeom>
          <a:noFill/>
        </p:spPr>
        <p:txBody>
          <a:bodyPr wrap="square" rtlCol="0">
            <a:spAutoFit/>
          </a:bodyPr>
          <a:lstStyle/>
          <a:p>
            <a:pPr algn="ctr"/>
            <a:r>
              <a:rPr lang="en-US" dirty="0"/>
              <a:t>V3</a:t>
            </a:r>
          </a:p>
        </p:txBody>
      </p:sp>
      <p:cxnSp>
        <p:nvCxnSpPr>
          <p:cNvPr id="13" name="Straight Arrow Connector 12">
            <a:extLst>
              <a:ext uri="{FF2B5EF4-FFF2-40B4-BE49-F238E27FC236}">
                <a16:creationId xmlns:a16="http://schemas.microsoft.com/office/drawing/2014/main" id="{D2A32466-640F-A631-579D-A081D2555476}"/>
              </a:ext>
            </a:extLst>
          </p:cNvPr>
          <p:cNvCxnSpPr>
            <a:cxnSpLocks/>
          </p:cNvCxnSpPr>
          <p:nvPr/>
        </p:nvCxnSpPr>
        <p:spPr>
          <a:xfrm>
            <a:off x="6097510" y="770055"/>
            <a:ext cx="10160" cy="47611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8418B45-8595-9943-6938-2855D6A8F350}"/>
              </a:ext>
            </a:extLst>
          </p:cNvPr>
          <p:cNvCxnSpPr>
            <a:cxnSpLocks/>
          </p:cNvCxnSpPr>
          <p:nvPr/>
        </p:nvCxnSpPr>
        <p:spPr>
          <a:xfrm flipH="1">
            <a:off x="6049606" y="890031"/>
            <a:ext cx="128825" cy="11392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50577CB5-67F6-8FB4-2613-0889BE5D6FD6}"/>
              </a:ext>
            </a:extLst>
          </p:cNvPr>
          <p:cNvSpPr txBox="1"/>
          <p:nvPr/>
        </p:nvSpPr>
        <p:spPr>
          <a:xfrm>
            <a:off x="6124180" y="803030"/>
            <a:ext cx="457925" cy="369332"/>
          </a:xfrm>
          <a:prstGeom prst="rect">
            <a:avLst/>
          </a:prstGeom>
          <a:noFill/>
        </p:spPr>
        <p:txBody>
          <a:bodyPr wrap="square" rtlCol="0">
            <a:spAutoFit/>
          </a:bodyPr>
          <a:lstStyle/>
          <a:p>
            <a:r>
              <a:rPr lang="en-US" dirty="0"/>
              <a:t>32</a:t>
            </a:r>
          </a:p>
        </p:txBody>
      </p:sp>
      <p:cxnSp>
        <p:nvCxnSpPr>
          <p:cNvPr id="16" name="Straight Arrow Connector 15">
            <a:extLst>
              <a:ext uri="{FF2B5EF4-FFF2-40B4-BE49-F238E27FC236}">
                <a16:creationId xmlns:a16="http://schemas.microsoft.com/office/drawing/2014/main" id="{B5DD17E4-E3AF-A529-4FF8-B351B8D5D702}"/>
              </a:ext>
            </a:extLst>
          </p:cNvPr>
          <p:cNvCxnSpPr>
            <a:cxnSpLocks/>
            <a:stCxn id="5" idx="2"/>
            <a:endCxn id="44" idx="0"/>
          </p:cNvCxnSpPr>
          <p:nvPr/>
        </p:nvCxnSpPr>
        <p:spPr>
          <a:xfrm rot="16200000" flipH="1">
            <a:off x="5637208" y="1539956"/>
            <a:ext cx="1070133" cy="1330718"/>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3F7500-C015-0ACD-8DCD-09EEF474A290}"/>
              </a:ext>
            </a:extLst>
          </p:cNvPr>
          <p:cNvCxnSpPr>
            <a:cxnSpLocks/>
          </p:cNvCxnSpPr>
          <p:nvPr/>
        </p:nvCxnSpPr>
        <p:spPr>
          <a:xfrm flipH="1">
            <a:off x="5472649" y="1805648"/>
            <a:ext cx="128825" cy="11392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4406EC03-ACA2-A80D-574E-B568AC94481A}"/>
              </a:ext>
            </a:extLst>
          </p:cNvPr>
          <p:cNvSpPr txBox="1"/>
          <p:nvPr/>
        </p:nvSpPr>
        <p:spPr>
          <a:xfrm>
            <a:off x="5212910" y="1685672"/>
            <a:ext cx="281729" cy="369332"/>
          </a:xfrm>
          <a:prstGeom prst="rect">
            <a:avLst/>
          </a:prstGeom>
          <a:noFill/>
        </p:spPr>
        <p:txBody>
          <a:bodyPr wrap="square" rtlCol="0">
            <a:spAutoFit/>
          </a:bodyPr>
          <a:lstStyle/>
          <a:p>
            <a:r>
              <a:rPr lang="en-US" dirty="0"/>
              <a:t>8</a:t>
            </a:r>
          </a:p>
        </p:txBody>
      </p:sp>
      <p:cxnSp>
        <p:nvCxnSpPr>
          <p:cNvPr id="21" name="Straight Arrow Connector 20">
            <a:extLst>
              <a:ext uri="{FF2B5EF4-FFF2-40B4-BE49-F238E27FC236}">
                <a16:creationId xmlns:a16="http://schemas.microsoft.com/office/drawing/2014/main" id="{74C69C89-BDCF-527E-C041-E1B1B0AF58E2}"/>
              </a:ext>
            </a:extLst>
          </p:cNvPr>
          <p:cNvCxnSpPr>
            <a:cxnSpLocks/>
            <a:stCxn id="8" idx="2"/>
            <a:endCxn id="37" idx="0"/>
          </p:cNvCxnSpPr>
          <p:nvPr/>
        </p:nvCxnSpPr>
        <p:spPr>
          <a:xfrm rot="5400000">
            <a:off x="5181559" y="2011482"/>
            <a:ext cx="1078100" cy="395633"/>
          </a:xfrm>
          <a:prstGeom prst="bentConnector3">
            <a:avLst>
              <a:gd name="adj1" fmla="val 5742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27123454-184D-13EE-F3B2-7794AD45BC80}"/>
              </a:ext>
            </a:extLst>
          </p:cNvPr>
          <p:cNvCxnSpPr>
            <a:cxnSpLocks/>
          </p:cNvCxnSpPr>
          <p:nvPr/>
        </p:nvCxnSpPr>
        <p:spPr>
          <a:xfrm flipH="1">
            <a:off x="5873252" y="1801149"/>
            <a:ext cx="128825" cy="11392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FA91024C-6E0F-0F85-E47E-30810129FEF4}"/>
              </a:ext>
            </a:extLst>
          </p:cNvPr>
          <p:cNvSpPr txBox="1"/>
          <p:nvPr/>
        </p:nvSpPr>
        <p:spPr>
          <a:xfrm>
            <a:off x="5613513" y="1681173"/>
            <a:ext cx="281729" cy="369332"/>
          </a:xfrm>
          <a:prstGeom prst="rect">
            <a:avLst/>
          </a:prstGeom>
          <a:noFill/>
        </p:spPr>
        <p:txBody>
          <a:bodyPr wrap="square" rtlCol="0">
            <a:spAutoFit/>
          </a:bodyPr>
          <a:lstStyle/>
          <a:p>
            <a:r>
              <a:rPr lang="en-US" dirty="0"/>
              <a:t>8</a:t>
            </a:r>
          </a:p>
        </p:txBody>
      </p:sp>
      <p:cxnSp>
        <p:nvCxnSpPr>
          <p:cNvPr id="30" name="Straight Arrow Connector 29">
            <a:extLst>
              <a:ext uri="{FF2B5EF4-FFF2-40B4-BE49-F238E27FC236}">
                <a16:creationId xmlns:a16="http://schemas.microsoft.com/office/drawing/2014/main" id="{C30855AA-8EC2-82A4-0636-935436E8C4D8}"/>
              </a:ext>
            </a:extLst>
          </p:cNvPr>
          <p:cNvCxnSpPr>
            <a:cxnSpLocks/>
            <a:stCxn id="7" idx="2"/>
            <a:endCxn id="40" idx="0"/>
          </p:cNvCxnSpPr>
          <p:nvPr/>
        </p:nvCxnSpPr>
        <p:spPr>
          <a:xfrm rot="5400000">
            <a:off x="5593322" y="2011733"/>
            <a:ext cx="1077595" cy="395633"/>
          </a:xfrm>
          <a:prstGeom prst="bentConnector3">
            <a:avLst>
              <a:gd name="adj1" fmla="val 61668"/>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B6C870C6-C985-50A6-8826-89D93C6D488A}"/>
              </a:ext>
            </a:extLst>
          </p:cNvPr>
          <p:cNvCxnSpPr>
            <a:cxnSpLocks/>
          </p:cNvCxnSpPr>
          <p:nvPr/>
        </p:nvCxnSpPr>
        <p:spPr>
          <a:xfrm flipH="1">
            <a:off x="6288146" y="1814117"/>
            <a:ext cx="128825" cy="11392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BF821F76-2C2F-334E-1D09-BC556E0301F8}"/>
              </a:ext>
            </a:extLst>
          </p:cNvPr>
          <p:cNvSpPr txBox="1"/>
          <p:nvPr/>
        </p:nvSpPr>
        <p:spPr>
          <a:xfrm>
            <a:off x="6028407" y="1694141"/>
            <a:ext cx="281729" cy="369332"/>
          </a:xfrm>
          <a:prstGeom prst="rect">
            <a:avLst/>
          </a:prstGeom>
          <a:noFill/>
        </p:spPr>
        <p:txBody>
          <a:bodyPr wrap="square" rtlCol="0">
            <a:spAutoFit/>
          </a:bodyPr>
          <a:lstStyle/>
          <a:p>
            <a:r>
              <a:rPr lang="en-US" dirty="0"/>
              <a:t>8</a:t>
            </a:r>
          </a:p>
        </p:txBody>
      </p:sp>
      <p:cxnSp>
        <p:nvCxnSpPr>
          <p:cNvPr id="33" name="Straight Arrow Connector 32">
            <a:extLst>
              <a:ext uri="{FF2B5EF4-FFF2-40B4-BE49-F238E27FC236}">
                <a16:creationId xmlns:a16="http://schemas.microsoft.com/office/drawing/2014/main" id="{666C00BD-FFE5-EA5B-F847-198F68ED665F}"/>
              </a:ext>
            </a:extLst>
          </p:cNvPr>
          <p:cNvCxnSpPr>
            <a:cxnSpLocks/>
            <a:stCxn id="6" idx="2"/>
            <a:endCxn id="43" idx="0"/>
          </p:cNvCxnSpPr>
          <p:nvPr/>
        </p:nvCxnSpPr>
        <p:spPr>
          <a:xfrm rot="5400000">
            <a:off x="6000849" y="2015211"/>
            <a:ext cx="1085559" cy="395632"/>
          </a:xfrm>
          <a:prstGeom prst="bentConnector3">
            <a:avLst>
              <a:gd name="adj1" fmla="val 66847"/>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94A61876-9283-7132-9A9F-0EBD6F23A644}"/>
              </a:ext>
            </a:extLst>
          </p:cNvPr>
          <p:cNvCxnSpPr>
            <a:cxnSpLocks/>
          </p:cNvCxnSpPr>
          <p:nvPr/>
        </p:nvCxnSpPr>
        <p:spPr>
          <a:xfrm flipH="1">
            <a:off x="6682324" y="1805648"/>
            <a:ext cx="128825" cy="11392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518A5AAD-8578-5170-3B9F-4424E9F97469}"/>
              </a:ext>
            </a:extLst>
          </p:cNvPr>
          <p:cNvSpPr txBox="1"/>
          <p:nvPr/>
        </p:nvSpPr>
        <p:spPr>
          <a:xfrm>
            <a:off x="6422585" y="1685672"/>
            <a:ext cx="281729" cy="369332"/>
          </a:xfrm>
          <a:prstGeom prst="rect">
            <a:avLst/>
          </a:prstGeom>
          <a:noFill/>
        </p:spPr>
        <p:txBody>
          <a:bodyPr wrap="square" rtlCol="0">
            <a:spAutoFit/>
          </a:bodyPr>
          <a:lstStyle/>
          <a:p>
            <a:r>
              <a:rPr lang="en-US" dirty="0"/>
              <a:t>8</a:t>
            </a:r>
          </a:p>
        </p:txBody>
      </p:sp>
      <p:grpSp>
        <p:nvGrpSpPr>
          <p:cNvPr id="36" name="Group 35">
            <a:extLst>
              <a:ext uri="{FF2B5EF4-FFF2-40B4-BE49-F238E27FC236}">
                <a16:creationId xmlns:a16="http://schemas.microsoft.com/office/drawing/2014/main" id="{701E8A50-5C72-A9D3-7BCF-8F88458DB2B5}"/>
              </a:ext>
            </a:extLst>
          </p:cNvPr>
          <p:cNvGrpSpPr/>
          <p:nvPr/>
        </p:nvGrpSpPr>
        <p:grpSpPr>
          <a:xfrm>
            <a:off x="5317037" y="2748347"/>
            <a:ext cx="1646039" cy="400685"/>
            <a:chOff x="1968263" y="1055622"/>
            <a:chExt cx="5157152" cy="401190"/>
          </a:xfrm>
        </p:grpSpPr>
        <p:sp>
          <p:nvSpPr>
            <p:cNvPr id="37" name="Rectangle 36">
              <a:extLst>
                <a:ext uri="{FF2B5EF4-FFF2-40B4-BE49-F238E27FC236}">
                  <a16:creationId xmlns:a16="http://schemas.microsoft.com/office/drawing/2014/main" id="{4CC9A284-C6C5-A0B5-C885-0B8BA2A7893E}"/>
                </a:ext>
              </a:extLst>
            </p:cNvPr>
            <p:cNvSpPr>
              <a:spLocks/>
            </p:cNvSpPr>
            <p:nvPr/>
          </p:nvSpPr>
          <p:spPr>
            <a:xfrm>
              <a:off x="1968263" y="1055623"/>
              <a:ext cx="1289288"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BBE50815-315B-5268-9566-CEB644FCEFA9}"/>
                </a:ext>
              </a:extLst>
            </p:cNvPr>
            <p:cNvSpPr>
              <a:spLocks/>
            </p:cNvSpPr>
            <p:nvPr/>
          </p:nvSpPr>
          <p:spPr>
            <a:xfrm>
              <a:off x="5836127" y="1055622"/>
              <a:ext cx="1289288"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C801349C-186B-279D-A460-486AED468401}"/>
                </a:ext>
              </a:extLst>
            </p:cNvPr>
            <p:cNvSpPr>
              <a:spLocks/>
            </p:cNvSpPr>
            <p:nvPr/>
          </p:nvSpPr>
          <p:spPr>
            <a:xfrm>
              <a:off x="4546839" y="1056127"/>
              <a:ext cx="1289288"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CBB7308E-8477-C8D0-C7E8-64F834B3FA0D}"/>
                </a:ext>
              </a:extLst>
            </p:cNvPr>
            <p:cNvSpPr>
              <a:spLocks/>
            </p:cNvSpPr>
            <p:nvPr/>
          </p:nvSpPr>
          <p:spPr>
            <a:xfrm>
              <a:off x="3257551" y="1055622"/>
              <a:ext cx="1289288" cy="400685"/>
            </a:xfrm>
            <a:prstGeom prst="rect">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 name="TextBox 40">
            <a:extLst>
              <a:ext uri="{FF2B5EF4-FFF2-40B4-BE49-F238E27FC236}">
                <a16:creationId xmlns:a16="http://schemas.microsoft.com/office/drawing/2014/main" id="{3911A219-054F-16D0-F21C-C9D62A7D11AF}"/>
              </a:ext>
            </a:extLst>
          </p:cNvPr>
          <p:cNvSpPr txBox="1"/>
          <p:nvPr/>
        </p:nvSpPr>
        <p:spPr>
          <a:xfrm>
            <a:off x="5228787" y="2763771"/>
            <a:ext cx="588009" cy="369332"/>
          </a:xfrm>
          <a:prstGeom prst="rect">
            <a:avLst/>
          </a:prstGeom>
          <a:noFill/>
        </p:spPr>
        <p:txBody>
          <a:bodyPr wrap="square" rtlCol="0">
            <a:spAutoFit/>
          </a:bodyPr>
          <a:lstStyle/>
          <a:p>
            <a:pPr algn="ctr"/>
            <a:r>
              <a:rPr lang="en-US" dirty="0"/>
              <a:t>V1</a:t>
            </a:r>
          </a:p>
        </p:txBody>
      </p:sp>
      <p:sp>
        <p:nvSpPr>
          <p:cNvPr id="42" name="TextBox 41">
            <a:extLst>
              <a:ext uri="{FF2B5EF4-FFF2-40B4-BE49-F238E27FC236}">
                <a16:creationId xmlns:a16="http://schemas.microsoft.com/office/drawing/2014/main" id="{4C7A11BD-BF88-FB39-8692-2306BA178BD8}"/>
              </a:ext>
            </a:extLst>
          </p:cNvPr>
          <p:cNvSpPr txBox="1"/>
          <p:nvPr/>
        </p:nvSpPr>
        <p:spPr>
          <a:xfrm>
            <a:off x="5640297" y="2759273"/>
            <a:ext cx="588009" cy="369332"/>
          </a:xfrm>
          <a:prstGeom prst="rect">
            <a:avLst/>
          </a:prstGeom>
          <a:noFill/>
        </p:spPr>
        <p:txBody>
          <a:bodyPr wrap="square" rtlCol="0">
            <a:spAutoFit/>
          </a:bodyPr>
          <a:lstStyle/>
          <a:p>
            <a:pPr algn="ctr"/>
            <a:r>
              <a:rPr lang="en-US" dirty="0"/>
              <a:t>V2</a:t>
            </a:r>
          </a:p>
        </p:txBody>
      </p:sp>
      <p:sp>
        <p:nvSpPr>
          <p:cNvPr id="43" name="TextBox 42">
            <a:extLst>
              <a:ext uri="{FF2B5EF4-FFF2-40B4-BE49-F238E27FC236}">
                <a16:creationId xmlns:a16="http://schemas.microsoft.com/office/drawing/2014/main" id="{051100C9-B57A-ECEB-D5C6-213AB7160135}"/>
              </a:ext>
            </a:extLst>
          </p:cNvPr>
          <p:cNvSpPr txBox="1"/>
          <p:nvPr/>
        </p:nvSpPr>
        <p:spPr>
          <a:xfrm>
            <a:off x="6111877" y="2755807"/>
            <a:ext cx="467869" cy="369332"/>
          </a:xfrm>
          <a:prstGeom prst="rect">
            <a:avLst/>
          </a:prstGeom>
          <a:noFill/>
        </p:spPr>
        <p:txBody>
          <a:bodyPr wrap="square" rtlCol="0">
            <a:spAutoFit/>
          </a:bodyPr>
          <a:lstStyle/>
          <a:p>
            <a:pPr algn="ctr"/>
            <a:r>
              <a:rPr lang="en-US" dirty="0"/>
              <a:t>V3</a:t>
            </a:r>
          </a:p>
        </p:txBody>
      </p:sp>
      <p:sp>
        <p:nvSpPr>
          <p:cNvPr id="44" name="TextBox 43">
            <a:extLst>
              <a:ext uri="{FF2B5EF4-FFF2-40B4-BE49-F238E27FC236}">
                <a16:creationId xmlns:a16="http://schemas.microsoft.com/office/drawing/2014/main" id="{ED1A9248-5E32-1DF4-34F1-0E14BB583C4E}"/>
              </a:ext>
            </a:extLst>
          </p:cNvPr>
          <p:cNvSpPr txBox="1"/>
          <p:nvPr/>
        </p:nvSpPr>
        <p:spPr>
          <a:xfrm>
            <a:off x="6543628" y="2740382"/>
            <a:ext cx="588009" cy="369332"/>
          </a:xfrm>
          <a:prstGeom prst="rect">
            <a:avLst/>
          </a:prstGeom>
          <a:noFill/>
        </p:spPr>
        <p:txBody>
          <a:bodyPr wrap="square" rtlCol="0">
            <a:spAutoFit/>
          </a:bodyPr>
          <a:lstStyle/>
          <a:p>
            <a:r>
              <a:rPr lang="en-US" dirty="0"/>
              <a:t>V0</a:t>
            </a:r>
          </a:p>
        </p:txBody>
      </p:sp>
      <p:sp>
        <p:nvSpPr>
          <p:cNvPr id="66" name="Oval 65">
            <a:extLst>
              <a:ext uri="{FF2B5EF4-FFF2-40B4-BE49-F238E27FC236}">
                <a16:creationId xmlns:a16="http://schemas.microsoft.com/office/drawing/2014/main" id="{035D97A5-860E-7036-D9BD-9D733CFD8E70}"/>
              </a:ext>
            </a:extLst>
          </p:cNvPr>
          <p:cNvSpPr/>
          <p:nvPr/>
        </p:nvSpPr>
        <p:spPr>
          <a:xfrm>
            <a:off x="5038148" y="3657204"/>
            <a:ext cx="400181" cy="400181"/>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2A8BD9F1-F35F-5C1C-A456-566F3068B161}"/>
              </a:ext>
            </a:extLst>
          </p:cNvPr>
          <p:cNvSpPr/>
          <p:nvPr/>
        </p:nvSpPr>
        <p:spPr>
          <a:xfrm>
            <a:off x="5637976" y="3657204"/>
            <a:ext cx="400181" cy="400181"/>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02117A86-C2C7-40E9-9A69-FBA53A6D93BC}"/>
              </a:ext>
            </a:extLst>
          </p:cNvPr>
          <p:cNvSpPr/>
          <p:nvPr/>
        </p:nvSpPr>
        <p:spPr>
          <a:xfrm>
            <a:off x="6232115" y="3657204"/>
            <a:ext cx="400181" cy="400181"/>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D7392C6B-F1A5-584B-A586-F084BA32578B}"/>
              </a:ext>
            </a:extLst>
          </p:cNvPr>
          <p:cNvSpPr/>
          <p:nvPr/>
        </p:nvSpPr>
        <p:spPr>
          <a:xfrm>
            <a:off x="6837632" y="3641778"/>
            <a:ext cx="400181" cy="400181"/>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5" name="Straight Arrow Connector 15">
            <a:extLst>
              <a:ext uri="{FF2B5EF4-FFF2-40B4-BE49-F238E27FC236}">
                <a16:creationId xmlns:a16="http://schemas.microsoft.com/office/drawing/2014/main" id="{A1F85E32-BB8C-D86F-448B-440AA4D0AB88}"/>
              </a:ext>
            </a:extLst>
          </p:cNvPr>
          <p:cNvCxnSpPr>
            <a:cxnSpLocks/>
            <a:stCxn id="37" idx="2"/>
            <a:endCxn id="66" idx="0"/>
          </p:cNvCxnSpPr>
          <p:nvPr/>
        </p:nvCxnSpPr>
        <p:spPr>
          <a:xfrm rot="5400000">
            <a:off x="5126179" y="3260590"/>
            <a:ext cx="508675" cy="284553"/>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8" name="Straight Arrow Connector 15">
            <a:extLst>
              <a:ext uri="{FF2B5EF4-FFF2-40B4-BE49-F238E27FC236}">
                <a16:creationId xmlns:a16="http://schemas.microsoft.com/office/drawing/2014/main" id="{1CDD7755-4112-98A7-CBAB-A1F56CC8F6BE}"/>
              </a:ext>
            </a:extLst>
          </p:cNvPr>
          <p:cNvCxnSpPr>
            <a:cxnSpLocks/>
            <a:stCxn id="42" idx="2"/>
            <a:endCxn id="82" idx="0"/>
          </p:cNvCxnSpPr>
          <p:nvPr/>
        </p:nvCxnSpPr>
        <p:spPr>
          <a:xfrm rot="5400000">
            <a:off x="5621886" y="3344787"/>
            <a:ext cx="528599" cy="96235"/>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1" name="Straight Arrow Connector 15">
            <a:extLst>
              <a:ext uri="{FF2B5EF4-FFF2-40B4-BE49-F238E27FC236}">
                <a16:creationId xmlns:a16="http://schemas.microsoft.com/office/drawing/2014/main" id="{E6DB3F70-7B47-A7CC-F329-77B32206BE3C}"/>
              </a:ext>
            </a:extLst>
          </p:cNvPr>
          <p:cNvCxnSpPr>
            <a:cxnSpLocks/>
            <a:stCxn id="39" idx="2"/>
            <a:endCxn id="83" idx="0"/>
          </p:cNvCxnSpPr>
          <p:nvPr/>
        </p:nvCxnSpPr>
        <p:spPr>
          <a:xfrm rot="16200000" flipH="1">
            <a:off x="6134923" y="3359921"/>
            <a:ext cx="508172" cy="86394"/>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4" name="Straight Arrow Connector 15">
            <a:extLst>
              <a:ext uri="{FF2B5EF4-FFF2-40B4-BE49-F238E27FC236}">
                <a16:creationId xmlns:a16="http://schemas.microsoft.com/office/drawing/2014/main" id="{23F8DD1A-9241-EAB0-16E3-48BAC6C76F20}"/>
              </a:ext>
            </a:extLst>
          </p:cNvPr>
          <p:cNvCxnSpPr>
            <a:cxnSpLocks/>
            <a:stCxn id="38" idx="2"/>
            <a:endCxn id="84" idx="0"/>
          </p:cNvCxnSpPr>
          <p:nvPr/>
        </p:nvCxnSpPr>
        <p:spPr>
          <a:xfrm rot="16200000" flipH="1">
            <a:off x="6650897" y="3254952"/>
            <a:ext cx="493250" cy="280402"/>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7" name="Oval 96">
            <a:extLst>
              <a:ext uri="{FF2B5EF4-FFF2-40B4-BE49-F238E27FC236}">
                <a16:creationId xmlns:a16="http://schemas.microsoft.com/office/drawing/2014/main" id="{6DCA8F1E-3117-B374-A297-616C12364341}"/>
              </a:ext>
            </a:extLst>
          </p:cNvPr>
          <p:cNvSpPr/>
          <p:nvPr/>
        </p:nvSpPr>
        <p:spPr>
          <a:xfrm>
            <a:off x="5038148" y="4535212"/>
            <a:ext cx="400181" cy="400181"/>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8" name="Straight Connector 97">
            <a:extLst>
              <a:ext uri="{FF2B5EF4-FFF2-40B4-BE49-F238E27FC236}">
                <a16:creationId xmlns:a16="http://schemas.microsoft.com/office/drawing/2014/main" id="{E1B9A758-534A-0725-E688-AEB53403BD98}"/>
              </a:ext>
            </a:extLst>
          </p:cNvPr>
          <p:cNvCxnSpPr>
            <a:cxnSpLocks/>
            <a:stCxn id="97" idx="0"/>
            <a:endCxn id="97" idx="4"/>
          </p:cNvCxnSpPr>
          <p:nvPr/>
        </p:nvCxnSpPr>
        <p:spPr>
          <a:xfrm>
            <a:off x="5238239" y="4535212"/>
            <a:ext cx="0" cy="4001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9" name="Straight Connector 98">
            <a:extLst>
              <a:ext uri="{FF2B5EF4-FFF2-40B4-BE49-F238E27FC236}">
                <a16:creationId xmlns:a16="http://schemas.microsoft.com/office/drawing/2014/main" id="{2DA1ADF6-CE31-66F2-E9D1-9A8F4E1E8EB4}"/>
              </a:ext>
            </a:extLst>
          </p:cNvPr>
          <p:cNvCxnSpPr>
            <a:cxnSpLocks/>
            <a:stCxn id="97" idx="6"/>
            <a:endCxn id="97" idx="2"/>
          </p:cNvCxnSpPr>
          <p:nvPr/>
        </p:nvCxnSpPr>
        <p:spPr>
          <a:xfrm flipH="1">
            <a:off x="5038148" y="4735303"/>
            <a:ext cx="40018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4" name="Straight Arrow Connector 15">
            <a:extLst>
              <a:ext uri="{FF2B5EF4-FFF2-40B4-BE49-F238E27FC236}">
                <a16:creationId xmlns:a16="http://schemas.microsoft.com/office/drawing/2014/main" id="{9FF10268-BC17-4AF9-916C-E3A999F836CD}"/>
              </a:ext>
            </a:extLst>
          </p:cNvPr>
          <p:cNvCxnSpPr>
            <a:cxnSpLocks/>
            <a:endCxn id="97" idx="2"/>
          </p:cNvCxnSpPr>
          <p:nvPr/>
        </p:nvCxnSpPr>
        <p:spPr>
          <a:xfrm>
            <a:off x="3818665" y="4735303"/>
            <a:ext cx="121948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5" name="Straight Connector 104">
            <a:extLst>
              <a:ext uri="{FF2B5EF4-FFF2-40B4-BE49-F238E27FC236}">
                <a16:creationId xmlns:a16="http://schemas.microsoft.com/office/drawing/2014/main" id="{46D39529-6483-CA77-D4A3-AA9D8C68323C}"/>
              </a:ext>
            </a:extLst>
          </p:cNvPr>
          <p:cNvCxnSpPr>
            <a:cxnSpLocks/>
          </p:cNvCxnSpPr>
          <p:nvPr/>
        </p:nvCxnSpPr>
        <p:spPr>
          <a:xfrm flipH="1">
            <a:off x="4363994" y="4678340"/>
            <a:ext cx="128825" cy="11392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06" name="TextBox 105">
            <a:extLst>
              <a:ext uri="{FF2B5EF4-FFF2-40B4-BE49-F238E27FC236}">
                <a16:creationId xmlns:a16="http://schemas.microsoft.com/office/drawing/2014/main" id="{BCF6C30A-1738-B4AF-47F7-BEF629818CEB}"/>
              </a:ext>
            </a:extLst>
          </p:cNvPr>
          <p:cNvSpPr txBox="1"/>
          <p:nvPr/>
        </p:nvSpPr>
        <p:spPr>
          <a:xfrm>
            <a:off x="4287541" y="4365970"/>
            <a:ext cx="281729" cy="369332"/>
          </a:xfrm>
          <a:prstGeom prst="rect">
            <a:avLst/>
          </a:prstGeom>
          <a:noFill/>
        </p:spPr>
        <p:txBody>
          <a:bodyPr wrap="square" rtlCol="0">
            <a:spAutoFit/>
          </a:bodyPr>
          <a:lstStyle/>
          <a:p>
            <a:r>
              <a:rPr lang="en-US" dirty="0"/>
              <a:t>8</a:t>
            </a:r>
          </a:p>
        </p:txBody>
      </p:sp>
      <p:sp>
        <p:nvSpPr>
          <p:cNvPr id="112" name="TextBox 111">
            <a:extLst>
              <a:ext uri="{FF2B5EF4-FFF2-40B4-BE49-F238E27FC236}">
                <a16:creationId xmlns:a16="http://schemas.microsoft.com/office/drawing/2014/main" id="{542B73D3-69C9-C651-146A-DBA2308C8E67}"/>
              </a:ext>
            </a:extLst>
          </p:cNvPr>
          <p:cNvSpPr txBox="1"/>
          <p:nvPr/>
        </p:nvSpPr>
        <p:spPr>
          <a:xfrm>
            <a:off x="2182797" y="4566061"/>
            <a:ext cx="1721791" cy="369332"/>
          </a:xfrm>
          <a:prstGeom prst="rect">
            <a:avLst/>
          </a:prstGeom>
          <a:noFill/>
        </p:spPr>
        <p:txBody>
          <a:bodyPr wrap="square" rtlCol="0">
            <a:spAutoFit/>
          </a:bodyPr>
          <a:lstStyle/>
          <a:p>
            <a:pPr algn="ctr"/>
            <a:r>
              <a:rPr lang="en-US" dirty="0"/>
              <a:t>Round Count</a:t>
            </a:r>
          </a:p>
        </p:txBody>
      </p:sp>
      <p:cxnSp>
        <p:nvCxnSpPr>
          <p:cNvPr id="113" name="Straight Arrow Connector 15">
            <a:extLst>
              <a:ext uri="{FF2B5EF4-FFF2-40B4-BE49-F238E27FC236}">
                <a16:creationId xmlns:a16="http://schemas.microsoft.com/office/drawing/2014/main" id="{5ADE5F81-7308-88EF-0DDD-2B97A7464E4A}"/>
              </a:ext>
            </a:extLst>
          </p:cNvPr>
          <p:cNvCxnSpPr>
            <a:cxnSpLocks/>
            <a:stCxn id="66" idx="4"/>
            <a:endCxn id="97" idx="0"/>
          </p:cNvCxnSpPr>
          <p:nvPr/>
        </p:nvCxnSpPr>
        <p:spPr>
          <a:xfrm>
            <a:off x="5238239" y="4057385"/>
            <a:ext cx="0" cy="47782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6" name="TextBox 115">
            <a:extLst>
              <a:ext uri="{FF2B5EF4-FFF2-40B4-BE49-F238E27FC236}">
                <a16:creationId xmlns:a16="http://schemas.microsoft.com/office/drawing/2014/main" id="{CEAEA063-4EC6-0CB0-6814-0CFE1C5FD133}"/>
              </a:ext>
            </a:extLst>
          </p:cNvPr>
          <p:cNvSpPr txBox="1"/>
          <p:nvPr/>
        </p:nvSpPr>
        <p:spPr>
          <a:xfrm>
            <a:off x="5069665" y="3680093"/>
            <a:ext cx="342144" cy="369332"/>
          </a:xfrm>
          <a:prstGeom prst="rect">
            <a:avLst/>
          </a:prstGeom>
          <a:noFill/>
        </p:spPr>
        <p:txBody>
          <a:bodyPr wrap="square" rtlCol="0">
            <a:spAutoFit/>
          </a:bodyPr>
          <a:lstStyle/>
          <a:p>
            <a:pPr algn="ctr"/>
            <a:r>
              <a:rPr lang="en-US" dirty="0"/>
              <a:t>S</a:t>
            </a:r>
          </a:p>
        </p:txBody>
      </p:sp>
      <p:sp>
        <p:nvSpPr>
          <p:cNvPr id="117" name="TextBox 116">
            <a:extLst>
              <a:ext uri="{FF2B5EF4-FFF2-40B4-BE49-F238E27FC236}">
                <a16:creationId xmlns:a16="http://schemas.microsoft.com/office/drawing/2014/main" id="{A44EDE8B-C3A6-DB81-09FF-B8BE95D00506}"/>
              </a:ext>
            </a:extLst>
          </p:cNvPr>
          <p:cNvSpPr txBox="1"/>
          <p:nvPr/>
        </p:nvSpPr>
        <p:spPr>
          <a:xfrm>
            <a:off x="5666994" y="3675353"/>
            <a:ext cx="342144" cy="369332"/>
          </a:xfrm>
          <a:prstGeom prst="rect">
            <a:avLst/>
          </a:prstGeom>
          <a:noFill/>
        </p:spPr>
        <p:txBody>
          <a:bodyPr wrap="square" rtlCol="0">
            <a:spAutoFit/>
          </a:bodyPr>
          <a:lstStyle/>
          <a:p>
            <a:pPr algn="ctr"/>
            <a:r>
              <a:rPr lang="en-US" dirty="0"/>
              <a:t>S</a:t>
            </a:r>
          </a:p>
        </p:txBody>
      </p:sp>
      <p:sp>
        <p:nvSpPr>
          <p:cNvPr id="118" name="TextBox 117">
            <a:extLst>
              <a:ext uri="{FF2B5EF4-FFF2-40B4-BE49-F238E27FC236}">
                <a16:creationId xmlns:a16="http://schemas.microsoft.com/office/drawing/2014/main" id="{4061AE1F-F78B-4570-70E7-B72D7EB6488A}"/>
              </a:ext>
            </a:extLst>
          </p:cNvPr>
          <p:cNvSpPr txBox="1"/>
          <p:nvPr/>
        </p:nvSpPr>
        <p:spPr>
          <a:xfrm>
            <a:off x="6261133" y="3677738"/>
            <a:ext cx="342144" cy="369332"/>
          </a:xfrm>
          <a:prstGeom prst="rect">
            <a:avLst/>
          </a:prstGeom>
          <a:noFill/>
        </p:spPr>
        <p:txBody>
          <a:bodyPr wrap="square" rtlCol="0">
            <a:spAutoFit/>
          </a:bodyPr>
          <a:lstStyle/>
          <a:p>
            <a:pPr algn="ctr"/>
            <a:r>
              <a:rPr lang="en-US" dirty="0"/>
              <a:t>S</a:t>
            </a:r>
          </a:p>
        </p:txBody>
      </p:sp>
      <p:sp>
        <p:nvSpPr>
          <p:cNvPr id="119" name="TextBox 118">
            <a:extLst>
              <a:ext uri="{FF2B5EF4-FFF2-40B4-BE49-F238E27FC236}">
                <a16:creationId xmlns:a16="http://schemas.microsoft.com/office/drawing/2014/main" id="{CE80018E-17B3-8F2E-4104-4CFEAA8B03BE}"/>
              </a:ext>
            </a:extLst>
          </p:cNvPr>
          <p:cNvSpPr txBox="1"/>
          <p:nvPr/>
        </p:nvSpPr>
        <p:spPr>
          <a:xfrm>
            <a:off x="6866650" y="3664291"/>
            <a:ext cx="342144" cy="369332"/>
          </a:xfrm>
          <a:prstGeom prst="rect">
            <a:avLst/>
          </a:prstGeom>
          <a:noFill/>
        </p:spPr>
        <p:txBody>
          <a:bodyPr wrap="square" rtlCol="0">
            <a:spAutoFit/>
          </a:bodyPr>
          <a:lstStyle/>
          <a:p>
            <a:pPr algn="ctr"/>
            <a:r>
              <a:rPr lang="en-US" dirty="0"/>
              <a:t>S</a:t>
            </a:r>
          </a:p>
        </p:txBody>
      </p:sp>
      <p:cxnSp>
        <p:nvCxnSpPr>
          <p:cNvPr id="120" name="Straight Connector 119">
            <a:extLst>
              <a:ext uri="{FF2B5EF4-FFF2-40B4-BE49-F238E27FC236}">
                <a16:creationId xmlns:a16="http://schemas.microsoft.com/office/drawing/2014/main" id="{676777CD-456A-C298-3EF9-CCDF9F249F94}"/>
              </a:ext>
            </a:extLst>
          </p:cNvPr>
          <p:cNvCxnSpPr>
            <a:cxnSpLocks/>
          </p:cNvCxnSpPr>
          <p:nvPr/>
        </p:nvCxnSpPr>
        <p:spPr>
          <a:xfrm>
            <a:off x="5227290" y="5435600"/>
            <a:ext cx="1834888"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5" name="Straight Connector 124">
            <a:extLst>
              <a:ext uri="{FF2B5EF4-FFF2-40B4-BE49-F238E27FC236}">
                <a16:creationId xmlns:a16="http://schemas.microsoft.com/office/drawing/2014/main" id="{85F4EAF7-D470-C34B-24E4-C41FF7B8649A}"/>
              </a:ext>
            </a:extLst>
          </p:cNvPr>
          <p:cNvCxnSpPr>
            <a:cxnSpLocks/>
            <a:endCxn id="117" idx="2"/>
          </p:cNvCxnSpPr>
          <p:nvPr/>
        </p:nvCxnSpPr>
        <p:spPr>
          <a:xfrm flipH="1" flipV="1">
            <a:off x="5838066" y="4044685"/>
            <a:ext cx="17428" cy="139091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2" name="Straight Connector 131">
            <a:extLst>
              <a:ext uri="{FF2B5EF4-FFF2-40B4-BE49-F238E27FC236}">
                <a16:creationId xmlns:a16="http://schemas.microsoft.com/office/drawing/2014/main" id="{BB97C79D-88BD-0335-CE69-41D2A7EE3AC8}"/>
              </a:ext>
            </a:extLst>
          </p:cNvPr>
          <p:cNvCxnSpPr>
            <a:cxnSpLocks/>
          </p:cNvCxnSpPr>
          <p:nvPr/>
        </p:nvCxnSpPr>
        <p:spPr>
          <a:xfrm flipH="1" flipV="1">
            <a:off x="6433974" y="4049425"/>
            <a:ext cx="17428" cy="139091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3" name="Straight Connector 132">
            <a:extLst>
              <a:ext uri="{FF2B5EF4-FFF2-40B4-BE49-F238E27FC236}">
                <a16:creationId xmlns:a16="http://schemas.microsoft.com/office/drawing/2014/main" id="{88FD03C4-74C9-A12A-45B5-DF5EBDCD6B20}"/>
              </a:ext>
            </a:extLst>
          </p:cNvPr>
          <p:cNvCxnSpPr>
            <a:cxnSpLocks/>
          </p:cNvCxnSpPr>
          <p:nvPr/>
        </p:nvCxnSpPr>
        <p:spPr>
          <a:xfrm flipH="1" flipV="1">
            <a:off x="7044750" y="4044685"/>
            <a:ext cx="17428" cy="139091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5" name="Straight Connector 134">
            <a:extLst>
              <a:ext uri="{FF2B5EF4-FFF2-40B4-BE49-F238E27FC236}">
                <a16:creationId xmlns:a16="http://schemas.microsoft.com/office/drawing/2014/main" id="{2872139A-6B0F-9A6A-9D18-D66B1501CCEC}"/>
              </a:ext>
            </a:extLst>
          </p:cNvPr>
          <p:cNvCxnSpPr>
            <a:cxnSpLocks/>
            <a:endCxn id="97" idx="4"/>
          </p:cNvCxnSpPr>
          <p:nvPr/>
        </p:nvCxnSpPr>
        <p:spPr>
          <a:xfrm flipV="1">
            <a:off x="5238239" y="4935393"/>
            <a:ext cx="0" cy="50020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8" name="Straight Arrow Connector 137">
            <a:extLst>
              <a:ext uri="{FF2B5EF4-FFF2-40B4-BE49-F238E27FC236}">
                <a16:creationId xmlns:a16="http://schemas.microsoft.com/office/drawing/2014/main" id="{A7F620BE-5986-B057-67F4-91C6B6A23B4C}"/>
              </a:ext>
            </a:extLst>
          </p:cNvPr>
          <p:cNvCxnSpPr>
            <a:cxnSpLocks/>
          </p:cNvCxnSpPr>
          <p:nvPr/>
        </p:nvCxnSpPr>
        <p:spPr>
          <a:xfrm>
            <a:off x="6146533" y="5423167"/>
            <a:ext cx="10160" cy="47611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9" name="Straight Connector 138">
            <a:extLst>
              <a:ext uri="{FF2B5EF4-FFF2-40B4-BE49-F238E27FC236}">
                <a16:creationId xmlns:a16="http://schemas.microsoft.com/office/drawing/2014/main" id="{D660518B-9934-7AFC-B55E-E812E638BDAA}"/>
              </a:ext>
            </a:extLst>
          </p:cNvPr>
          <p:cNvCxnSpPr>
            <a:cxnSpLocks/>
          </p:cNvCxnSpPr>
          <p:nvPr/>
        </p:nvCxnSpPr>
        <p:spPr>
          <a:xfrm flipH="1">
            <a:off x="6098629" y="5543143"/>
            <a:ext cx="128825" cy="11392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40" name="TextBox 139">
            <a:extLst>
              <a:ext uri="{FF2B5EF4-FFF2-40B4-BE49-F238E27FC236}">
                <a16:creationId xmlns:a16="http://schemas.microsoft.com/office/drawing/2014/main" id="{733E4EE2-24D8-5A01-4BDB-1168919E24DE}"/>
              </a:ext>
            </a:extLst>
          </p:cNvPr>
          <p:cNvSpPr txBox="1"/>
          <p:nvPr/>
        </p:nvSpPr>
        <p:spPr>
          <a:xfrm>
            <a:off x="6173203" y="5456142"/>
            <a:ext cx="457925" cy="369332"/>
          </a:xfrm>
          <a:prstGeom prst="rect">
            <a:avLst/>
          </a:prstGeom>
          <a:noFill/>
        </p:spPr>
        <p:txBody>
          <a:bodyPr wrap="square" rtlCol="0">
            <a:spAutoFit/>
          </a:bodyPr>
          <a:lstStyle/>
          <a:p>
            <a:r>
              <a:rPr lang="en-US" dirty="0"/>
              <a:t>32</a:t>
            </a:r>
          </a:p>
        </p:txBody>
      </p:sp>
      <p:cxnSp>
        <p:nvCxnSpPr>
          <p:cNvPr id="20" name="Straight Arrow Connector 15">
            <a:extLst>
              <a:ext uri="{FF2B5EF4-FFF2-40B4-BE49-F238E27FC236}">
                <a16:creationId xmlns:a16="http://schemas.microsoft.com/office/drawing/2014/main" id="{1B357AB0-DAC7-36E7-3E17-F492EEE6E9A8}"/>
              </a:ext>
            </a:extLst>
          </p:cNvPr>
          <p:cNvCxnSpPr>
            <a:cxnSpLocks/>
          </p:cNvCxnSpPr>
          <p:nvPr/>
        </p:nvCxnSpPr>
        <p:spPr>
          <a:xfrm>
            <a:off x="3797246" y="3848958"/>
            <a:ext cx="121948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40530040-5C0D-617D-4485-818C180C3074}"/>
              </a:ext>
            </a:extLst>
          </p:cNvPr>
          <p:cNvSpPr txBox="1"/>
          <p:nvPr/>
        </p:nvSpPr>
        <p:spPr>
          <a:xfrm>
            <a:off x="2813675" y="3652765"/>
            <a:ext cx="864210" cy="369332"/>
          </a:xfrm>
          <a:prstGeom prst="rect">
            <a:avLst/>
          </a:prstGeom>
          <a:noFill/>
        </p:spPr>
        <p:txBody>
          <a:bodyPr wrap="square" rtlCol="0">
            <a:spAutoFit/>
          </a:bodyPr>
          <a:lstStyle/>
          <a:p>
            <a:pPr algn="ctr"/>
            <a:r>
              <a:rPr lang="en-US" dirty="0"/>
              <a:t>S-BOX</a:t>
            </a:r>
          </a:p>
        </p:txBody>
      </p:sp>
    </p:spTree>
    <p:extLst>
      <p:ext uri="{BB962C8B-B14F-4D97-AF65-F5344CB8AC3E}">
        <p14:creationId xmlns:p14="http://schemas.microsoft.com/office/powerpoint/2010/main" val="353855604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748</TotalTime>
  <Words>372</Words>
  <Application>Microsoft Office PowerPoint</Application>
  <PresentationFormat>Widescreen</PresentationFormat>
  <Paragraphs>151</Paragraphs>
  <Slides>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PowerPoint Presentation</vt:lpstr>
      <vt:lpstr>PowerPoint Presentation</vt:lpstr>
      <vt:lpstr>PowerPoint Presentation</vt:lpstr>
      <vt:lpstr>Key Generator</vt:lpstr>
      <vt:lpstr>PowerPoint Presentation</vt:lpstr>
      <vt:lpstr>g-function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عبدالرحمن حسن السيد حسن علي</dc:creator>
  <cp:lastModifiedBy>عبدالرحمن حسن السيد حسن علي</cp:lastModifiedBy>
  <cp:revision>51</cp:revision>
  <dcterms:created xsi:type="dcterms:W3CDTF">2025-12-17T17:13:24Z</dcterms:created>
  <dcterms:modified xsi:type="dcterms:W3CDTF">2026-01-26T17:58:33Z</dcterms:modified>
</cp:coreProperties>
</file>